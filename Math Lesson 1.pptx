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3"/>
    <p:sldId id="256" r:id="rId4"/>
    <p:sldId id="259" r:id="rId5"/>
    <p:sldId id="278" r:id="rId6"/>
    <p:sldId id="257" r:id="rId7"/>
    <p:sldId id="262" r:id="rId8"/>
    <p:sldId id="258" r:id="rId9"/>
    <p:sldId id="266" r:id="rId10"/>
    <p:sldId id="274" r:id="rId11"/>
    <p:sldId id="260" r:id="rId12"/>
    <p:sldId id="261" r:id="rId13"/>
    <p:sldId id="267" r:id="rId14"/>
    <p:sldId id="268" r:id="rId15"/>
    <p:sldId id="269" r:id="rId16"/>
    <p:sldId id="270" r:id="rId17"/>
    <p:sldId id="271" r:id="rId18"/>
    <p:sldId id="275" r:id="rId19"/>
    <p:sldId id="263" r:id="rId20"/>
    <p:sldId id="264" r:id="rId21"/>
    <p:sldId id="265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2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262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Math Lesson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Intro to Decimals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Name: Mike</a:t>
            </a:r>
            <a:endParaRPr lang="en-US"/>
          </a:p>
          <a:p>
            <a:r>
              <a:rPr lang="en-US"/>
              <a:t>Age: 15</a:t>
            </a:r>
            <a:endParaRPr lang="en-US"/>
          </a:p>
          <a:p>
            <a:r>
              <a:rPr lang="en-US"/>
              <a:t>Hobby: Football</a:t>
            </a:r>
            <a:endParaRPr lang="en-US"/>
          </a:p>
          <a:p>
            <a:r>
              <a:rPr lang="en-US"/>
              <a:t>I teach Maths and Science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Introduce yourself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Schedule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1) Icebreaker</a:t>
            </a:r>
            <a:endParaRPr lang="en-US" altLang="en-US"/>
          </a:p>
          <a:p>
            <a:r>
              <a:rPr lang="en-US" altLang="en-US"/>
              <a:t>2) Practice: Place Value Names</a:t>
            </a:r>
            <a:endParaRPr lang="en-US" altLang="en-US"/>
          </a:p>
          <a:p>
            <a:r>
              <a:rPr lang="en-US" altLang="en-US"/>
              <a:t>3) Practice: Value of a digit</a:t>
            </a:r>
            <a:endParaRPr lang="en-US" altLang="en-US"/>
          </a:p>
          <a:p>
            <a:r>
              <a:rPr lang="en-US" altLang="en-US"/>
              <a:t>4) 5 mins Break</a:t>
            </a:r>
            <a:endParaRPr lang="en-US" altLang="en-US"/>
          </a:p>
          <a:p>
            <a:r>
              <a:rPr lang="en-US" altLang="en-US"/>
              <a:t>5) Kahoot : </a:t>
            </a:r>
            <a:r>
              <a:rPr lang="en-US" altLang="en-US"/>
              <a:t>TBD</a:t>
            </a:r>
            <a:endParaRPr lang="en-US" altLang="en-US"/>
          </a:p>
          <a:p>
            <a:r>
              <a:rPr lang="en-US" altLang="en-US"/>
              <a:t>6) Review: Decimal place value review</a:t>
            </a:r>
            <a:endParaRPr lang="en-US" altLang="en-US"/>
          </a:p>
          <a:p>
            <a:r>
              <a:rPr lang="en-US" altLang="en-US"/>
              <a:t>7) Checkout: How did you feel about decimals? Do you understand the basics?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Icebreaker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Do you know when you need to use decimals?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Place value names &amp; Value of a digit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 a number, the value of each digit depends on its position, which is called place.</a:t>
            </a:r>
            <a:endParaRPr lang="en-US"/>
          </a:p>
          <a:p>
            <a:r>
              <a:rPr lang="en-US"/>
              <a:t>For example, 165 934 is called “a hundred and five thousand, nine hundred and thirty-four”. And the “1” here represents “a hundred thousand”. </a:t>
            </a:r>
            <a:endParaRPr lang="en-US"/>
          </a:p>
          <a:p>
            <a:r>
              <a:rPr lang="en-US"/>
              <a:t>Remember to use zero as a space-filler.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838200" y="4467860"/>
          <a:ext cx="10515600" cy="2068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05560"/>
                <a:gridCol w="1323340"/>
                <a:gridCol w="1314450"/>
                <a:gridCol w="1314450"/>
                <a:gridCol w="1314450"/>
                <a:gridCol w="1314450"/>
                <a:gridCol w="1314450"/>
              </a:tblGrid>
              <a:tr h="6896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\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Hundred Thousands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Ten Thousands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Thousands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Hundreds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Ones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The Whole Number</a:t>
                      </a:r>
                      <a:endParaRPr lang="en-US"/>
                    </a:p>
                  </a:txBody>
                  <a:tcPr/>
                </a:tc>
              </a:tr>
              <a:tr h="6896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e.g.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0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9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5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3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4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105 934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Decimal place value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US"/>
                  <a:t>Like numbers, decimals also have places.</a:t>
                </a:r>
                <a:endParaRPr lang="en-US"/>
              </a:p>
              <a:p>
                <a:r>
                  <a:rPr lang="en-US"/>
                  <a:t>Take “0.876” for example</a:t>
                </a: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In this case, the “7” here represents 0.07, which can also be written in fraction form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altLang="zh-CN"/>
                  <a:t>.</a:t>
                </a:r>
                <a:endParaRPr lang="en-US" altLang="zh-CN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/>
          <p:nvPr/>
        </p:nvGraphicFramePr>
        <p:xfrm>
          <a:off x="3280410" y="3048000"/>
          <a:ext cx="5631180" cy="140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095"/>
                <a:gridCol w="1106170"/>
                <a:gridCol w="1774825"/>
                <a:gridCol w="1863090"/>
              </a:tblGrid>
              <a:tr h="701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Ones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Tenths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Hundredths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Thousandths</a:t>
                      </a:r>
                      <a:endParaRPr lang="en-US" sz="2400"/>
                    </a:p>
                  </a:txBody>
                  <a:tcPr/>
                </a:tc>
              </a:tr>
              <a:tr h="701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0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8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7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6</a:t>
                      </a:r>
                      <a:endParaRPr lang="en-US" sz="3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3981450" y="4263390"/>
            <a:ext cx="132715" cy="1276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Decimal in expanded 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It’s separating a deciaml into multiple parts.</a:t>
            </a:r>
            <a:endParaRPr lang="en-US"/>
          </a:p>
          <a:p>
            <a:r>
              <a:rPr lang="en-US"/>
              <a:t>For example, “3.163” in expanded form is: 3+0.1+0.06+0.003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Place value names - Practice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Write the following number as digits</a:t>
            </a:r>
            <a:endParaRPr lang="en-US"/>
          </a:p>
          <a:p>
            <a:pPr lvl="1"/>
            <a:r>
              <a:rPr lang="en-US"/>
              <a:t>Eighty-nine thousand, two hundred and thirteen</a:t>
            </a:r>
            <a:endParaRPr lang="en-US"/>
          </a:p>
          <a:p>
            <a:pPr lvl="1"/>
            <a:r>
              <a:rPr lang="en-US"/>
              <a:t>Five hundred and three thousand, two hundred and fourty</a:t>
            </a:r>
            <a:endParaRPr lang="en-US"/>
          </a:p>
          <a:p>
            <a:pPr lvl="1"/>
            <a:r>
              <a:rPr lang="en-US"/>
              <a:t>Twenty-two thousand</a:t>
            </a:r>
            <a:endParaRPr lang="en-US"/>
          </a:p>
          <a:p>
            <a:pPr lvl="0"/>
            <a:endParaRPr lang="en-US" sz="2800"/>
          </a:p>
          <a:p>
            <a:pPr lvl="0"/>
            <a:r>
              <a:rPr lang="en-US" sz="2800"/>
              <a:t>Write the following number in words</a:t>
            </a:r>
            <a:endParaRPr lang="en-US" sz="2800"/>
          </a:p>
          <a:p>
            <a:pPr lvl="1"/>
            <a:r>
              <a:rPr lang="en-US" sz="2400"/>
              <a:t>144 364</a:t>
            </a:r>
            <a:endParaRPr lang="en-US" sz="2400"/>
          </a:p>
          <a:p>
            <a:pPr lvl="1"/>
            <a:r>
              <a:rPr lang="en-US" sz="2400"/>
              <a:t>205 967</a:t>
            </a:r>
            <a:endParaRPr lang="en-US" sz="2400"/>
          </a:p>
          <a:p>
            <a:pPr lvl="1"/>
            <a:r>
              <a:rPr lang="en-US"/>
              <a:t>50 298</a:t>
            </a:r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Value of a digit - Practice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What is the value of the red digit in each number</a:t>
            </a:r>
            <a:endParaRPr lang="en-US"/>
          </a:p>
          <a:p>
            <a:pPr lvl="1"/>
            <a:r>
              <a:rPr lang="en-US"/>
              <a:t>e.g. 12 </a:t>
            </a:r>
            <a:r>
              <a:rPr lang="en-US">
                <a:solidFill>
                  <a:srgbClr val="FF0000"/>
                </a:solidFill>
              </a:rPr>
              <a:t>3</a:t>
            </a:r>
            <a:r>
              <a:rPr lang="en-US"/>
              <a:t>45	300</a:t>
            </a:r>
            <a:endParaRPr lang="en-US"/>
          </a:p>
          <a:p>
            <a:pPr lvl="1"/>
            <a:r>
              <a:rPr lang="en-US"/>
              <a:t>2</a:t>
            </a:r>
            <a:r>
              <a:rPr lang="en-US">
                <a:solidFill>
                  <a:srgbClr val="FF0000"/>
                </a:solidFill>
              </a:rPr>
              <a:t>5</a:t>
            </a:r>
            <a:r>
              <a:rPr lang="en-US"/>
              <a:t>3 645		50 000</a:t>
            </a:r>
            <a:endParaRPr lang="en-US"/>
          </a:p>
          <a:p>
            <a:pPr lvl="1"/>
            <a:r>
              <a:rPr lang="en-US"/>
              <a:t>124 2</a:t>
            </a:r>
            <a:r>
              <a:rPr lang="en-US">
                <a:solidFill>
                  <a:srgbClr val="FF0000"/>
                </a:solidFill>
              </a:rPr>
              <a:t>3</a:t>
            </a:r>
            <a:r>
              <a:rPr lang="en-US"/>
              <a:t>4		30</a:t>
            </a:r>
            <a:endParaRPr lang="en-US"/>
          </a:p>
          <a:p>
            <a:pPr lvl="1"/>
            <a:r>
              <a:rPr lang="en-US">
                <a:solidFill>
                  <a:srgbClr val="FF0000"/>
                </a:solidFill>
              </a:rPr>
              <a:t>9</a:t>
            </a:r>
            <a:r>
              <a:rPr lang="en-US"/>
              <a:t>70 798		900 000</a:t>
            </a:r>
            <a:endParaRPr lang="en-US"/>
          </a:p>
          <a:p>
            <a:pPr lvl="1"/>
            <a:r>
              <a:rPr lang="en-US"/>
              <a:t>86</a:t>
            </a:r>
            <a:r>
              <a:rPr lang="en-US">
                <a:solidFill>
                  <a:srgbClr val="FF0000"/>
                </a:solidFill>
              </a:rPr>
              <a:t>7</a:t>
            </a:r>
            <a:r>
              <a:rPr lang="en-US"/>
              <a:t> 546		7000</a:t>
            </a:r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3611245" y="2702560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3611245" y="3084830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3663950" y="3467100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3421380" y="3849370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Decimal - Practice</a:t>
            </a:r>
            <a:endParaRPr lang="en-US"/>
          </a:p>
        </p:txBody>
      </p:sp>
      <p:sp>
        <p:nvSpPr>
          <p:cNvPr id="5" name="Content Placeholder 4"/>
          <p:cNvSpPr/>
          <p:nvPr>
            <p:ph idx="1"/>
          </p:nvPr>
        </p:nvSpPr>
        <p:spPr/>
        <p:txBody>
          <a:bodyPr/>
          <a:p>
            <a:r>
              <a:rPr lang="en-US"/>
              <a:t>Write the shaded part as a fraction and as a decimal</a:t>
            </a:r>
            <a:endParaRPr lang="en-US"/>
          </a:p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2254250"/>
            <a:ext cx="9575165" cy="40112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/>
            </p:nvSpPr>
            <p:spPr>
              <a:xfrm>
                <a:off x="6174359" y="2638996"/>
                <a:ext cx="561975" cy="6057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359" y="2638996"/>
                <a:ext cx="561975" cy="605790"/>
              </a:xfrm>
              <a:prstGeom prst="rect">
                <a:avLst/>
              </a:prstGeom>
              <a:blipFill rotWithShape="1">
                <a:blip r:embed="rId3"/>
                <a:stretch>
                  <a:fillRect l="-45" t="-94" r="45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9"/>
          <p:cNvSpPr txBox="1"/>
          <p:nvPr>
            <p:custDataLst>
              <p:tags r:id="rId4"/>
            </p:custDataLst>
          </p:nvPr>
        </p:nvSpPr>
        <p:spPr>
          <a:xfrm>
            <a:off x="6065520" y="3300730"/>
            <a:ext cx="879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0.02</a:t>
            </a:r>
            <a:endParaRPr lang="en-US"/>
          </a:p>
        </p:txBody>
      </p:sp>
      <p:sp>
        <p:nvSpPr>
          <p:cNvPr id="11" name="Text Box 10"/>
          <p:cNvSpPr txBox="1"/>
          <p:nvPr>
            <p:custDataLst>
              <p:tags r:id="rId5"/>
            </p:custDataLst>
          </p:nvPr>
        </p:nvSpPr>
        <p:spPr>
          <a:xfrm>
            <a:off x="8999220" y="2379980"/>
            <a:ext cx="77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7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11"/>
              <p:cNvSpPr txBox="1"/>
              <p:nvPr/>
            </p:nvSpPr>
            <p:spPr>
              <a:xfrm>
                <a:off x="9349359" y="2640266"/>
                <a:ext cx="501015" cy="6045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2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359" y="2640266"/>
                <a:ext cx="501015" cy="604520"/>
              </a:xfrm>
              <a:prstGeom prst="rect">
                <a:avLst/>
              </a:prstGeom>
              <a:blipFill rotWithShape="1">
                <a:blip r:embed="rId6"/>
                <a:stretch>
                  <a:fillRect l="-51" t="-94" r="51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3"/>
          <p:cNvSpPr txBox="1"/>
          <p:nvPr>
            <p:custDataLst>
              <p:tags r:id="rId7"/>
            </p:custDataLst>
          </p:nvPr>
        </p:nvSpPr>
        <p:spPr>
          <a:xfrm>
            <a:off x="9147810" y="3344545"/>
            <a:ext cx="933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0.07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15"/>
              <p:cNvSpPr txBox="1"/>
              <p:nvPr/>
            </p:nvSpPr>
            <p:spPr>
              <a:xfrm>
                <a:off x="2867914" y="4827841"/>
                <a:ext cx="561975" cy="6064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914" y="4827841"/>
                <a:ext cx="561975" cy="606425"/>
              </a:xfrm>
              <a:prstGeom prst="rect">
                <a:avLst/>
              </a:prstGeom>
              <a:blipFill rotWithShape="1">
                <a:blip r:embed="rId8"/>
                <a:stretch>
                  <a:fillRect l="-45" t="-94" r="45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16"/>
              <p:cNvSpPr txBox="1"/>
              <p:nvPr/>
            </p:nvSpPr>
            <p:spPr>
              <a:xfrm>
                <a:off x="6224524" y="4827841"/>
                <a:ext cx="561975" cy="6064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26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524" y="4827841"/>
                <a:ext cx="561975" cy="606425"/>
              </a:xfrm>
              <a:prstGeom prst="rect">
                <a:avLst/>
              </a:prstGeom>
              <a:blipFill rotWithShape="1">
                <a:blip r:embed="rId9"/>
                <a:stretch>
                  <a:fillRect l="-45" t="-94" r="45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17"/>
              <p:cNvSpPr txBox="1"/>
              <p:nvPr/>
            </p:nvSpPr>
            <p:spPr>
              <a:xfrm>
                <a:off x="9288399" y="4827841"/>
                <a:ext cx="561975" cy="6064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89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8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8399" y="4827841"/>
                <a:ext cx="561975" cy="606425"/>
              </a:xfrm>
              <a:prstGeom prst="rect">
                <a:avLst/>
              </a:prstGeom>
              <a:blipFill rotWithShape="1">
                <a:blip r:embed="rId10"/>
                <a:stretch>
                  <a:fillRect l="-45" t="-94" r="45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18"/>
          <p:cNvSpPr txBox="1"/>
          <p:nvPr>
            <p:custDataLst>
              <p:tags r:id="rId11"/>
            </p:custDataLst>
          </p:nvPr>
        </p:nvSpPr>
        <p:spPr>
          <a:xfrm>
            <a:off x="2444750" y="4509770"/>
            <a:ext cx="1942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nine-hundredths</a:t>
            </a:r>
            <a:endParaRPr lang="en-US"/>
          </a:p>
        </p:txBody>
      </p:sp>
      <p:sp>
        <p:nvSpPr>
          <p:cNvPr id="20" name="Text Box 19"/>
          <p:cNvSpPr txBox="1"/>
          <p:nvPr>
            <p:custDataLst>
              <p:tags r:id="rId12"/>
            </p:custDataLst>
          </p:nvPr>
        </p:nvSpPr>
        <p:spPr>
          <a:xfrm>
            <a:off x="2926080" y="5459095"/>
            <a:ext cx="800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0.09</a:t>
            </a:r>
            <a:endParaRPr lang="en-US"/>
          </a:p>
        </p:txBody>
      </p:sp>
      <p:sp>
        <p:nvSpPr>
          <p:cNvPr id="22" name="Text Box 21"/>
          <p:cNvSpPr txBox="1"/>
          <p:nvPr>
            <p:custDataLst>
              <p:tags r:id="rId13"/>
            </p:custDataLst>
          </p:nvPr>
        </p:nvSpPr>
        <p:spPr>
          <a:xfrm>
            <a:off x="5643245" y="4553585"/>
            <a:ext cx="1569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26 hundredths</a:t>
            </a:r>
            <a:endParaRPr lang="en-US"/>
          </a:p>
        </p:txBody>
      </p:sp>
      <p:sp>
        <p:nvSpPr>
          <p:cNvPr id="23" name="Text Box 22"/>
          <p:cNvSpPr txBox="1"/>
          <p:nvPr>
            <p:custDataLst>
              <p:tags r:id="rId14"/>
            </p:custDataLst>
          </p:nvPr>
        </p:nvSpPr>
        <p:spPr>
          <a:xfrm>
            <a:off x="8783955" y="4509770"/>
            <a:ext cx="1569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89 hundredths</a:t>
            </a:r>
            <a:endParaRPr lang="en-US"/>
          </a:p>
        </p:txBody>
      </p:sp>
      <p:sp>
        <p:nvSpPr>
          <p:cNvPr id="24" name="Text Box 23"/>
          <p:cNvSpPr txBox="1"/>
          <p:nvPr>
            <p:custDataLst>
              <p:tags r:id="rId15"/>
            </p:custDataLst>
          </p:nvPr>
        </p:nvSpPr>
        <p:spPr>
          <a:xfrm>
            <a:off x="6021070" y="5494655"/>
            <a:ext cx="835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0.26</a:t>
            </a:r>
            <a:endParaRPr lang="en-US"/>
          </a:p>
        </p:txBody>
      </p:sp>
      <p:sp>
        <p:nvSpPr>
          <p:cNvPr id="25" name="Text Box 24"/>
          <p:cNvSpPr txBox="1"/>
          <p:nvPr>
            <p:custDataLst>
              <p:tags r:id="rId16"/>
            </p:custDataLst>
          </p:nvPr>
        </p:nvSpPr>
        <p:spPr>
          <a:xfrm>
            <a:off x="9159875" y="5573395"/>
            <a:ext cx="958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0.89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4" grpId="0"/>
      <p:bldP spid="14" grpId="1"/>
      <p:bldP spid="19" grpId="0"/>
      <p:bldP spid="19" grpId="1"/>
      <p:bldP spid="16" grpId="0"/>
      <p:bldP spid="16" grpId="1"/>
      <p:bldP spid="20" grpId="0"/>
      <p:bldP spid="20" grpId="1"/>
      <p:bldP spid="22" grpId="0"/>
      <p:bldP spid="22" grpId="1"/>
      <p:bldP spid="17" grpId="0"/>
      <p:bldP spid="17" grpId="1"/>
      <p:bldP spid="24" grpId="0"/>
      <p:bldP spid="24" grpId="1"/>
      <p:bldP spid="23" grpId="0"/>
      <p:bldP spid="23" grpId="1"/>
      <p:bldP spid="18" grpId="0"/>
      <p:bldP spid="18" grpId="1"/>
      <p:bldP spid="25" grpId="0"/>
      <p:bldP spid="25" grpId="1"/>
      <p:bldP spid="5" grpId="0" build="p"/>
      <p:bldP spid="5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Decimals - Practice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82490"/>
              </a:xfrm>
            </p:spPr>
            <p:txBody>
              <a:bodyPr/>
              <a:p>
                <a:r>
                  <a:rPr lang="en-US"/>
                  <a:t>Write these as decimals</a:t>
                </a:r>
                <a:endParaRPr lang="en-US"/>
              </a:p>
              <a:p>
                <a:pPr lvl="1"/>
                <a:r>
                  <a:rPr lang="en-US"/>
                  <a:t>a.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67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/>
                  <a:t>		0.067</a:t>
                </a:r>
                <a:endParaRPr lang="en-US"/>
              </a:p>
              <a:p>
                <a:pPr lvl="1"/>
                <a:r>
                  <a:rPr lang="en-US"/>
                  <a:t>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/>
                  <a:t>		0.3</a:t>
                </a:r>
                <a:endParaRPr lang="en-US"/>
              </a:p>
              <a:p>
                <a:pPr lvl="1"/>
                <a:r>
                  <a:rPr lang="en-US"/>
                  <a:t>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49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i="1">
                    <a:latin typeface="Cambria Math" panose="02040503050406030204" charset="0"/>
                    <a:cs typeface="Cambria Math" panose="02040503050406030204" charset="0"/>
                  </a:rPr>
                  <a:t>		</a:t>
                </a:r>
                <a:r>
                  <a:rPr lang="en-US">
                    <a:latin typeface="Calibri" panose="020F0502020204030204" charset="0"/>
                    <a:cs typeface="Calibri" panose="020F0502020204030204" charset="0"/>
                  </a:rPr>
                  <a:t>0.49</a:t>
                </a:r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:endParaRPr lang="en-US"/>
              </a:p>
              <a:p>
                <a:pPr lvl="0"/>
                <a:r>
                  <a:rPr lang="en-US"/>
                  <a:t>Write these  as fractions</a:t>
                </a:r>
                <a:endParaRPr lang="en-US"/>
              </a:p>
              <a:p>
                <a:pPr lvl="1"/>
                <a:r>
                  <a:rPr lang="en-US"/>
                  <a:t>a. 0.54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54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</m:t>
                        </m:r>
                      </m:den>
                    </m:f>
                  </m:oMath>
                </a14:m>
                <a:endParaRPr lang="en-US"/>
              </a:p>
              <a:p>
                <a:pPr lvl="1"/>
                <a:r>
                  <a:rPr lang="en-US"/>
                  <a:t>b. 0.812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1000</m:t>
                        </m:r>
                      </m:den>
                    </m:f>
                  </m:oMath>
                </a14:m>
                <a:endParaRPr lang="en-US"/>
              </a:p>
              <a:p>
                <a:pPr lvl="1"/>
                <a:r>
                  <a:rPr lang="en-US"/>
                  <a:t>c. 0.3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8249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s 3"/>
          <p:cNvSpPr/>
          <p:nvPr/>
        </p:nvSpPr>
        <p:spPr>
          <a:xfrm>
            <a:off x="3611245" y="2320290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3413760" y="2940685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3103245" y="3429000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3103245" y="4772025"/>
            <a:ext cx="2084070" cy="532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3413760" y="5304790"/>
            <a:ext cx="2083435" cy="553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3227070" y="5858510"/>
            <a:ext cx="2083435" cy="553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6" grpId="0" bldLvl="0" animBg="1"/>
      <p:bldP spid="6" grpId="1" animBg="1"/>
      <p:bldP spid="7" grpId="0" bldLvl="0" animBg="1"/>
      <p:bldP spid="7" grpId="1" animBg="1"/>
      <p:bldP spid="8" grpId="0" bldLvl="0" animBg="1"/>
      <p:bldP spid="8" grpId="1" animBg="1"/>
      <p:bldP spid="9" grpId="0" bldLvl="0" animBg="1"/>
      <p:bldP spid="9" grpId="1" animBg="1"/>
      <p:bldP spid="5" grpId="0" bldLvl="0" animBg="1"/>
      <p:bldP spid="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Decimals - Practice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20000"/>
              </a:bodyPr>
              <a:p>
                <a:r>
                  <a:rPr lang="en-US" altLang="en-US"/>
                  <a:t>Complete these by writing the symbols &gt; , &lt; or =.</a:t>
                </a:r>
                <a:endParaRPr lang="en-US" altLang="en-US"/>
              </a:p>
              <a:p>
                <a:pPr lvl="1">
                  <a:lnSpc>
                    <a:spcPct val="110000"/>
                  </a:lnSpc>
                </a:pPr>
                <a:r>
                  <a:rPr lang="en-US" altLang="en-US"/>
                  <a:t>a. 0.1 __ 0.01</a:t>
                </a:r>
                <a:endParaRPr lang="en-US" altLang="en-US"/>
              </a:p>
              <a:p>
                <a:pPr lvl="1">
                  <a:lnSpc>
                    <a:spcPct val="110000"/>
                  </a:lnSpc>
                </a:pPr>
                <a:r>
                  <a:rPr lang="en-US" altLang="en-US"/>
                  <a:t>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35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altLang="en-US"/>
                  <a:t> __ 0.35</a:t>
                </a:r>
                <a:endParaRPr lang="en-US" altLang="en-US"/>
              </a:p>
              <a:p>
                <a:pPr lvl="1">
                  <a:lnSpc>
                    <a:spcPct val="110000"/>
                  </a:lnSpc>
                </a:pPr>
                <a:r>
                  <a:rPr lang="en-US" altLang="en-US"/>
                  <a:t>c. 0.035 __ 0.053</a:t>
                </a:r>
                <a:endParaRPr lang="en-US" altLang="en-US"/>
              </a:p>
              <a:p>
                <a:pPr lvl="1">
                  <a:lnSpc>
                    <a:spcPct val="110000"/>
                  </a:lnSpc>
                </a:pPr>
                <a:r>
                  <a:rPr lang="en-US" altLang="en-US"/>
                  <a:t>d. 0.084 __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</m:t>
                        </m:r>
                      </m:den>
                    </m:f>
                  </m:oMath>
                </a14:m>
                <a:endParaRPr lang="en-US" altLang="en-US"/>
              </a:p>
              <a:p>
                <a:pPr lvl="1">
                  <a:lnSpc>
                    <a:spcPct val="110000"/>
                  </a:lnSpc>
                </a:pPr>
                <a:r>
                  <a:rPr lang="en-US" altLang="en-US"/>
                  <a:t>e. 0.11 __ 0.8</a:t>
                </a:r>
                <a:endParaRPr lang="en-US" altLang="en-US"/>
              </a:p>
              <a:p>
                <a:pPr lvl="1">
                  <a:lnSpc>
                    <a:spcPct val="110000"/>
                  </a:lnSpc>
                </a:pPr>
                <a:r>
                  <a:rPr lang="en-US" altLang="en-US"/>
                  <a:t>f. 0.430 __ 0.043</a:t>
                </a:r>
                <a:endParaRPr lang="en-US" altLang="en-US"/>
              </a:p>
              <a:p>
                <a:pPr lvl="1">
                  <a:lnSpc>
                    <a:spcPct val="110000"/>
                  </a:lnSpc>
                </a:pPr>
                <a:r>
                  <a:rPr lang="en-US" altLang="en-US"/>
                  <a:t>g. 0.01 __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12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1000</m:t>
                        </m:r>
                      </m:den>
                    </m:f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457200" lvl="1" indent="0">
                  <a:buNone/>
                </a:pPr>
                <a:endParaRPr lang="en-US" altLang="en-US"/>
              </a:p>
              <a:p>
                <a:pPr lvl="1"/>
                <a:r>
                  <a:rPr lang="en-US" altLang="en-US">
                    <a:solidFill>
                      <a:srgbClr val="FF0000"/>
                    </a:solidFill>
                  </a:rPr>
                  <a:t>Answer: &gt; = &lt; = &gt; &gt; &lt;</a:t>
                </a:r>
                <a:endParaRPr lang="en-US" alt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489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Decimals on the number line - Practice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Fill in the gaps on these decimal number lines 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535" y="2292350"/>
            <a:ext cx="8964930" cy="44488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952750" y="2806065"/>
            <a:ext cx="50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0.1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3711575" y="2806065"/>
            <a:ext cx="50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0.2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470400" y="2806065"/>
            <a:ext cx="50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0.3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229225" y="2806065"/>
            <a:ext cx="50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0.4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746875" y="2806065"/>
            <a:ext cx="50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0.6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7505700" y="2806065"/>
            <a:ext cx="50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0.7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8264525" y="2806065"/>
            <a:ext cx="50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0.8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9023350" y="2806065"/>
            <a:ext cx="50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0.9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3618230" y="433260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0.02</a:t>
            </a:r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4377055" y="433260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0.03</a:t>
            </a:r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5135880" y="433260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0.04</a:t>
            </a:r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6653530" y="433260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0.06</a:t>
            </a:r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7412355" y="433260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0.07</a:t>
            </a:r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8171180" y="433260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0.08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3620770" y="585914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0.002</a:t>
            </a:r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4379595" y="585914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0.003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138420" y="585914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0.004</a:t>
            </a:r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6656070" y="585914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0.006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8932545" y="585914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0.009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8173720" y="585914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0.008</a:t>
            </a:r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2828925" y="5859145"/>
            <a:ext cx="756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0.001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4" grpId="0"/>
      <p:bldP spid="13" grpId="1"/>
      <p:bldP spid="14" grpId="1"/>
      <p:bldP spid="15" grpId="1"/>
      <p:bldP spid="16" grpId="1"/>
      <p:bldP spid="17" grpId="1"/>
      <p:bldP spid="18" grpId="1"/>
      <p:bldP spid="19" grpId="1"/>
      <p:bldP spid="20" grpId="1"/>
      <p:bldP spid="21" grpId="1"/>
      <p:bldP spid="22" grpId="1"/>
      <p:bldP spid="23" grpId="1"/>
      <p:bldP spid="25" grpId="1"/>
      <p:bldP spid="26" grpId="1"/>
      <p:bldP spid="24" grpId="1"/>
      <p:bldP spid="6" grpId="0"/>
      <p:bldP spid="7" grpId="0"/>
      <p:bldP spid="8" grpId="0"/>
      <p:bldP spid="9" grpId="0"/>
      <p:bldP spid="10" grpId="0"/>
      <p:bldP spid="11" grpId="0"/>
      <p:bldP spid="12" grpId="0"/>
      <p:bldP spid="6" grpId="1"/>
      <p:bldP spid="7" grpId="1"/>
      <p:bldP spid="8" grpId="1"/>
      <p:bldP spid="9" grpId="1"/>
      <p:bldP spid="10" grpId="1"/>
      <p:bldP spid="11" grpId="1"/>
      <p:bldP spid="12" grpId="1"/>
      <p:bldP spid="3" grpId="0" build="p"/>
      <p:bldP spid="3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Decimals - Practice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15000" cy="4351655"/>
          </a:xfrm>
        </p:spPr>
        <p:txBody>
          <a:bodyPr/>
          <a:p>
            <a:r>
              <a:rPr lang="en-US" altLang="en-US"/>
              <a:t> Order these from smallest to largest</a:t>
            </a:r>
            <a:endParaRPr lang="en-US" altLang="en-US"/>
          </a:p>
          <a:p>
            <a:r>
              <a:rPr lang="en-US" altLang="en-US"/>
              <a:t>a. 	0.2 0.5 0.1 0.9 0.4 </a:t>
            </a:r>
            <a:endParaRPr lang="en-US" altLang="en-US"/>
          </a:p>
          <a:p>
            <a:r>
              <a:rPr lang="en-US" altLang="en-US"/>
              <a:t>b. 	0.04 0.07 0.02 0.06 0.03 </a:t>
            </a:r>
            <a:endParaRPr lang="en-US" altLang="en-US"/>
          </a:p>
          <a:p>
            <a:r>
              <a:rPr lang="en-US" altLang="en-US"/>
              <a:t>c.	0.007 0.004 0.008 0.002 0.001 </a:t>
            </a:r>
            <a:endParaRPr lang="en-US" altLang="en-US"/>
          </a:p>
          <a:p>
            <a:r>
              <a:rPr lang="en-US" altLang="en-US"/>
              <a:t>d. 	0.2 0.3 0.02 0.002 0.1 </a:t>
            </a:r>
            <a:endParaRPr lang="en-US" altLang="en-US"/>
          </a:p>
          <a:p>
            <a:r>
              <a:rPr lang="en-US" altLang="en-US"/>
              <a:t>e. 	0.1 0.11 0.2 0.22 0.15 </a:t>
            </a:r>
            <a:endParaRPr lang="en-US" altLang="en-US"/>
          </a:p>
          <a:p>
            <a:r>
              <a:rPr lang="en-US" altLang="en-US"/>
              <a:t>f. 	0.5 0.05 0.005 0.555 0.055</a:t>
            </a:r>
            <a:endParaRPr lang="en-US" altLang="en-US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6553200" y="1825625"/>
            <a:ext cx="543941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>
                <a:solidFill>
                  <a:srgbClr val="FF0000"/>
                </a:solidFill>
              </a:rPr>
              <a:t>a 0.1, 0.2, 0.4, 0.5, 0.9 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>
                <a:solidFill>
                  <a:srgbClr val="FF0000"/>
                </a:solidFill>
              </a:rPr>
              <a:t>b 0.02, 0,03, 0.04, 0.06, 0.07 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>
                <a:solidFill>
                  <a:srgbClr val="FF0000"/>
                </a:solidFill>
              </a:rPr>
              <a:t>c 0.001, 0.002, 0.004, 0.007, 0.008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>
                <a:solidFill>
                  <a:srgbClr val="FF0000"/>
                </a:solidFill>
              </a:rPr>
              <a:t>d 0.002, 0.02, 0.1, 0.2, 0.3 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>
                <a:solidFill>
                  <a:srgbClr val="FF0000"/>
                </a:solidFill>
              </a:rPr>
              <a:t>e 0.1, 0.11, 0.15, 0.2, 0.22 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>
                <a:solidFill>
                  <a:srgbClr val="FF0000"/>
                </a:solidFill>
              </a:rPr>
              <a:t>f 0.005, 0.05, 0.055, 0.5, 0.555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Decimals - Practice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2.51 + 3.321 = 5.831</a:t>
            </a:r>
            <a:endParaRPr lang="en-US"/>
          </a:p>
          <a:p>
            <a:r>
              <a:rPr lang="en-US"/>
              <a:t>1.3 + 0.22 = 1.52</a:t>
            </a:r>
            <a:endParaRPr lang="en-US"/>
          </a:p>
          <a:p>
            <a:r>
              <a:rPr lang="en-US"/>
              <a:t>0.005 + 0.05 = 0.055</a:t>
            </a:r>
            <a:endParaRPr lang="en-US"/>
          </a:p>
          <a:p>
            <a:r>
              <a:rPr lang="en-US"/>
              <a:t>12.3 + 1.23 = 13.53</a:t>
            </a:r>
            <a:endParaRPr lang="en-US"/>
          </a:p>
          <a:p>
            <a:r>
              <a:rPr lang="en-US"/>
              <a:t>9.998 + 0.02 = 10.018</a:t>
            </a:r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3220720" y="1930400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2938145" y="2383155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3220720" y="2943225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3100070" y="3465195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3220720" y="3956050"/>
            <a:ext cx="2207260" cy="325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  <p:bldP spid="8" grpId="0" bldLvl="0" animBg="1"/>
      <p:bldP spid="8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635"/>
            <a:ext cx="12192635" cy="6857365"/>
          </a:xfrm>
        </p:spPr>
        <p:txBody>
          <a:bodyPr/>
          <a:p>
            <a:pPr algn="ctr"/>
            <a:r>
              <a:rPr lang="en-US" sz="11500" b="1"/>
              <a:t>Break Time</a:t>
            </a:r>
            <a:br>
              <a:rPr lang="en-US" sz="16600" b="1"/>
            </a:br>
            <a:r>
              <a:rPr lang="en-US" sz="3200" b="1"/>
              <a:t>We’ll be back at 6:05 pm</a:t>
            </a:r>
            <a:endParaRPr lang="en-US" sz="32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Kahoot Quiz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Join with PIN: 04221850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Usage: visit kahoot.it and enter pin</a:t>
            </a:r>
            <a:endParaRPr lang="en-US" altLang="en-US"/>
          </a:p>
          <a:p>
            <a:r>
              <a:rPr lang="en-US" altLang="en-US"/>
              <a:t>or you can use the link https://kahoot.it/challenge/04221850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What we’ve learned:</a:t>
            </a:r>
            <a:endParaRPr lang="en-US"/>
          </a:p>
          <a:p>
            <a:pPr lvl="1"/>
            <a:r>
              <a:rPr lang="en-US" sz="2400"/>
              <a:t>Number/Decimal Places</a:t>
            </a:r>
            <a:endParaRPr lang="en-US" sz="2400"/>
          </a:p>
          <a:p>
            <a:pPr lvl="1"/>
            <a:r>
              <a:rPr lang="en-US" sz="2400"/>
              <a:t>Place value names</a:t>
            </a:r>
            <a:endParaRPr lang="en-US" sz="2400"/>
          </a:p>
          <a:p>
            <a:pPr lvl="1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 you next week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ags/tag2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ags/tag3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ags/tag4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ags/tag5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ags/tag6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ags/tag7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ags/tag8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ags/tag9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ags/tag10.xml><?xml version="1.0" encoding="utf-8"?>
<p:tagLst xmlns:p="http://schemas.openxmlformats.org/presentationml/2006/main">
  <p:tag name="KSO_WM_DIAGRAM_VIRTUALLY_FRAME" val="{&quot;height&quot;:315.85,&quot;left&quot;:66,&quot;top&quot;:177.5,&quot;width&quot;:753.9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3008</Words>
  <Application>WPS Presentation</Application>
  <PresentationFormat>Widescreen</PresentationFormat>
  <Paragraphs>269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Cambria Math</vt:lpstr>
      <vt:lpstr>Calibri Light</vt:lpstr>
      <vt:lpstr>Calibri</vt:lpstr>
      <vt:lpstr>Microsoft YaHei</vt:lpstr>
      <vt:lpstr>Arial Unicode MS</vt:lpstr>
      <vt:lpstr>Office Theme</vt:lpstr>
      <vt:lpstr>Welcome!</vt:lpstr>
      <vt:lpstr>Math Lesson 1</vt:lpstr>
      <vt:lpstr>Introduction</vt:lpstr>
      <vt:lpstr>Introduce yourself</vt:lpstr>
      <vt:lpstr>Schedule</vt:lpstr>
      <vt:lpstr>Icebreaker</vt:lpstr>
      <vt:lpstr>Place value names &amp; Value of a digit</vt:lpstr>
      <vt:lpstr>Decimal place value</vt:lpstr>
      <vt:lpstr>Decimal in expanded form</vt:lpstr>
      <vt:lpstr>Place value names - Practice</vt:lpstr>
      <vt:lpstr>Value of a digit - Practice</vt:lpstr>
      <vt:lpstr>Decimal - Practice</vt:lpstr>
      <vt:lpstr>Decimals - Practice</vt:lpstr>
      <vt:lpstr>Decimals - Practice</vt:lpstr>
      <vt:lpstr>Decimals on the number line - Practice</vt:lpstr>
      <vt:lpstr>Decimals - Practice</vt:lpstr>
      <vt:lpstr>Decimals - Practice</vt:lpstr>
      <vt:lpstr>Break Time We’ll be back at 6:00 pm</vt:lpstr>
      <vt:lpstr>Kahoot Quiz</vt:lpstr>
      <vt:lpstr>Review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zyc</dc:creator>
  <cp:lastModifiedBy>zyc</cp:lastModifiedBy>
  <cp:revision>47</cp:revision>
  <dcterms:created xsi:type="dcterms:W3CDTF">2025-07-23T00:59:00Z</dcterms:created>
  <dcterms:modified xsi:type="dcterms:W3CDTF">2026-08-18T01:08:14Z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58A7BEFB566048E297DDF55045EB3781_11</vt:lpwstr>
  </property>
  <property fmtid="{D5CDD505-2E9C-101B-9397-08002B2CF9AE}" pid="3" name="KSOProductBuildVer">
    <vt:lpwstr>1033-12.1.0.23542</vt:lpwstr>
  </property>
</Properties>
</file>