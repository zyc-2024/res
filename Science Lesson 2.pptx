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2" r:id="rId6"/>
    <p:sldId id="259" r:id="rId7"/>
    <p:sldId id="260" r:id="rId8"/>
    <p:sldId id="263" r:id="rId9"/>
    <p:sldId id="265" r:id="rId10"/>
    <p:sldId id="264" r:id="rId11"/>
    <p:sldId id="269" r:id="rId12"/>
    <p:sldId id="266"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27"/>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Seasons</a:t>
            </a:r>
            <a:endParaRPr lang="en-US" dirty="0"/>
          </a:p>
        </p:txBody>
      </p:sp>
      <p:sp>
        <p:nvSpPr>
          <p:cNvPr id="3" name="Subtitle 2"/>
          <p:cNvSpPr>
            <a:spLocks noGrp="1"/>
          </p:cNvSpPr>
          <p:nvPr>
            <p:ph type="subTitle" idx="1"/>
          </p:nvPr>
        </p:nvSpPr>
        <p:spPr/>
        <p:txBody>
          <a:bodyPr/>
          <a:lstStyle/>
          <a:p>
            <a:r>
              <a:rPr lang="en-US"/>
              <a:t>Mike</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 name="Title 1"/>
          <p:cNvSpPr>
            <a:spLocks noGrp="1"/>
          </p:cNvSpPr>
          <p:nvPr>
            <p:ph type="title"/>
          </p:nvPr>
        </p:nvSpPr>
        <p:spPr/>
        <p:txBody>
          <a:bodyPr/>
          <a:p>
            <a:r>
              <a:rPr lang="en-US"/>
              <a:t>Schedule</a:t>
            </a:r>
            <a:endParaRPr lang="en-US"/>
          </a:p>
        </p:txBody>
      </p:sp>
      <p:sp>
        <p:nvSpPr>
          <p:cNvPr id="3" name="Content Placeholder 2"/>
          <p:cNvSpPr>
            <a:spLocks noGrp="1"/>
          </p:cNvSpPr>
          <p:nvPr>
            <p:ph idx="1"/>
          </p:nvPr>
        </p:nvSpPr>
        <p:spPr/>
        <p:txBody>
          <a:bodyPr>
            <a:normAutofit lnSpcReduction="20000"/>
          </a:bodyPr>
          <a:p>
            <a:r>
              <a:rPr lang="en-US" altLang="en-US"/>
              <a:t>Icebreaker: </a:t>
            </a:r>
            <a:endParaRPr lang="en-US" altLang="en-US"/>
          </a:p>
          <a:p>
            <a:endParaRPr lang="en-US" altLang="en-US"/>
          </a:p>
          <a:p>
            <a:r>
              <a:rPr lang="en-US" altLang="en-US"/>
              <a:t>1) Watch: Seasons and the sun; Crash Course Kids</a:t>
            </a:r>
            <a:endParaRPr lang="en-US" altLang="en-US"/>
          </a:p>
          <a:p>
            <a:r>
              <a:rPr lang="en-US" altLang="en-US"/>
              <a:t>2) Discuss: How many hemispheres are there? Can you name them?</a:t>
            </a:r>
            <a:endParaRPr lang="en-US" altLang="en-US"/>
          </a:p>
          <a:p>
            <a:r>
              <a:rPr lang="en-US" altLang="en-US"/>
              <a:t>3) Read: Khan Academy article Seasons</a:t>
            </a:r>
            <a:endParaRPr lang="en-US" altLang="en-US"/>
          </a:p>
          <a:p>
            <a:r>
              <a:rPr lang="en-US" altLang="en-US"/>
              <a:t>4) Practice: Khan Academy practice</a:t>
            </a:r>
            <a:endParaRPr lang="en-US" altLang="en-US"/>
          </a:p>
          <a:p>
            <a:r>
              <a:rPr lang="en-US" altLang="en-US"/>
              <a:t>5) Watch: Earth's movement and Seasons</a:t>
            </a:r>
            <a:endParaRPr lang="en-US" altLang="en-US"/>
          </a:p>
          <a:p>
            <a:endParaRPr lang="en-US" altLang="en-US"/>
          </a:p>
          <a:p>
            <a:r>
              <a:rPr lang="en-US" altLang="en-US"/>
              <a:t>Checkout: Can you explain what causes the seasons?</a:t>
            </a:r>
            <a:endParaRPr lang="en-US"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Icebreaker</a:t>
            </a:r>
            <a:endParaRPr lang="en-US"/>
          </a:p>
        </p:txBody>
      </p:sp>
      <p:sp>
        <p:nvSpPr>
          <p:cNvPr id="3" name="Content Placeholder 2"/>
          <p:cNvSpPr>
            <a:spLocks noGrp="1"/>
          </p:cNvSpPr>
          <p:nvPr>
            <p:ph idx="1"/>
          </p:nvPr>
        </p:nvSpPr>
        <p:spPr/>
        <p:txBody>
          <a:bodyPr/>
          <a:p>
            <a:r>
              <a:rPr lang="en-US" altLang="en-US">
                <a:sym typeface="+mn-ea"/>
              </a:rPr>
              <a:t>Do you know why it would be summer in Chile but winter in the US?</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Discussion</a:t>
            </a:r>
            <a:endParaRPr lang="en-US"/>
          </a:p>
        </p:txBody>
      </p:sp>
      <p:sp>
        <p:nvSpPr>
          <p:cNvPr id="3" name="Content Placeholder 2"/>
          <p:cNvSpPr>
            <a:spLocks noGrp="1"/>
          </p:cNvSpPr>
          <p:nvPr>
            <p:ph idx="1"/>
          </p:nvPr>
        </p:nvSpPr>
        <p:spPr/>
        <p:txBody>
          <a:bodyPr/>
          <a:p>
            <a:r>
              <a:rPr lang="en-US"/>
              <a:t>What is a hemisphere? </a:t>
            </a:r>
            <a:endParaRPr lang="en-US"/>
          </a:p>
          <a:p>
            <a:r>
              <a:rPr lang="en-US"/>
              <a:t>How many hemisphere does the Earth has? </a:t>
            </a:r>
            <a:endParaRPr lang="en-US"/>
          </a:p>
          <a:p>
            <a:r>
              <a:rPr lang="en-US"/>
              <a:t>Can you name all of the hemispheres of the Earth?</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Seasons and the Sun</a:t>
            </a:r>
            <a:endParaRPr lang="en-US"/>
          </a:p>
        </p:txBody>
      </p:sp>
      <p:sp>
        <p:nvSpPr>
          <p:cNvPr id="3" name="Content Placeholder 2"/>
          <p:cNvSpPr>
            <a:spLocks noGrp="1"/>
          </p:cNvSpPr>
          <p:nvPr>
            <p:ph idx="1"/>
          </p:nvPr>
        </p:nvSpPr>
        <p:spPr/>
        <p:txBody>
          <a:bodyPr>
            <a:normAutofit fontScale="90000"/>
          </a:bodyPr>
          <a:p>
            <a:r>
              <a:rPr lang="en-US" altLang="en-US"/>
              <a:t>Earth’s axis is tilted. As a result, as Earth orbits the sun, different parts of Earth point toward or away from the sun. This causes the seasons.</a:t>
            </a:r>
            <a:endParaRPr lang="en-US" altLang="en-US"/>
          </a:p>
          <a:p>
            <a:r>
              <a:rPr lang="en-US" altLang="en-US"/>
              <a:t>When the Northern or Southern Hemisphere points toward the sun, it’s summer in that hemisphere. During this time, the sun’s rays are more direct.</a:t>
            </a:r>
            <a:endParaRPr lang="en-US" altLang="en-US"/>
          </a:p>
          <a:p>
            <a:r>
              <a:rPr lang="en-US" altLang="en-US"/>
              <a:t>When the Northern or Southern Hemisphere points away from the sun, it’s winter in that hemisphere. During this time, the sun’s rays are less direct.</a:t>
            </a:r>
            <a:endParaRPr lang="en-US" altLang="en-US"/>
          </a:p>
          <a:p>
            <a:r>
              <a:rPr lang="en-US" altLang="en-US"/>
              <a:t>The Northern and Southern Hemispheres always have opposite seasons.</a:t>
            </a:r>
            <a:endParaRPr lang="en-US" altLang="en-US"/>
          </a:p>
          <a:p>
            <a:r>
              <a:rPr lang="en-US" altLang="en-US"/>
              <a:t>Throughout the year, the equator receives the greatest amount of direct sunlight, so it tends to be warm. In contrast, the poles receive the least, so they tend to be cold.</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download"/>
          <p:cNvPicPr>
            <a:picLocks noChangeAspect="1"/>
          </p:cNvPicPr>
          <p:nvPr/>
        </p:nvPicPr>
        <p:blipFill>
          <a:blip r:embed="rId1"/>
          <a:stretch>
            <a:fillRect/>
          </a:stretch>
        </p:blipFill>
        <p:spPr>
          <a:xfrm>
            <a:off x="5111750" y="2457450"/>
            <a:ext cx="1968500" cy="1943100"/>
          </a:xfrm>
          <a:prstGeom prst="rect">
            <a:avLst/>
          </a:prstGeom>
        </p:spPr>
      </p:pic>
      <p:sp>
        <p:nvSpPr>
          <p:cNvPr id="11" name="Arc 10"/>
          <p:cNvSpPr/>
          <p:nvPr/>
        </p:nvSpPr>
        <p:spPr>
          <a:xfrm>
            <a:off x="880110" y="925830"/>
            <a:ext cx="10431780" cy="5006340"/>
          </a:xfrm>
          <a:prstGeom prst="arc">
            <a:avLst>
              <a:gd name="adj1" fmla="val 10903448"/>
              <a:gd name="adj2" fmla="val 16320292"/>
            </a:avLst>
          </a:prstGeom>
          <a:noFill/>
          <a:ln w="28575">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2" name="Arc 11"/>
          <p:cNvSpPr/>
          <p:nvPr/>
        </p:nvSpPr>
        <p:spPr>
          <a:xfrm>
            <a:off x="880110" y="925830"/>
            <a:ext cx="10431780" cy="5006340"/>
          </a:xfrm>
          <a:prstGeom prst="arc">
            <a:avLst>
              <a:gd name="adj1" fmla="val 16190149"/>
              <a:gd name="adj2" fmla="val 21589742"/>
            </a:avLst>
          </a:prstGeom>
          <a:noFill/>
          <a:ln w="28575">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3" name="Arc 12"/>
          <p:cNvSpPr/>
          <p:nvPr/>
        </p:nvSpPr>
        <p:spPr>
          <a:xfrm>
            <a:off x="880110" y="925830"/>
            <a:ext cx="10431780" cy="5006340"/>
          </a:xfrm>
          <a:prstGeom prst="arc">
            <a:avLst>
              <a:gd name="adj1" fmla="val 21572983"/>
              <a:gd name="adj2" fmla="val 5145879"/>
            </a:avLst>
          </a:prstGeom>
          <a:noFill/>
          <a:ln w="28575">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Arc 13"/>
          <p:cNvSpPr/>
          <p:nvPr/>
        </p:nvSpPr>
        <p:spPr>
          <a:xfrm>
            <a:off x="880110" y="925830"/>
            <a:ext cx="10431780" cy="5006340"/>
          </a:xfrm>
          <a:prstGeom prst="arc">
            <a:avLst>
              <a:gd name="adj1" fmla="val 5488085"/>
              <a:gd name="adj2" fmla="val 10779193"/>
            </a:avLst>
          </a:prstGeom>
          <a:noFill/>
          <a:ln w="28575">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5721350" y="2951480"/>
            <a:ext cx="749300" cy="953135"/>
          </a:xfrm>
          <a:prstGeom prst="rect">
            <a:avLst/>
          </a:prstGeom>
          <a:noFill/>
        </p:spPr>
        <p:txBody>
          <a:bodyPr wrap="square" rtlCol="0">
            <a:spAutoFit/>
          </a:bodyPr>
          <a:p>
            <a:pPr algn="ctr"/>
            <a:r>
              <a:rPr lang="en-US" sz="2800"/>
              <a:t>The</a:t>
            </a:r>
            <a:endParaRPr lang="en-US" sz="2800"/>
          </a:p>
          <a:p>
            <a:pPr algn="ctr"/>
            <a:r>
              <a:rPr lang="en-US" sz="2800"/>
              <a:t>Sun</a:t>
            </a:r>
            <a:endParaRPr lang="en-US" sz="2800"/>
          </a:p>
        </p:txBody>
      </p:sp>
      <p:sp>
        <p:nvSpPr>
          <p:cNvPr id="16" name="Text Box 15"/>
          <p:cNvSpPr txBox="1"/>
          <p:nvPr/>
        </p:nvSpPr>
        <p:spPr>
          <a:xfrm>
            <a:off x="9631680" y="3870325"/>
            <a:ext cx="1207770" cy="368300"/>
          </a:xfrm>
          <a:prstGeom prst="rect">
            <a:avLst/>
          </a:prstGeom>
          <a:noFill/>
        </p:spPr>
        <p:txBody>
          <a:bodyPr wrap="square" rtlCol="0">
            <a:spAutoFit/>
          </a:bodyPr>
          <a:p>
            <a:r>
              <a:rPr lang="en-US"/>
              <a:t>Summer</a:t>
            </a:r>
            <a:endParaRPr lang="en-US"/>
          </a:p>
        </p:txBody>
      </p:sp>
      <p:sp>
        <p:nvSpPr>
          <p:cNvPr id="17" name="Text Box 16"/>
          <p:cNvSpPr txBox="1"/>
          <p:nvPr/>
        </p:nvSpPr>
        <p:spPr>
          <a:xfrm>
            <a:off x="5184775" y="5069840"/>
            <a:ext cx="1207770" cy="368300"/>
          </a:xfrm>
          <a:prstGeom prst="rect">
            <a:avLst/>
          </a:prstGeom>
          <a:noFill/>
        </p:spPr>
        <p:txBody>
          <a:bodyPr wrap="square" rtlCol="0">
            <a:spAutoFit/>
          </a:bodyPr>
          <a:p>
            <a:r>
              <a:rPr lang="en-US"/>
              <a:t>Fall</a:t>
            </a:r>
            <a:endParaRPr lang="en-US"/>
          </a:p>
        </p:txBody>
      </p:sp>
      <p:sp>
        <p:nvSpPr>
          <p:cNvPr id="18" name="Text Box 17"/>
          <p:cNvSpPr txBox="1"/>
          <p:nvPr/>
        </p:nvSpPr>
        <p:spPr>
          <a:xfrm>
            <a:off x="1982470" y="3975100"/>
            <a:ext cx="1207770" cy="368300"/>
          </a:xfrm>
          <a:prstGeom prst="rect">
            <a:avLst/>
          </a:prstGeom>
          <a:noFill/>
        </p:spPr>
        <p:txBody>
          <a:bodyPr wrap="square" rtlCol="0">
            <a:spAutoFit/>
          </a:bodyPr>
          <a:p>
            <a:r>
              <a:rPr lang="en-US"/>
              <a:t>Winter</a:t>
            </a:r>
            <a:endParaRPr lang="en-US"/>
          </a:p>
        </p:txBody>
      </p:sp>
      <p:sp>
        <p:nvSpPr>
          <p:cNvPr id="19" name="Text Box 18"/>
          <p:cNvSpPr txBox="1"/>
          <p:nvPr/>
        </p:nvSpPr>
        <p:spPr>
          <a:xfrm>
            <a:off x="4794885" y="2049780"/>
            <a:ext cx="1207770" cy="368300"/>
          </a:xfrm>
          <a:prstGeom prst="rect">
            <a:avLst/>
          </a:prstGeom>
          <a:noFill/>
        </p:spPr>
        <p:txBody>
          <a:bodyPr wrap="square" rtlCol="0">
            <a:spAutoFit/>
          </a:bodyPr>
          <a:p>
            <a:r>
              <a:rPr lang="en-US"/>
              <a:t>Spring</a:t>
            </a:r>
            <a:endParaRPr lang="en-US"/>
          </a:p>
        </p:txBody>
      </p:sp>
      <p:grpSp>
        <p:nvGrpSpPr>
          <p:cNvPr id="24" name="Group 23"/>
          <p:cNvGrpSpPr/>
          <p:nvPr/>
        </p:nvGrpSpPr>
        <p:grpSpPr>
          <a:xfrm rot="21060000">
            <a:off x="10814050" y="2933065"/>
            <a:ext cx="990600" cy="990600"/>
            <a:chOff x="17030" y="4619"/>
            <a:chExt cx="1560" cy="1560"/>
          </a:xfrm>
        </p:grpSpPr>
        <p:pic>
          <p:nvPicPr>
            <p:cNvPr id="10" name="Picture 9" descr="download"/>
            <p:cNvPicPr>
              <a:picLocks noChangeAspect="1"/>
            </p:cNvPicPr>
            <p:nvPr/>
          </p:nvPicPr>
          <p:blipFill>
            <a:blip r:embed="rId2"/>
            <a:stretch>
              <a:fillRect/>
            </a:stretch>
          </p:blipFill>
          <p:spPr>
            <a:xfrm rot="20820000">
              <a:off x="17030" y="4619"/>
              <a:ext cx="1560" cy="1560"/>
            </a:xfrm>
            <a:prstGeom prst="rect">
              <a:avLst/>
            </a:prstGeom>
          </p:spPr>
        </p:pic>
        <p:sp>
          <p:nvSpPr>
            <p:cNvPr id="22" name="Arc 21"/>
            <p:cNvSpPr/>
            <p:nvPr/>
          </p:nvSpPr>
          <p:spPr>
            <a:xfrm rot="20100000">
              <a:off x="17095" y="5122"/>
              <a:ext cx="1392" cy="499"/>
            </a:xfrm>
            <a:prstGeom prst="arc">
              <a:avLst>
                <a:gd name="adj1" fmla="val 0"/>
                <a:gd name="adj2" fmla="val 10769578"/>
              </a:avLst>
            </a:prstGeom>
            <a:ln>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47" name="Group 46"/>
          <p:cNvGrpSpPr/>
          <p:nvPr/>
        </p:nvGrpSpPr>
        <p:grpSpPr>
          <a:xfrm>
            <a:off x="9792970" y="3124200"/>
            <a:ext cx="989330" cy="609600"/>
            <a:chOff x="15422" y="4920"/>
            <a:chExt cx="1558" cy="960"/>
          </a:xfrm>
        </p:grpSpPr>
        <p:grpSp>
          <p:nvGrpSpPr>
            <p:cNvPr id="28" name="Group 27"/>
            <p:cNvGrpSpPr/>
            <p:nvPr/>
          </p:nvGrpSpPr>
          <p:grpSpPr>
            <a:xfrm rot="0">
              <a:off x="15422" y="4920"/>
              <a:ext cx="1558" cy="960"/>
              <a:chOff x="12192" y="4440"/>
              <a:chExt cx="1008" cy="474"/>
            </a:xfrm>
          </p:grpSpPr>
          <p:cxnSp>
            <p:nvCxnSpPr>
              <p:cNvPr id="25" name="Straight Arrow Connector 24"/>
              <p:cNvCxnSpPr/>
              <p:nvPr/>
            </p:nvCxnSpPr>
            <p:spPr>
              <a:xfrm>
                <a:off x="12192" y="4440"/>
                <a:ext cx="1008" cy="0"/>
              </a:xfrm>
              <a:prstGeom prst="straightConnector1">
                <a:avLst/>
              </a:prstGeom>
              <a:ln w="28575">
                <a:solidFill>
                  <a:srgbClr val="FFC000"/>
                </a:solidFill>
                <a:tailEnd type="arrow"/>
              </a:ln>
            </p:spPr>
            <p:style>
              <a:lnRef idx="2">
                <a:schemeClr val="accent1"/>
              </a:lnRef>
              <a:fillRef idx="0">
                <a:srgbClr val="FFFFFF"/>
              </a:fillRef>
              <a:effectRef idx="0">
                <a:srgbClr val="FFFFFF"/>
              </a:effectRef>
              <a:fontRef idx="minor">
                <a:schemeClr val="tx1"/>
              </a:fontRef>
            </p:style>
          </p:cxnSp>
          <p:cxnSp>
            <p:nvCxnSpPr>
              <p:cNvPr id="26" name="Straight Arrow Connector 25"/>
              <p:cNvCxnSpPr/>
              <p:nvPr/>
            </p:nvCxnSpPr>
            <p:spPr>
              <a:xfrm>
                <a:off x="12192" y="4677"/>
                <a:ext cx="1008" cy="0"/>
              </a:xfrm>
              <a:prstGeom prst="straightConnector1">
                <a:avLst/>
              </a:prstGeom>
              <a:ln w="28575">
                <a:solidFill>
                  <a:srgbClr val="FFC000"/>
                </a:solidFill>
                <a:tailEnd type="arrow"/>
              </a:ln>
            </p:spPr>
            <p:style>
              <a:lnRef idx="2">
                <a:schemeClr val="accent1"/>
              </a:lnRef>
              <a:fillRef idx="0">
                <a:srgbClr val="FFFFFF"/>
              </a:fillRef>
              <a:effectRef idx="0">
                <a:srgbClr val="FFFFFF"/>
              </a:effectRef>
              <a:fontRef idx="minor">
                <a:schemeClr val="tx1"/>
              </a:fontRef>
            </p:style>
          </p:cxnSp>
          <p:cxnSp>
            <p:nvCxnSpPr>
              <p:cNvPr id="27" name="Straight Arrow Connector 26"/>
              <p:cNvCxnSpPr/>
              <p:nvPr/>
            </p:nvCxnSpPr>
            <p:spPr>
              <a:xfrm>
                <a:off x="12192" y="4914"/>
                <a:ext cx="1008" cy="0"/>
              </a:xfrm>
              <a:prstGeom prst="straightConnector1">
                <a:avLst/>
              </a:prstGeom>
              <a:ln w="28575">
                <a:solidFill>
                  <a:srgbClr val="FFC000"/>
                </a:solidFill>
                <a:tailEnd type="arrow"/>
              </a:ln>
            </p:spPr>
            <p:style>
              <a:lnRef idx="2">
                <a:schemeClr val="accent1"/>
              </a:lnRef>
              <a:fillRef idx="0">
                <a:srgbClr val="FFFFFF"/>
              </a:fillRef>
              <a:effectRef idx="0">
                <a:srgbClr val="FFFFFF"/>
              </a:effectRef>
              <a:fontRef idx="minor">
                <a:schemeClr val="tx1"/>
              </a:fontRef>
            </p:style>
          </p:cxnSp>
        </p:grpSp>
        <p:sp>
          <p:nvSpPr>
            <p:cNvPr id="29" name="Text Box 28"/>
            <p:cNvSpPr txBox="1"/>
            <p:nvPr/>
          </p:nvSpPr>
          <p:spPr>
            <a:xfrm>
              <a:off x="15422" y="5085"/>
              <a:ext cx="1509" cy="580"/>
            </a:xfrm>
            <a:prstGeom prst="rect">
              <a:avLst/>
            </a:prstGeom>
            <a:noFill/>
          </p:spPr>
          <p:txBody>
            <a:bodyPr wrap="square" rtlCol="0">
              <a:spAutoFit/>
            </a:bodyPr>
            <a:p>
              <a:r>
                <a:rPr lang="en-US"/>
                <a:t>Sunlight</a:t>
              </a:r>
              <a:endParaRPr lang="en-US"/>
            </a:p>
          </p:txBody>
        </p:sp>
      </p:grpSp>
      <p:grpSp>
        <p:nvGrpSpPr>
          <p:cNvPr id="48" name="Group 47"/>
          <p:cNvGrpSpPr/>
          <p:nvPr/>
        </p:nvGrpSpPr>
        <p:grpSpPr>
          <a:xfrm>
            <a:off x="5911850" y="1468120"/>
            <a:ext cx="957580" cy="989330"/>
            <a:chOff x="9042" y="2097"/>
            <a:chExt cx="1508" cy="1558"/>
          </a:xfrm>
        </p:grpSpPr>
        <p:grpSp>
          <p:nvGrpSpPr>
            <p:cNvPr id="31" name="Group 30"/>
            <p:cNvGrpSpPr/>
            <p:nvPr/>
          </p:nvGrpSpPr>
          <p:grpSpPr>
            <a:xfrm rot="16200000">
              <a:off x="9010" y="2396"/>
              <a:ext cx="1558" cy="960"/>
              <a:chOff x="12192" y="4440"/>
              <a:chExt cx="1008" cy="474"/>
            </a:xfrm>
          </p:grpSpPr>
          <p:cxnSp>
            <p:nvCxnSpPr>
              <p:cNvPr id="32" name="Straight Arrow Connector 31"/>
              <p:cNvCxnSpPr/>
              <p:nvPr/>
            </p:nvCxnSpPr>
            <p:spPr>
              <a:xfrm>
                <a:off x="12192" y="4440"/>
                <a:ext cx="1008" cy="0"/>
              </a:xfrm>
              <a:prstGeom prst="straightConnector1">
                <a:avLst/>
              </a:prstGeom>
              <a:ln w="28575">
                <a:solidFill>
                  <a:srgbClr val="FFC000"/>
                </a:solidFill>
                <a:tailEnd type="arrow"/>
              </a:ln>
            </p:spPr>
            <p:style>
              <a:lnRef idx="2">
                <a:schemeClr val="accent1"/>
              </a:lnRef>
              <a:fillRef idx="0">
                <a:srgbClr val="FFFFFF"/>
              </a:fillRef>
              <a:effectRef idx="0">
                <a:srgbClr val="FFFFFF"/>
              </a:effectRef>
              <a:fontRef idx="minor">
                <a:schemeClr val="tx1"/>
              </a:fontRef>
            </p:style>
          </p:cxnSp>
          <p:cxnSp>
            <p:nvCxnSpPr>
              <p:cNvPr id="33" name="Straight Arrow Connector 32"/>
              <p:cNvCxnSpPr/>
              <p:nvPr/>
            </p:nvCxnSpPr>
            <p:spPr>
              <a:xfrm>
                <a:off x="12192" y="4677"/>
                <a:ext cx="1008" cy="0"/>
              </a:xfrm>
              <a:prstGeom prst="straightConnector1">
                <a:avLst/>
              </a:prstGeom>
              <a:ln w="28575">
                <a:solidFill>
                  <a:srgbClr val="FFC000"/>
                </a:solidFill>
                <a:tailEnd type="arrow"/>
              </a:ln>
            </p:spPr>
            <p:style>
              <a:lnRef idx="2">
                <a:schemeClr val="accent1"/>
              </a:lnRef>
              <a:fillRef idx="0">
                <a:srgbClr val="FFFFFF"/>
              </a:fillRef>
              <a:effectRef idx="0">
                <a:srgbClr val="FFFFFF"/>
              </a:effectRef>
              <a:fontRef idx="minor">
                <a:schemeClr val="tx1"/>
              </a:fontRef>
            </p:style>
          </p:cxnSp>
          <p:cxnSp>
            <p:nvCxnSpPr>
              <p:cNvPr id="34" name="Straight Arrow Connector 33"/>
              <p:cNvCxnSpPr/>
              <p:nvPr/>
            </p:nvCxnSpPr>
            <p:spPr>
              <a:xfrm>
                <a:off x="12192" y="4914"/>
                <a:ext cx="1008" cy="0"/>
              </a:xfrm>
              <a:prstGeom prst="straightConnector1">
                <a:avLst/>
              </a:prstGeom>
              <a:ln w="28575">
                <a:solidFill>
                  <a:srgbClr val="FFC000"/>
                </a:solidFill>
                <a:tailEnd type="arrow"/>
              </a:ln>
            </p:spPr>
            <p:style>
              <a:lnRef idx="2">
                <a:schemeClr val="accent1"/>
              </a:lnRef>
              <a:fillRef idx="0">
                <a:srgbClr val="FFFFFF"/>
              </a:fillRef>
              <a:effectRef idx="0">
                <a:srgbClr val="FFFFFF"/>
              </a:effectRef>
              <a:fontRef idx="minor">
                <a:schemeClr val="tx1"/>
              </a:fontRef>
            </p:style>
          </p:cxnSp>
        </p:grpSp>
        <p:sp>
          <p:nvSpPr>
            <p:cNvPr id="35" name="Text Box 34"/>
            <p:cNvSpPr txBox="1"/>
            <p:nvPr/>
          </p:nvSpPr>
          <p:spPr>
            <a:xfrm>
              <a:off x="9042" y="2586"/>
              <a:ext cx="1509" cy="580"/>
            </a:xfrm>
            <a:prstGeom prst="rect">
              <a:avLst/>
            </a:prstGeom>
            <a:noFill/>
          </p:spPr>
          <p:txBody>
            <a:bodyPr wrap="square" rtlCol="0">
              <a:spAutoFit/>
            </a:bodyPr>
            <a:p>
              <a:r>
                <a:rPr lang="en-US"/>
                <a:t>Sunlight</a:t>
              </a:r>
              <a:endParaRPr lang="en-US"/>
            </a:p>
          </p:txBody>
        </p:sp>
      </p:grpSp>
      <p:grpSp>
        <p:nvGrpSpPr>
          <p:cNvPr id="46" name="Group 45"/>
          <p:cNvGrpSpPr/>
          <p:nvPr/>
        </p:nvGrpSpPr>
        <p:grpSpPr>
          <a:xfrm>
            <a:off x="5741670" y="4793615"/>
            <a:ext cx="957580" cy="732790"/>
            <a:chOff x="9042" y="7549"/>
            <a:chExt cx="1508" cy="1154"/>
          </a:xfrm>
        </p:grpSpPr>
        <p:grpSp>
          <p:nvGrpSpPr>
            <p:cNvPr id="36" name="Group 35"/>
            <p:cNvGrpSpPr/>
            <p:nvPr/>
          </p:nvGrpSpPr>
          <p:grpSpPr>
            <a:xfrm rot="5400000">
              <a:off x="9212" y="7646"/>
              <a:ext cx="1155" cy="960"/>
              <a:chOff x="12192" y="4440"/>
              <a:chExt cx="1008" cy="474"/>
            </a:xfrm>
          </p:grpSpPr>
          <p:cxnSp>
            <p:nvCxnSpPr>
              <p:cNvPr id="37" name="Straight Arrow Connector 36"/>
              <p:cNvCxnSpPr/>
              <p:nvPr/>
            </p:nvCxnSpPr>
            <p:spPr>
              <a:xfrm>
                <a:off x="12192" y="4440"/>
                <a:ext cx="1008" cy="0"/>
              </a:xfrm>
              <a:prstGeom prst="straightConnector1">
                <a:avLst/>
              </a:prstGeom>
              <a:ln w="28575">
                <a:solidFill>
                  <a:srgbClr val="FFC000"/>
                </a:solidFill>
                <a:tailEnd type="arrow"/>
              </a:ln>
            </p:spPr>
            <p:style>
              <a:lnRef idx="2">
                <a:schemeClr val="accent1"/>
              </a:lnRef>
              <a:fillRef idx="0">
                <a:srgbClr val="FFFFFF"/>
              </a:fillRef>
              <a:effectRef idx="0">
                <a:srgbClr val="FFFFFF"/>
              </a:effectRef>
              <a:fontRef idx="minor">
                <a:schemeClr val="tx1"/>
              </a:fontRef>
            </p:style>
          </p:cxnSp>
          <p:cxnSp>
            <p:nvCxnSpPr>
              <p:cNvPr id="38" name="Straight Arrow Connector 37"/>
              <p:cNvCxnSpPr/>
              <p:nvPr/>
            </p:nvCxnSpPr>
            <p:spPr>
              <a:xfrm>
                <a:off x="12192" y="4677"/>
                <a:ext cx="1008" cy="0"/>
              </a:xfrm>
              <a:prstGeom prst="straightConnector1">
                <a:avLst/>
              </a:prstGeom>
              <a:ln w="28575">
                <a:solidFill>
                  <a:srgbClr val="FFC000"/>
                </a:solidFill>
                <a:tailEnd type="arrow"/>
              </a:ln>
            </p:spPr>
            <p:style>
              <a:lnRef idx="2">
                <a:schemeClr val="accent1"/>
              </a:lnRef>
              <a:fillRef idx="0">
                <a:srgbClr val="FFFFFF"/>
              </a:fillRef>
              <a:effectRef idx="0">
                <a:srgbClr val="FFFFFF"/>
              </a:effectRef>
              <a:fontRef idx="minor">
                <a:schemeClr val="tx1"/>
              </a:fontRef>
            </p:style>
          </p:cxnSp>
          <p:cxnSp>
            <p:nvCxnSpPr>
              <p:cNvPr id="39" name="Straight Arrow Connector 38"/>
              <p:cNvCxnSpPr/>
              <p:nvPr/>
            </p:nvCxnSpPr>
            <p:spPr>
              <a:xfrm>
                <a:off x="12192" y="4914"/>
                <a:ext cx="1008" cy="0"/>
              </a:xfrm>
              <a:prstGeom prst="straightConnector1">
                <a:avLst/>
              </a:prstGeom>
              <a:ln w="28575">
                <a:solidFill>
                  <a:srgbClr val="FFC000"/>
                </a:solidFill>
                <a:tailEnd type="arrow"/>
              </a:ln>
            </p:spPr>
            <p:style>
              <a:lnRef idx="2">
                <a:schemeClr val="accent1"/>
              </a:lnRef>
              <a:fillRef idx="0">
                <a:srgbClr val="FFFFFF"/>
              </a:fillRef>
              <a:effectRef idx="0">
                <a:srgbClr val="FFFFFF"/>
              </a:effectRef>
              <a:fontRef idx="minor">
                <a:schemeClr val="tx1"/>
              </a:fontRef>
            </p:style>
          </p:cxnSp>
        </p:grpSp>
        <p:sp>
          <p:nvSpPr>
            <p:cNvPr id="40" name="Text Box 39"/>
            <p:cNvSpPr txBox="1"/>
            <p:nvPr/>
          </p:nvSpPr>
          <p:spPr>
            <a:xfrm>
              <a:off x="9042" y="7826"/>
              <a:ext cx="1509" cy="580"/>
            </a:xfrm>
            <a:prstGeom prst="rect">
              <a:avLst/>
            </a:prstGeom>
            <a:noFill/>
          </p:spPr>
          <p:txBody>
            <a:bodyPr wrap="square" rtlCol="0">
              <a:spAutoFit/>
            </a:bodyPr>
            <a:p>
              <a:r>
                <a:rPr lang="en-US"/>
                <a:t>Sunlight</a:t>
              </a:r>
              <a:endParaRPr lang="en-US"/>
            </a:p>
          </p:txBody>
        </p:sp>
      </p:grpSp>
      <p:grpSp>
        <p:nvGrpSpPr>
          <p:cNvPr id="49" name="Group 48"/>
          <p:cNvGrpSpPr/>
          <p:nvPr/>
        </p:nvGrpSpPr>
        <p:grpSpPr>
          <a:xfrm>
            <a:off x="1570990" y="3228975"/>
            <a:ext cx="989330" cy="609600"/>
            <a:chOff x="3890" y="4920"/>
            <a:chExt cx="1558" cy="960"/>
          </a:xfrm>
        </p:grpSpPr>
        <p:grpSp>
          <p:nvGrpSpPr>
            <p:cNvPr id="41" name="Group 40"/>
            <p:cNvGrpSpPr/>
            <p:nvPr/>
          </p:nvGrpSpPr>
          <p:grpSpPr>
            <a:xfrm rot="10800000">
              <a:off x="3890" y="4920"/>
              <a:ext cx="1558" cy="960"/>
              <a:chOff x="12192" y="4440"/>
              <a:chExt cx="1008" cy="474"/>
            </a:xfrm>
          </p:grpSpPr>
          <p:cxnSp>
            <p:nvCxnSpPr>
              <p:cNvPr id="42" name="Straight Arrow Connector 41"/>
              <p:cNvCxnSpPr/>
              <p:nvPr/>
            </p:nvCxnSpPr>
            <p:spPr>
              <a:xfrm>
                <a:off x="12192" y="4440"/>
                <a:ext cx="1008" cy="0"/>
              </a:xfrm>
              <a:prstGeom prst="straightConnector1">
                <a:avLst/>
              </a:prstGeom>
              <a:ln w="28575">
                <a:solidFill>
                  <a:srgbClr val="FFC000"/>
                </a:solidFill>
                <a:tailEnd type="arrow"/>
              </a:ln>
            </p:spPr>
            <p:style>
              <a:lnRef idx="2">
                <a:schemeClr val="accent1"/>
              </a:lnRef>
              <a:fillRef idx="0">
                <a:srgbClr val="FFFFFF"/>
              </a:fillRef>
              <a:effectRef idx="0">
                <a:srgbClr val="FFFFFF"/>
              </a:effectRef>
              <a:fontRef idx="minor">
                <a:schemeClr val="tx1"/>
              </a:fontRef>
            </p:style>
          </p:cxnSp>
          <p:cxnSp>
            <p:nvCxnSpPr>
              <p:cNvPr id="43" name="Straight Arrow Connector 42"/>
              <p:cNvCxnSpPr/>
              <p:nvPr/>
            </p:nvCxnSpPr>
            <p:spPr>
              <a:xfrm>
                <a:off x="12192" y="4677"/>
                <a:ext cx="1008" cy="0"/>
              </a:xfrm>
              <a:prstGeom prst="straightConnector1">
                <a:avLst/>
              </a:prstGeom>
              <a:ln w="28575">
                <a:solidFill>
                  <a:srgbClr val="FFC000"/>
                </a:solidFill>
                <a:tailEnd type="arrow"/>
              </a:ln>
            </p:spPr>
            <p:style>
              <a:lnRef idx="2">
                <a:schemeClr val="accent1"/>
              </a:lnRef>
              <a:fillRef idx="0">
                <a:srgbClr val="FFFFFF"/>
              </a:fillRef>
              <a:effectRef idx="0">
                <a:srgbClr val="FFFFFF"/>
              </a:effectRef>
              <a:fontRef idx="minor">
                <a:schemeClr val="tx1"/>
              </a:fontRef>
            </p:style>
          </p:cxnSp>
          <p:cxnSp>
            <p:nvCxnSpPr>
              <p:cNvPr id="44" name="Straight Arrow Connector 43"/>
              <p:cNvCxnSpPr/>
              <p:nvPr/>
            </p:nvCxnSpPr>
            <p:spPr>
              <a:xfrm>
                <a:off x="12192" y="4914"/>
                <a:ext cx="1008" cy="0"/>
              </a:xfrm>
              <a:prstGeom prst="straightConnector1">
                <a:avLst/>
              </a:prstGeom>
              <a:ln w="28575">
                <a:solidFill>
                  <a:srgbClr val="FFC000"/>
                </a:solidFill>
                <a:tailEnd type="arrow"/>
              </a:ln>
            </p:spPr>
            <p:style>
              <a:lnRef idx="2">
                <a:schemeClr val="accent1"/>
              </a:lnRef>
              <a:fillRef idx="0">
                <a:srgbClr val="FFFFFF"/>
              </a:fillRef>
              <a:effectRef idx="0">
                <a:srgbClr val="FFFFFF"/>
              </a:effectRef>
              <a:fontRef idx="minor">
                <a:schemeClr val="tx1"/>
              </a:fontRef>
            </p:style>
          </p:cxnSp>
        </p:grpSp>
        <p:sp>
          <p:nvSpPr>
            <p:cNvPr id="45" name="Text Box 44"/>
            <p:cNvSpPr txBox="1"/>
            <p:nvPr/>
          </p:nvSpPr>
          <p:spPr>
            <a:xfrm>
              <a:off x="3939" y="5085"/>
              <a:ext cx="1509" cy="580"/>
            </a:xfrm>
            <a:prstGeom prst="rect">
              <a:avLst/>
            </a:prstGeom>
            <a:noFill/>
          </p:spPr>
          <p:txBody>
            <a:bodyPr wrap="square" rtlCol="0">
              <a:spAutoFit/>
            </a:bodyPr>
            <a:p>
              <a:r>
                <a:rPr lang="en-US"/>
                <a:t>Sunlight</a:t>
              </a: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 0 C 3.79841e-05 0.00201822 5.67695e-05 0.00401083 5.67695e-05 0.00600719 C 5.67695e-05 0.20325 -0.18332 0.363951 -0.412488 0.370779 " pathEditMode="relative" ptsTypes="">
                                      <p:cBhvr>
                                        <p:cTn id="14" dur="2000" fill="hold"/>
                                        <p:tgtEl>
                                          <p:spTgt spid="24"/>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nodeType="clickEffect">
                                  <p:stCondLst>
                                    <p:cond delay="0"/>
                                  </p:stCondLst>
                                  <p:childTnLst>
                                    <p:animMotion origin="layout" path="M -0.419845 0.388213 C -0.651912 0.385814 -0.839494 0.225804 -0.842361 0.0278669 " pathEditMode="relative" ptsTypes="">
                                      <p:cBhvr>
                                        <p:cTn id="26" dur="2000" fill="hold"/>
                                        <p:tgtEl>
                                          <p:spTgt spid="24"/>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animMotion origin="layout" path="M -0.841557 0.000392037 C -0.82767 -0.190586 -0.64181 -0.341744 -0.41457 -0.341744 C -0.412158 -0.341744 -0.40975 -0.341727 -0.407382 -0.341694 " pathEditMode="relative" ptsTypes="">
                                      <p:cBhvr>
                                        <p:cTn id="38" dur="2000" fill="hold"/>
                                        <p:tgtEl>
                                          <p:spTgt spid="24"/>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0" presetClass="path" presetSubtype="0" accel="50000" decel="50000" fill="hold" nodeType="clickEffect">
                                  <p:stCondLst>
                                    <p:cond delay="0"/>
                                  </p:stCondLst>
                                  <p:childTnLst>
                                    <p:animMotion origin="layout" path="M -0.428396 -0.362718 C -0.428197 -0.362718 -0.428 -0.362719 -0.427804 -0.362719 C -0.192417 -0.362719 -0.00143108 -0.200528 0 0 " pathEditMode="relative" ptsTypes="">
                                      <p:cBhvr>
                                        <p:cTn id="50" dur="2000" fill="hold"/>
                                        <p:tgtEl>
                                          <p:spTgt spid="2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17" grpId="0"/>
      <p:bldP spid="18" grpId="0"/>
      <p:bldP spid="19" grpId="0"/>
      <p:bldP spid="17" grpId="1"/>
      <p:bldP spid="18" grpId="1"/>
      <p:bldP spid="19"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60000">
              <a:schemeClr val="bg1"/>
            </a:gs>
            <a:gs pos="0">
              <a:schemeClr val="accent1">
                <a:lumMod val="5000"/>
                <a:lumOff val="95000"/>
              </a:schemeClr>
            </a:gs>
            <a:gs pos="100000">
              <a:schemeClr val="tx1">
                <a:lumMod val="67000"/>
                <a:lumOff val="33000"/>
              </a:schemeClr>
            </a:gs>
          </a:gsLst>
          <a:lin ang="5400000" scaled="0"/>
        </a:gradFill>
        <a:effectLst/>
      </p:bgPr>
    </p:bg>
    <p:spTree>
      <p:nvGrpSpPr>
        <p:cNvPr id="1" name=""/>
        <p:cNvGrpSpPr/>
        <p:nvPr/>
      </p:nvGrpSpPr>
      <p:grpSpPr/>
      <p:sp>
        <p:nvSpPr>
          <p:cNvPr id="5" name="Rectangles 4"/>
          <p:cNvSpPr/>
          <p:nvPr/>
        </p:nvSpPr>
        <p:spPr>
          <a:xfrm>
            <a:off x="635" y="0"/>
            <a:ext cx="12190730" cy="685863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itle 1"/>
          <p:cNvSpPr>
            <a:spLocks noGrp="1"/>
          </p:cNvSpPr>
          <p:nvPr>
            <p:ph type="title"/>
          </p:nvPr>
        </p:nvSpPr>
        <p:spPr/>
        <p:txBody>
          <a:bodyPr/>
          <a:p>
            <a:r>
              <a:rPr lang="en-US">
                <a:solidFill>
                  <a:schemeClr val="bg1"/>
                </a:solidFill>
              </a:rPr>
              <a:t>How?</a:t>
            </a:r>
            <a:endParaRPr lang="en-US">
              <a:solidFill>
                <a:schemeClr val="bg1"/>
              </a:solidFill>
            </a:endParaRPr>
          </a:p>
        </p:txBody>
      </p:sp>
      <p:pic>
        <p:nvPicPr>
          <p:cNvPr id="6" name="Picture 5" descr="OIP2"/>
          <p:cNvPicPr>
            <a:picLocks noChangeAspect="1"/>
          </p:cNvPicPr>
          <p:nvPr/>
        </p:nvPicPr>
        <p:blipFill>
          <a:blip r:embed="rId1"/>
          <a:stretch>
            <a:fillRect/>
          </a:stretch>
        </p:blipFill>
        <p:spPr>
          <a:xfrm rot="8100000">
            <a:off x="3600450" y="1387475"/>
            <a:ext cx="2146300" cy="2286000"/>
          </a:xfrm>
          <a:prstGeom prst="rect">
            <a:avLst/>
          </a:prstGeom>
        </p:spPr>
      </p:pic>
      <p:sp>
        <p:nvSpPr>
          <p:cNvPr id="7" name="Oval 6"/>
          <p:cNvSpPr/>
          <p:nvPr/>
        </p:nvSpPr>
        <p:spPr>
          <a:xfrm>
            <a:off x="3409315" y="5062855"/>
            <a:ext cx="2743200" cy="107950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Text Box 7"/>
          <p:cNvSpPr txBox="1"/>
          <p:nvPr/>
        </p:nvSpPr>
        <p:spPr>
          <a:xfrm>
            <a:off x="89535" y="1746250"/>
            <a:ext cx="4088765" cy="1568450"/>
          </a:xfrm>
          <a:prstGeom prst="rect">
            <a:avLst/>
          </a:prstGeom>
          <a:noFill/>
        </p:spPr>
        <p:txBody>
          <a:bodyPr wrap="square" rtlCol="0">
            <a:spAutoFit/>
          </a:bodyPr>
          <a:p>
            <a:r>
              <a:rPr lang="en-US" sz="2400">
                <a:solidFill>
                  <a:schemeClr val="bg1"/>
                </a:solidFill>
              </a:rPr>
              <a:t>In this case, this flashlight faces straight down onto the ground, it lights up a round space on the ground.</a:t>
            </a:r>
            <a:endParaRPr lang="en-US" sz="2400">
              <a:solidFill>
                <a:schemeClr val="bg1"/>
              </a:solidFill>
            </a:endParaRPr>
          </a:p>
        </p:txBody>
      </p:sp>
      <p:pic>
        <p:nvPicPr>
          <p:cNvPr id="9" name="Picture 8" descr="OIP2"/>
          <p:cNvPicPr>
            <a:picLocks noChangeAspect="1"/>
          </p:cNvPicPr>
          <p:nvPr/>
        </p:nvPicPr>
        <p:blipFill>
          <a:blip r:embed="rId1"/>
          <a:stretch>
            <a:fillRect/>
          </a:stretch>
        </p:blipFill>
        <p:spPr>
          <a:xfrm rot="5400000">
            <a:off x="5753735" y="2233930"/>
            <a:ext cx="2146300" cy="2286000"/>
          </a:xfrm>
          <a:prstGeom prst="rect">
            <a:avLst/>
          </a:prstGeom>
        </p:spPr>
      </p:pic>
      <p:sp>
        <p:nvSpPr>
          <p:cNvPr id="10" name="Oval 9"/>
          <p:cNvSpPr/>
          <p:nvPr/>
        </p:nvSpPr>
        <p:spPr>
          <a:xfrm>
            <a:off x="7327265" y="5062855"/>
            <a:ext cx="3937000" cy="812800"/>
          </a:xfrm>
          <a:prstGeom prst="ellipse">
            <a:avLst/>
          </a:prstGeom>
          <a:gradFill rotWithShape="1">
            <a:gsLst>
              <a:gs pos="0">
                <a:schemeClr val="bg1">
                  <a:lumMod val="99000"/>
                </a:schemeClr>
              </a:gs>
              <a:gs pos="100000">
                <a:schemeClr val="tx1">
                  <a:lumMod val="83000"/>
                  <a:lumOff val="17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8229600" y="1339215"/>
            <a:ext cx="3962400" cy="1568450"/>
          </a:xfrm>
          <a:prstGeom prst="rect">
            <a:avLst/>
          </a:prstGeom>
          <a:noFill/>
        </p:spPr>
        <p:txBody>
          <a:bodyPr wrap="square" rtlCol="0">
            <a:spAutoFit/>
          </a:bodyPr>
          <a:p>
            <a:r>
              <a:rPr lang="en-US" sz="2400">
                <a:solidFill>
                  <a:schemeClr val="bg1"/>
                </a:solidFill>
              </a:rPr>
              <a:t>In this case, this flash is tilted, so the light seems to be </a:t>
            </a:r>
            <a:r>
              <a:rPr lang="en-US" altLang="zh-CN" sz="2400">
                <a:solidFill>
                  <a:schemeClr val="bg1"/>
                </a:solidFill>
              </a:rPr>
              <a:t>dimmer, thus the ground will be colder the one in the left.</a:t>
            </a:r>
            <a:endParaRPr lang="en-US" altLang="zh-CN" sz="240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p:bldP spid="10" grpId="0" bldLvl="0" animBg="1"/>
      <p:bldP spid="11" grpId="0"/>
      <p:bldP spid="7" grpId="1" animBg="1"/>
      <p:bldP spid="8" grpId="1"/>
      <p:bldP spid="10" grpId="1" animBg="1"/>
      <p:bldP spid="11"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Break Time</a:t>
            </a:r>
            <a:endParaRPr lang="en-US" dirty="0"/>
          </a:p>
        </p:txBody>
      </p:sp>
      <p:sp>
        <p:nvSpPr>
          <p:cNvPr id="3" name="Subtitle 2"/>
          <p:cNvSpPr>
            <a:spLocks noGrp="1"/>
          </p:cNvSpPr>
          <p:nvPr>
            <p:ph type="subTitle" idx="1"/>
          </p:nvPr>
        </p:nvSpPr>
        <p:spPr/>
        <p:txBody>
          <a:bodyPr/>
          <a:lstStyle/>
          <a:p>
            <a:r>
              <a:rPr lang="en-US"/>
              <a:t>We’ll be back at 6:00PM</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Kahoot time~</a:t>
            </a:r>
            <a:endParaRPr lang="en-US"/>
          </a:p>
        </p:txBody>
      </p:sp>
      <p:sp>
        <p:nvSpPr>
          <p:cNvPr id="3" name="Content Placeholder 2"/>
          <p:cNvSpPr>
            <a:spLocks noGrp="1"/>
          </p:cNvSpPr>
          <p:nvPr>
            <p:ph idx="1"/>
          </p:nvPr>
        </p:nvSpPr>
        <p:spPr/>
        <p:txBody>
          <a:bodyPr/>
          <a:p>
            <a:r>
              <a:rPr lang="en-US"/>
              <a:t>Game PIN: </a:t>
            </a:r>
            <a:r>
              <a:rPr lang="en-US" altLang="en-US"/>
              <a:t>02637062</a:t>
            </a:r>
            <a:endParaRPr lang="en-US" altLang="en-US"/>
          </a:p>
          <a:p>
            <a:r>
              <a:rPr lang="en-US" altLang="en-US"/>
              <a:t>Link: https://kahoot.it/challenge/02637062</a:t>
            </a:r>
            <a:endParaRPr lang="en-US" altLang="en-US"/>
          </a:p>
          <a:p>
            <a:endParaRPr lang="en-US" altLang="en-US"/>
          </a:p>
          <a:p>
            <a:r>
              <a:rPr lang="en-US" altLang="en-US">
                <a:sym typeface="+mn-ea"/>
              </a:rPr>
              <a:t>Usage: Visit “https://kahoot.it” using your browser and enter the game pin to participate in.</a:t>
            </a:r>
            <a:endParaRPr lang="en-US" altLang="en-US"/>
          </a:p>
          <a:p>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Moon phases</a:t>
            </a:r>
            <a:endParaRPr lang="en-US"/>
          </a:p>
        </p:txBody>
      </p:sp>
      <p:sp>
        <p:nvSpPr>
          <p:cNvPr id="3" name="Content Placeholder 2"/>
          <p:cNvSpPr>
            <a:spLocks noGrp="1"/>
          </p:cNvSpPr>
          <p:nvPr>
            <p:ph idx="1"/>
          </p:nvPr>
        </p:nvSpPr>
        <p:spPr>
          <a:xfrm>
            <a:off x="838200" y="1825625"/>
            <a:ext cx="10515600" cy="1238885"/>
          </a:xfrm>
        </p:spPr>
        <p:txBody>
          <a:bodyPr>
            <a:normAutofit lnSpcReduction="10000"/>
          </a:bodyPr>
          <a:p>
            <a:r>
              <a:rPr lang="en-US"/>
              <a:t>The moon orbits around the Earth, also it rotates on itself. The time the moon spent for all of them is equal, so there’s always one part facing the Sun.</a:t>
            </a:r>
            <a:endParaRPr lang="en-US"/>
          </a:p>
        </p:txBody>
      </p:sp>
      <p:sp>
        <p:nvSpPr>
          <p:cNvPr id="4" name="Oval 3"/>
          <p:cNvSpPr/>
          <p:nvPr/>
        </p:nvSpPr>
        <p:spPr>
          <a:xfrm>
            <a:off x="2213610" y="4025265"/>
            <a:ext cx="560070" cy="560070"/>
          </a:xfrm>
          <a:prstGeom prst="ellipse">
            <a:avLst/>
          </a:prstGeom>
          <a:solidFill>
            <a:srgbClr val="00B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 name="Oval 4"/>
          <p:cNvSpPr/>
          <p:nvPr/>
        </p:nvSpPr>
        <p:spPr>
          <a:xfrm>
            <a:off x="4490085" y="3655060"/>
            <a:ext cx="1450975" cy="1450975"/>
          </a:xfrm>
          <a:prstGeom prst="ellipse">
            <a:avLst/>
          </a:prstGeom>
          <a:solidFill>
            <a:srgbClr val="FFC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grpSp>
        <p:nvGrpSpPr>
          <p:cNvPr id="8" name="Group 7"/>
          <p:cNvGrpSpPr/>
          <p:nvPr/>
        </p:nvGrpSpPr>
        <p:grpSpPr>
          <a:xfrm>
            <a:off x="1293495" y="4172585"/>
            <a:ext cx="262890" cy="267970"/>
            <a:chOff x="4945" y="6331"/>
            <a:chExt cx="414" cy="422"/>
          </a:xfrm>
        </p:grpSpPr>
        <p:sp>
          <p:nvSpPr>
            <p:cNvPr id="6" name="Oval 5"/>
            <p:cNvSpPr/>
            <p:nvPr/>
          </p:nvSpPr>
          <p:spPr>
            <a:xfrm>
              <a:off x="4945" y="6339"/>
              <a:ext cx="415" cy="415"/>
            </a:xfrm>
            <a:prstGeom prst="ellipse">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Pie 6"/>
            <p:cNvSpPr/>
            <p:nvPr/>
          </p:nvSpPr>
          <p:spPr>
            <a:xfrm>
              <a:off x="4955" y="6331"/>
              <a:ext cx="404" cy="418"/>
            </a:xfrm>
            <a:prstGeom prst="pie">
              <a:avLst>
                <a:gd name="adj1" fmla="val 5319316"/>
                <a:gd name="adj2" fmla="val 16200000"/>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Checkout</a:t>
            </a:r>
            <a:endParaRPr lang="en-US"/>
          </a:p>
        </p:txBody>
      </p:sp>
      <p:sp>
        <p:nvSpPr>
          <p:cNvPr id="3" name="Content Placeholder 2"/>
          <p:cNvSpPr>
            <a:spLocks noGrp="1"/>
          </p:cNvSpPr>
          <p:nvPr>
            <p:ph idx="1"/>
          </p:nvPr>
        </p:nvSpPr>
        <p:spPr/>
        <p:txBody>
          <a:bodyPr/>
          <a:p>
            <a:r>
              <a:rPr lang="en-US" altLang="en-US">
                <a:sym typeface="+mn-ea"/>
              </a:rPr>
              <a:t>Can you explain what causes the seasons?</a:t>
            </a:r>
            <a:endParaRPr lang="en-US" altLang="en-US"/>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 You</a:t>
            </a:r>
            <a:endParaRPr lang="en-US" dirty="0"/>
          </a:p>
        </p:txBody>
      </p:sp>
      <p:sp>
        <p:nvSpPr>
          <p:cNvPr id="3" name="Subtitle 2"/>
          <p:cNvSpPr>
            <a:spLocks noGrp="1"/>
          </p:cNvSpPr>
          <p:nvPr>
            <p:ph type="subTitle" idx="1"/>
          </p:nvPr>
        </p:nvSpPr>
        <p:spPr/>
        <p:txBody>
          <a:bodyPr/>
          <a:lstStyle/>
          <a:p>
            <a:r>
              <a:rPr lang="en-US"/>
              <a:t>See you next week</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1925</Words>
  <Application>WPS Presentation</Application>
  <PresentationFormat>Widescreen</PresentationFormat>
  <Paragraphs>84</Paragraphs>
  <Slides>12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Arial</vt:lpstr>
      <vt:lpstr>SimSun</vt:lpstr>
      <vt:lpstr>Wingdings</vt:lpstr>
      <vt:lpstr>Calibri Light</vt:lpstr>
      <vt:lpstr>Calibri</vt:lpstr>
      <vt:lpstr>Microsoft YaHei</vt:lpstr>
      <vt:lpstr>Arial Unicode MS</vt:lpstr>
      <vt:lpstr>Office Theme</vt:lpstr>
      <vt:lpstr>The Seasons</vt:lpstr>
      <vt:lpstr>Schedule</vt:lpstr>
      <vt:lpstr>Icebreaker</vt:lpstr>
      <vt:lpstr>Discussion</vt:lpstr>
      <vt:lpstr>Seasons and the Sun</vt:lpstr>
      <vt:lpstr>PowerPoint 演示文稿</vt:lpstr>
      <vt:lpstr>How?</vt:lpstr>
      <vt:lpstr>Break Time</vt:lpstr>
      <vt:lpstr>Kahoot time~</vt:lpstr>
      <vt:lpstr>PowerPoint 演示文稿</vt:lpstr>
      <vt:lpstr>Checkout</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zyc</dc:creator>
  <cp:lastModifiedBy>zyc</cp:lastModifiedBy>
  <cp:revision>32</cp:revision>
  <dcterms:created xsi:type="dcterms:W3CDTF">2025-07-23T00:59:00Z</dcterms:created>
  <dcterms:modified xsi:type="dcterms:W3CDTF">2026-08-27T01:03:36Z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D3AD2482154A45A5BB3A6A09D583D251_11</vt:lpwstr>
  </property>
  <property fmtid="{D5CDD505-2E9C-101B-9397-08002B2CF9AE}" pid="3" name="KSOProductBuildVer">
    <vt:lpwstr>1033-12.1.0.23542</vt:lpwstr>
  </property>
</Properties>
</file>