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3" r:id="rId16"/>
    <p:sldId id="274" r:id="rId17"/>
    <p:sldId id="266" r:id="rId18"/>
    <p:sldId id="272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419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1534160"/>
            <a:ext cx="11496040" cy="51873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英语句型写作练习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FF"/>
                </a:solidFill>
              </a:rPr>
              <a:t>升级法二：</a:t>
            </a:r>
            <a:r>
              <a:rPr lang="zh-CN" altLang="en-US" dirty="0" smtClean="0">
                <a:solidFill>
                  <a:srgbClr val="3333FF"/>
                </a:solidFill>
              </a:rPr>
              <a:t>添加定语从句</a:t>
            </a:r>
            <a:r>
              <a:rPr lang="en-US" altLang="zh-CN" dirty="0" smtClean="0">
                <a:solidFill>
                  <a:srgbClr val="3333FF"/>
                </a:solidFill>
              </a:rPr>
              <a:t/>
            </a:r>
            <a:br>
              <a:rPr lang="en-US" altLang="zh-CN" dirty="0" smtClean="0">
                <a:solidFill>
                  <a:srgbClr val="3333FF"/>
                </a:solidFill>
              </a:rPr>
            </a:br>
            <a:r>
              <a:rPr lang="zh-CN" altLang="en-US" dirty="0" smtClean="0"/>
              <a:t>公式</a:t>
            </a:r>
            <a:r>
              <a:rPr lang="zh-CN" altLang="en-US" dirty="0"/>
              <a:t>一：主句（含有名词）+定语从句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1977505"/>
            <a:ext cx="11496040" cy="5187315"/>
          </a:xfrm>
        </p:spPr>
        <p:txBody>
          <a:bodyPr/>
          <a:lstStyle/>
          <a:p>
            <a:r>
              <a:rPr lang="zh-CN" altLang="en-US" dirty="0"/>
              <a:t>他去过北京。北京是中国的首都。</a:t>
            </a:r>
          </a:p>
          <a:p>
            <a:r>
              <a:rPr lang="zh-CN" altLang="en-US" dirty="0"/>
              <a:t>He has been to </a:t>
            </a:r>
            <a:r>
              <a:rPr lang="zh-CN" altLang="en-US" dirty="0">
                <a:solidFill>
                  <a:srgbClr val="FF0000"/>
                </a:solidFill>
              </a:rPr>
              <a:t>Beijing, </a:t>
            </a:r>
            <a:r>
              <a:rPr lang="zh-CN" altLang="en-US" u="sng" dirty="0">
                <a:solidFill>
                  <a:srgbClr val="FF0000"/>
                </a:solidFill>
              </a:rPr>
              <a:t>which</a:t>
            </a:r>
            <a:r>
              <a:rPr lang="zh-CN" altLang="en-US" u="sng" dirty="0"/>
              <a:t> is the capital of China.</a:t>
            </a:r>
          </a:p>
          <a:p>
            <a:r>
              <a:rPr lang="zh-CN" altLang="en-US" dirty="0"/>
              <a:t>他去过北京，那里有闻名世界的万里长城。</a:t>
            </a:r>
          </a:p>
          <a:p>
            <a:r>
              <a:rPr lang="zh-CN" altLang="en-US" dirty="0"/>
              <a:t>He has been to </a:t>
            </a:r>
            <a:r>
              <a:rPr lang="zh-CN" altLang="en-US" dirty="0">
                <a:solidFill>
                  <a:srgbClr val="FF0000"/>
                </a:solidFill>
              </a:rPr>
              <a:t>Beijing, </a:t>
            </a:r>
            <a:r>
              <a:rPr lang="zh-CN" altLang="en-US" u="sng" dirty="0">
                <a:solidFill>
                  <a:srgbClr val="FF0000"/>
                </a:solidFill>
              </a:rPr>
              <a:t>where</a:t>
            </a:r>
            <a:r>
              <a:rPr lang="zh-CN" altLang="en-US" u="sng" dirty="0"/>
              <a:t> the world known Great Wall 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越来越多的大学生愿意去农村工作，在那里他们能够更好地利用他们的知识。</a:t>
            </a:r>
          </a:p>
          <a:p>
            <a:r>
              <a:rPr lang="zh-CN" altLang="en-US"/>
              <a:t>An increasing number of university students are willing to work in the </a:t>
            </a:r>
            <a:r>
              <a:rPr lang="zh-CN" altLang="en-US">
                <a:solidFill>
                  <a:srgbClr val="FF0000"/>
                </a:solidFill>
              </a:rPr>
              <a:t>countryside</a:t>
            </a:r>
            <a:r>
              <a:rPr lang="zh-CN" altLang="en-US"/>
              <a:t> after graduation, </a:t>
            </a:r>
            <a:r>
              <a:rPr lang="zh-CN" altLang="en-US" u="sng">
                <a:solidFill>
                  <a:srgbClr val="FF0000"/>
                </a:solidFill>
              </a:rPr>
              <a:t>where</a:t>
            </a:r>
            <a:r>
              <a:rPr lang="zh-CN" altLang="en-US" u="sng"/>
              <a:t> they can make better use of their knowledge.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1775"/>
            <a:ext cx="10515600" cy="997585"/>
          </a:xfrm>
        </p:spPr>
        <p:txBody>
          <a:bodyPr/>
          <a:lstStyle/>
          <a:p>
            <a:pPr algn="ctr"/>
            <a:r>
              <a:rPr lang="zh-CN" altLang="en-US"/>
              <a:t>公式二：主句+同位语短语+定语从句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510" y="1229360"/>
            <a:ext cx="11662410" cy="551942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Tom是名高三学生。他的英语学得一塌糊涂。</a:t>
            </a:r>
          </a:p>
          <a:p>
            <a:r>
              <a:rPr lang="zh-CN" altLang="en-US"/>
              <a:t>Tom</a:t>
            </a:r>
            <a:r>
              <a:rPr lang="zh-CN" altLang="en-US">
                <a:solidFill>
                  <a:srgbClr val="FF0000"/>
                </a:solidFill>
              </a:rPr>
              <a:t>, a senior three student</a:t>
            </a:r>
            <a:r>
              <a:rPr lang="zh-CN" altLang="en-US" smtClean="0">
                <a:solidFill>
                  <a:srgbClr val="FF0000"/>
                </a:solidFill>
              </a:rPr>
              <a:t>, </a:t>
            </a:r>
            <a:r>
              <a:rPr lang="zh-CN" altLang="en-US" smtClean="0"/>
              <a:t>fails </a:t>
            </a:r>
            <a:r>
              <a:rPr lang="zh-CN" altLang="en-US"/>
              <a:t>to master English.</a:t>
            </a:r>
          </a:p>
          <a:p>
            <a:r>
              <a:rPr lang="zh-CN" altLang="en-US" dirty="0"/>
              <a:t>Tom是名高三学生。他的英语学得一塌糊涂，所以他总是想取消所有英语考试。</a:t>
            </a:r>
          </a:p>
          <a:p>
            <a:r>
              <a:rPr lang="zh-CN" altLang="en-US" dirty="0"/>
              <a:t>Tom</a:t>
            </a:r>
            <a:r>
              <a:rPr lang="zh-CN" altLang="en-US" dirty="0">
                <a:solidFill>
                  <a:srgbClr val="FF0000"/>
                </a:solidFill>
              </a:rPr>
              <a:t>, a senior three student who fails to master English, </a:t>
            </a:r>
            <a:r>
              <a:rPr lang="zh-CN" altLang="en-US" dirty="0"/>
              <a:t>always wants to abolish all English exams.</a:t>
            </a:r>
          </a:p>
          <a:p>
            <a:r>
              <a:rPr lang="zh-CN" altLang="en-US" dirty="0"/>
              <a:t>Tom是名高三学生。他的英语学得一塌糊涂，所以他总是想取消所有英语考试。这些考试也是无数学子心中的梦魇。</a:t>
            </a:r>
          </a:p>
          <a:p>
            <a:r>
              <a:rPr lang="zh-CN" altLang="en-US" dirty="0"/>
              <a:t>Tom</a:t>
            </a:r>
            <a:r>
              <a:rPr lang="zh-CN" altLang="en-US" dirty="0">
                <a:solidFill>
                  <a:srgbClr val="FF0000"/>
                </a:solidFill>
              </a:rPr>
              <a:t>, a senior three student who has failed to master English, </a:t>
            </a:r>
            <a:r>
              <a:rPr lang="zh-CN" altLang="en-US" dirty="0"/>
              <a:t>always wants to abolish all English exams, </a:t>
            </a:r>
            <a:r>
              <a:rPr lang="zh-CN" altLang="en-US" dirty="0">
                <a:solidFill>
                  <a:srgbClr val="FF0000"/>
                </a:solidFill>
              </a:rPr>
              <a:t>which are horrible nightmares for many students.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330" y="208597"/>
            <a:ext cx="11394325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>
                <a:solidFill>
                  <a:srgbClr val="3333FF"/>
                </a:solidFill>
              </a:rPr>
              <a:t>升级法二：添加分词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公式</a:t>
            </a:r>
            <a:r>
              <a:rPr lang="zh-CN" altLang="en-US" dirty="0"/>
              <a:t>一：主句+分词；分词+主句</a:t>
            </a:r>
            <a:r>
              <a:rPr lang="zh-CN" altLang="en-US" dirty="0" smtClean="0"/>
              <a:t>；分词</a:t>
            </a:r>
            <a:r>
              <a:rPr lang="zh-CN" altLang="en-US" dirty="0"/>
              <a:t>+主句+分词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因为感到寒冷和孤独，我走下楼去。</a:t>
            </a:r>
          </a:p>
          <a:p>
            <a:r>
              <a:rPr lang="zh-CN" altLang="en-US">
                <a:solidFill>
                  <a:srgbClr val="FF0000"/>
                </a:solidFill>
              </a:rPr>
              <a:t>Feeling </a:t>
            </a:r>
            <a:r>
              <a:rPr lang="zh-CN" altLang="en-US"/>
              <a:t>cold and lonely, </a:t>
            </a:r>
            <a:r>
              <a:rPr lang="zh-CN" altLang="en-US">
                <a:solidFill>
                  <a:srgbClr val="FF0000"/>
                </a:solidFill>
              </a:rPr>
              <a:t>I </a:t>
            </a:r>
            <a:r>
              <a:rPr lang="zh-CN" altLang="en-US"/>
              <a:t>came downstairs.</a:t>
            </a:r>
          </a:p>
          <a:p>
            <a:r>
              <a:rPr lang="zh-CN" altLang="en-US"/>
              <a:t>我坐在电视机前，假装看电视。</a:t>
            </a:r>
          </a:p>
          <a:p>
            <a:r>
              <a:rPr lang="zh-CN" altLang="en-US">
                <a:solidFill>
                  <a:srgbClr val="FF0000"/>
                </a:solidFill>
              </a:rPr>
              <a:t>I</a:t>
            </a:r>
            <a:r>
              <a:rPr lang="zh-CN" altLang="en-US"/>
              <a:t> sat in front of the TV, </a:t>
            </a:r>
            <a:r>
              <a:rPr lang="zh-CN" altLang="en-US">
                <a:solidFill>
                  <a:srgbClr val="FF0000"/>
                </a:solidFill>
              </a:rPr>
              <a:t>pretending</a:t>
            </a:r>
            <a:r>
              <a:rPr lang="zh-CN" altLang="en-US"/>
              <a:t> to watch it. </a:t>
            </a:r>
          </a:p>
          <a:p>
            <a:r>
              <a:rPr lang="zh-CN" altLang="en-US"/>
              <a:t>一天夜里，感到寒冷和孤独，我下楼坐在电视机前，假装看电视。</a:t>
            </a:r>
          </a:p>
          <a:p>
            <a:r>
              <a:rPr lang="zh-CN" altLang="en-US"/>
              <a:t>One night, </a:t>
            </a:r>
            <a:r>
              <a:rPr lang="zh-CN" altLang="en-US">
                <a:solidFill>
                  <a:srgbClr val="FF0000"/>
                </a:solidFill>
              </a:rPr>
              <a:t>feeling</a:t>
            </a:r>
            <a:r>
              <a:rPr lang="zh-CN" altLang="en-US"/>
              <a:t> cold and lonely, </a:t>
            </a:r>
            <a:r>
              <a:rPr lang="zh-CN" altLang="en-US">
                <a:solidFill>
                  <a:srgbClr val="FF0000"/>
                </a:solidFill>
              </a:rPr>
              <a:t>I</a:t>
            </a:r>
            <a:r>
              <a:rPr lang="zh-CN" altLang="en-US"/>
              <a:t> came downstairs and sat in front of the TV, </a:t>
            </a:r>
            <a:r>
              <a:rPr lang="zh-CN" altLang="en-US">
                <a:solidFill>
                  <a:srgbClr val="FF0000"/>
                </a:solidFill>
              </a:rPr>
              <a:t>pretending</a:t>
            </a:r>
            <a:r>
              <a:rPr lang="zh-CN" altLang="en-US"/>
              <a:t> to watch it.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公式二：主句+分词+分词 （建议措施句）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政府需要采取一些措施，建立相应的规章制度，提高公众对该问题的重视。</a:t>
            </a:r>
          </a:p>
          <a:p>
            <a:r>
              <a:rPr lang="zh-CN" altLang="en-US"/>
              <a:t>The government should take some measures, </a:t>
            </a:r>
            <a:r>
              <a:rPr lang="zh-CN" altLang="en-US">
                <a:solidFill>
                  <a:srgbClr val="FF0000"/>
                </a:solidFill>
              </a:rPr>
              <a:t>establishing</a:t>
            </a:r>
            <a:r>
              <a:rPr lang="zh-CN" altLang="en-US"/>
              <a:t> some relevant regulations, </a:t>
            </a:r>
            <a:r>
              <a:rPr lang="zh-CN" altLang="en-US">
                <a:solidFill>
                  <a:srgbClr val="FF0000"/>
                </a:solidFill>
              </a:rPr>
              <a:t>arousing</a:t>
            </a:r>
            <a:r>
              <a:rPr lang="zh-CN" altLang="en-US"/>
              <a:t> the attention of the public to this issue.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dirty="0"/>
              <a:t>公式三：主句+making / resulting in / leading to (</a:t>
            </a:r>
            <a:r>
              <a:rPr lang="zh-CN" altLang="en-US" dirty="0" smtClean="0"/>
              <a:t>th</a:t>
            </a:r>
            <a:r>
              <a:rPr lang="en-US" altLang="zh-CN" dirty="0" smtClean="0"/>
              <a:t>e</a:t>
            </a:r>
            <a:r>
              <a:rPr lang="zh-CN" altLang="en-US" dirty="0" smtClean="0"/>
              <a:t> </a:t>
            </a:r>
            <a:r>
              <a:rPr lang="zh-CN" altLang="en-US" dirty="0"/>
              <a:t>fact / effect) that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他得到了奖学金，成为第一位获得该项殊荣的中国人。</a:t>
            </a:r>
          </a:p>
          <a:p>
            <a:r>
              <a:rPr lang="zh-CN" altLang="en-US" dirty="0"/>
              <a:t>He won the scholarship, </a:t>
            </a:r>
            <a:r>
              <a:rPr lang="zh-CN" altLang="en-US" dirty="0">
                <a:solidFill>
                  <a:srgbClr val="FF0000"/>
                </a:solidFill>
              </a:rPr>
              <a:t>making</a:t>
            </a:r>
            <a:r>
              <a:rPr lang="zh-CN" altLang="en-US" dirty="0"/>
              <a:t> him the first Chinese to gain this honor. 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法三：添加定从和分词</a:t>
            </a:r>
            <a:r>
              <a:rPr lang="en-US" altLang="zh-CN" dirty="0" smtClean="0">
                <a:solidFill>
                  <a:srgbClr val="3333FF"/>
                </a:solidFill>
              </a:rPr>
              <a:t/>
            </a:r>
            <a:br>
              <a:rPr lang="en-US" altLang="zh-CN" dirty="0" smtClean="0">
                <a:solidFill>
                  <a:srgbClr val="3333FF"/>
                </a:solidFill>
              </a:rPr>
            </a:br>
            <a:r>
              <a:rPr lang="zh-CN" altLang="en-US" dirty="0" smtClean="0"/>
              <a:t>公式</a:t>
            </a:r>
            <a:r>
              <a:rPr lang="zh-CN" altLang="en-US" dirty="0"/>
              <a:t>一：主句+doing+定语从句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他坐在那里，仔细回味着上周刚考完的英语测试。</a:t>
            </a:r>
          </a:p>
          <a:p>
            <a:r>
              <a:rPr lang="zh-CN" altLang="en-US">
                <a:solidFill>
                  <a:srgbClr val="FF0000"/>
                </a:solidFill>
              </a:rPr>
              <a:t>He</a:t>
            </a:r>
            <a:r>
              <a:rPr lang="zh-CN" altLang="en-US"/>
              <a:t> sat there, </a:t>
            </a:r>
            <a:r>
              <a:rPr lang="zh-CN" altLang="en-US">
                <a:solidFill>
                  <a:srgbClr val="FF0000"/>
                </a:solidFill>
              </a:rPr>
              <a:t>thinking</a:t>
            </a:r>
            <a:r>
              <a:rPr lang="zh-CN" altLang="en-US"/>
              <a:t> over </a:t>
            </a:r>
            <a:r>
              <a:rPr lang="zh-CN" altLang="en-US">
                <a:solidFill>
                  <a:srgbClr val="0419BC"/>
                </a:solidFill>
              </a:rPr>
              <a:t>the English test</a:t>
            </a:r>
            <a:r>
              <a:rPr lang="zh-CN" altLang="en-US"/>
              <a:t>, </a:t>
            </a:r>
            <a:r>
              <a:rPr lang="zh-CN" altLang="en-US" u="sng">
                <a:solidFill>
                  <a:srgbClr val="0419BC"/>
                </a:solidFill>
              </a:rPr>
              <a:t>which</a:t>
            </a:r>
            <a:r>
              <a:rPr lang="zh-CN" altLang="en-US" u="sng">
                <a:solidFill>
                  <a:srgbClr val="0070C0"/>
                </a:solidFill>
              </a:rPr>
              <a:t> </a:t>
            </a:r>
            <a:r>
              <a:rPr lang="zh-CN" altLang="en-US" u="sng"/>
              <a:t>was held last week.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公式二：doing+主句+定语从句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他坐在树下，听着音乐。树的枝头和树叶都覆盖着积雪。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Listening</a:t>
            </a:r>
            <a:r>
              <a:rPr lang="zh-CN" altLang="en-US" dirty="0"/>
              <a:t> to the </a:t>
            </a:r>
            <a:r>
              <a:rPr lang="en-US" altLang="zh-CN" dirty="0" smtClean="0"/>
              <a:t>music</a:t>
            </a:r>
            <a:r>
              <a:rPr lang="zh-CN" altLang="en-US" dirty="0" smtClean="0"/>
              <a:t>, </a:t>
            </a:r>
            <a:r>
              <a:rPr lang="zh-CN" altLang="en-US" dirty="0">
                <a:solidFill>
                  <a:srgbClr val="FF0000"/>
                </a:solidFill>
              </a:rPr>
              <a:t>he</a:t>
            </a:r>
            <a:r>
              <a:rPr lang="zh-CN" altLang="en-US" dirty="0"/>
              <a:t> sat under </a:t>
            </a:r>
            <a:r>
              <a:rPr lang="zh-CN" altLang="en-US" dirty="0">
                <a:solidFill>
                  <a:srgbClr val="0419BC"/>
                </a:solidFill>
              </a:rPr>
              <a:t>the tree</a:t>
            </a:r>
            <a:r>
              <a:rPr lang="zh-CN" altLang="en-US" dirty="0"/>
              <a:t>, </a:t>
            </a:r>
            <a:r>
              <a:rPr lang="zh-CN" altLang="en-US" u="sng" dirty="0">
                <a:solidFill>
                  <a:srgbClr val="0419BC"/>
                </a:solidFill>
              </a:rPr>
              <a:t>whose</a:t>
            </a:r>
            <a:r>
              <a:rPr lang="zh-CN" altLang="en-US" u="sng" dirty="0"/>
              <a:t> branches and leaves were covered with snow.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法四：添加</a:t>
            </a:r>
            <a:r>
              <a:rPr lang="zh-CN" altLang="en-US" dirty="0" smtClean="0"/>
              <a:t>by </a:t>
            </a:r>
            <a:r>
              <a:rPr lang="zh-CN" altLang="en-US" dirty="0"/>
              <a:t>doing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消防员在墙上切开了一个大洞，最终把他救了出来。</a:t>
            </a:r>
          </a:p>
          <a:p>
            <a:r>
              <a:rPr lang="zh-CN" altLang="en-US">
                <a:solidFill>
                  <a:srgbClr val="FF0000"/>
                </a:solidFill>
              </a:rPr>
              <a:t>The firefighter </a:t>
            </a:r>
            <a:r>
              <a:rPr lang="zh-CN" altLang="en-US"/>
              <a:t>was finally able to </a:t>
            </a:r>
            <a:r>
              <a:rPr lang="zh-CN" altLang="en-US">
                <a:solidFill>
                  <a:srgbClr val="FF0000"/>
                </a:solidFill>
              </a:rPr>
              <a:t>save him by cutting</a:t>
            </a:r>
            <a:r>
              <a:rPr lang="zh-CN" altLang="en-US"/>
              <a:t> a huge hole in the wall.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</a:t>
            </a:r>
            <a:r>
              <a:rPr lang="zh-CN" altLang="en-US" dirty="0" smtClean="0">
                <a:solidFill>
                  <a:srgbClr val="3333FF"/>
                </a:solidFill>
              </a:rPr>
              <a:t>五</a:t>
            </a:r>
            <a:r>
              <a:rPr lang="zh-CN" altLang="en-US" dirty="0">
                <a:solidFill>
                  <a:srgbClr val="3333FF"/>
                </a:solidFill>
              </a:rPr>
              <a:t>：</a:t>
            </a:r>
            <a:r>
              <a:rPr lang="zh-CN" altLang="en-US" dirty="0"/>
              <a:t>not only …… but also 构成的倒装句（升华句）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2152073"/>
            <a:ext cx="11496040" cy="3278909"/>
          </a:xfrm>
        </p:spPr>
        <p:txBody>
          <a:bodyPr/>
          <a:lstStyle/>
          <a:p>
            <a:r>
              <a:rPr lang="zh-CN" altLang="en-US" dirty="0"/>
              <a:t>Tony不但容易接受他人的观点，而且还非常耐心。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Not only does </a:t>
            </a:r>
            <a:r>
              <a:rPr lang="zh-CN" altLang="en-US" dirty="0"/>
              <a:t>Tony easily accept other people</a:t>
            </a:r>
            <a:r>
              <a:rPr lang="en-US" altLang="zh-CN" dirty="0"/>
              <a:t>'</a:t>
            </a:r>
            <a:r>
              <a:rPr lang="zh-CN" altLang="en-US" dirty="0"/>
              <a:t>s opinions, </a:t>
            </a:r>
            <a:r>
              <a:rPr lang="zh-CN" altLang="en-US" dirty="0">
                <a:solidFill>
                  <a:srgbClr val="FF0000"/>
                </a:solidFill>
              </a:rPr>
              <a:t>but he is also </a:t>
            </a:r>
            <a:r>
              <a:rPr lang="zh-CN" altLang="en-US" dirty="0"/>
              <a:t>very patient.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</a:t>
            </a:r>
            <a:r>
              <a:rPr lang="zh-CN" altLang="en-US" dirty="0" smtClean="0">
                <a:solidFill>
                  <a:srgbClr val="3333FF"/>
                </a:solidFill>
              </a:rPr>
              <a:t>六</a:t>
            </a:r>
            <a:r>
              <a:rPr lang="zh-CN" altLang="en-US" dirty="0">
                <a:solidFill>
                  <a:srgbClr val="3333FF"/>
                </a:solidFill>
              </a:rPr>
              <a:t>：</a:t>
            </a:r>
            <a:r>
              <a:rPr lang="zh-CN" altLang="en-US" dirty="0"/>
              <a:t>only in this way / only by doing …… can …… （建议措施句）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2281382"/>
            <a:ext cx="11496040" cy="4440093"/>
          </a:xfrm>
        </p:spPr>
        <p:txBody>
          <a:bodyPr/>
          <a:lstStyle/>
          <a:p>
            <a:r>
              <a:rPr lang="zh-CN" altLang="en-US" dirty="0"/>
              <a:t>只有减少尾气排放，才能减少温室气体。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Only by reducing</a:t>
            </a:r>
            <a:r>
              <a:rPr lang="zh-CN" altLang="en-US" dirty="0"/>
              <a:t> emissions </a:t>
            </a:r>
            <a:r>
              <a:rPr lang="zh-CN" altLang="en-US" dirty="0">
                <a:solidFill>
                  <a:srgbClr val="FF0000"/>
                </a:solidFill>
              </a:rPr>
              <a:t>can we</a:t>
            </a:r>
            <a:r>
              <a:rPr lang="zh-CN" altLang="en-US" dirty="0"/>
              <a:t> cut greenhouse gas.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法七： </a:t>
            </a:r>
            <a:r>
              <a:rPr lang="zh-CN" altLang="en-US" dirty="0" smtClean="0"/>
              <a:t>so </a:t>
            </a:r>
            <a:r>
              <a:rPr lang="zh-CN" altLang="en-US" dirty="0"/>
              <a:t>…… that 构成的倒装句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他的方法非常有效，无人企及。</a:t>
            </a:r>
          </a:p>
          <a:p>
            <a:r>
              <a:rPr lang="zh-CN" altLang="en-US">
                <a:solidFill>
                  <a:srgbClr val="FF0000"/>
                </a:solidFill>
              </a:rPr>
              <a:t>So effective was his method that </a:t>
            </a:r>
            <a:r>
              <a:rPr lang="zh-CN" altLang="en-US"/>
              <a:t>no one could match him.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</a:t>
            </a:r>
            <a:r>
              <a:rPr lang="zh-CN" altLang="en-US" dirty="0" smtClean="0">
                <a:solidFill>
                  <a:srgbClr val="3333FF"/>
                </a:solidFill>
              </a:rPr>
              <a:t>八</a:t>
            </a:r>
            <a:r>
              <a:rPr lang="zh-CN" altLang="en-US" dirty="0">
                <a:solidFill>
                  <a:srgbClr val="3333FF"/>
                </a:solidFill>
              </a:rPr>
              <a:t>：</a:t>
            </a:r>
            <a:r>
              <a:rPr lang="zh-CN" altLang="en-US" dirty="0"/>
              <a:t>the more …… the more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1874982"/>
            <a:ext cx="11496040" cy="4846493"/>
          </a:xfrm>
        </p:spPr>
        <p:txBody>
          <a:bodyPr/>
          <a:lstStyle/>
          <a:p>
            <a:r>
              <a:rPr lang="zh-CN" altLang="en-US" dirty="0"/>
              <a:t>你英语说得越多，你的进步就越大。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The more </a:t>
            </a:r>
            <a:r>
              <a:rPr lang="zh-CN" altLang="en-US" dirty="0"/>
              <a:t>you talk in English, </a:t>
            </a:r>
            <a:r>
              <a:rPr lang="zh-CN" altLang="en-US" dirty="0">
                <a:solidFill>
                  <a:srgbClr val="FF0000"/>
                </a:solidFill>
              </a:rPr>
              <a:t>the more</a:t>
            </a:r>
            <a:r>
              <a:rPr lang="zh-CN" altLang="en-US" dirty="0"/>
              <a:t> progress you will make.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92364" y="97271"/>
            <a:ext cx="1279236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升级法九： </a:t>
            </a:r>
            <a:r>
              <a:rPr lang="en-US" altLang="zh-CN" dirty="0" smtClean="0">
                <a:solidFill>
                  <a:srgbClr val="3333FF"/>
                </a:solidFill>
              </a:rPr>
              <a:t/>
            </a:r>
            <a:br>
              <a:rPr lang="en-US" altLang="zh-CN" dirty="0" smtClean="0">
                <a:solidFill>
                  <a:srgbClr val="3333FF"/>
                </a:solidFill>
              </a:rPr>
            </a:br>
            <a:r>
              <a:rPr lang="zh-CN" altLang="en-US" dirty="0" smtClean="0">
                <a:solidFill>
                  <a:srgbClr val="FF0000"/>
                </a:solidFill>
              </a:rPr>
              <a:t>It </a:t>
            </a:r>
            <a:r>
              <a:rPr lang="zh-CN" altLang="en-US" dirty="0">
                <a:solidFill>
                  <a:srgbClr val="FF0000"/>
                </a:solidFill>
              </a:rPr>
              <a:t>is </a:t>
            </a:r>
            <a:r>
              <a:rPr lang="zh-CN" altLang="en-US" dirty="0"/>
              <a:t>A, together with / coupled with / combined with B, </a:t>
            </a:r>
            <a:r>
              <a:rPr lang="zh-CN" altLang="en-US" dirty="0">
                <a:solidFill>
                  <a:srgbClr val="FF0000"/>
                </a:solidFill>
              </a:rPr>
              <a:t>that 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正是人才市场的激烈竞争和每年大量毕业生涌出校门，使得大学生找工作变得非常困难。</a:t>
            </a:r>
          </a:p>
          <a:p>
            <a:r>
              <a:rPr lang="zh-CN" altLang="en-US">
                <a:solidFill>
                  <a:srgbClr val="FF0000"/>
                </a:solidFill>
              </a:rPr>
              <a:t>It is</a:t>
            </a:r>
            <a:r>
              <a:rPr lang="zh-CN" altLang="en-US"/>
              <a:t> the severe competition in the labor market</a:t>
            </a:r>
            <a:r>
              <a:rPr lang="zh-CN" altLang="en-US">
                <a:solidFill>
                  <a:srgbClr val="FF0000"/>
                </a:solidFill>
              </a:rPr>
              <a:t>, together with</a:t>
            </a:r>
            <a:r>
              <a:rPr lang="zh-CN" altLang="en-US"/>
              <a:t> the rush flow of the graduates from the university every year, </a:t>
            </a:r>
            <a:r>
              <a:rPr lang="zh-CN" altLang="en-US">
                <a:solidFill>
                  <a:srgbClr val="FF0000"/>
                </a:solidFill>
              </a:rPr>
              <a:t>that</a:t>
            </a:r>
            <a:r>
              <a:rPr lang="zh-CN" altLang="en-US"/>
              <a:t> results in the fact that it is difficult for university students to land a job.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法十： </a:t>
            </a:r>
            <a:r>
              <a:rPr lang="zh-CN" altLang="en-US" dirty="0" smtClean="0"/>
              <a:t>with</a:t>
            </a:r>
            <a:r>
              <a:rPr lang="zh-CN" altLang="en-US" dirty="0"/>
              <a:t>+宾语+宾补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他坐在那里，眼睛盯着电视。</a:t>
            </a:r>
          </a:p>
          <a:p>
            <a:r>
              <a:rPr lang="zh-CN" altLang="en-US"/>
              <a:t>He sat there </a:t>
            </a:r>
            <a:r>
              <a:rPr lang="zh-CN" altLang="en-US">
                <a:solidFill>
                  <a:srgbClr val="FF0000"/>
                </a:solidFill>
              </a:rPr>
              <a:t>with his eyes fixed on</a:t>
            </a:r>
            <a:r>
              <a:rPr lang="zh-CN" altLang="en-US"/>
              <a:t> the TV.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法十一： </a:t>
            </a:r>
            <a:r>
              <a:rPr lang="zh-CN" altLang="en-US" dirty="0" smtClean="0"/>
              <a:t>After </a:t>
            </a:r>
            <a:r>
              <a:rPr lang="zh-CN" altLang="en-US" dirty="0"/>
              <a:t>doing+主句 （过渡句）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在地上打了一个大洞之后，我发现有一头怪兽被困在了笼子里。</a:t>
            </a:r>
          </a:p>
          <a:p>
            <a:r>
              <a:rPr lang="zh-CN" altLang="en-US">
                <a:solidFill>
                  <a:srgbClr val="FF0000"/>
                </a:solidFill>
              </a:rPr>
              <a:t>After digging</a:t>
            </a:r>
            <a:r>
              <a:rPr lang="zh-CN" altLang="en-US"/>
              <a:t> a huge hole on the ground, </a:t>
            </a:r>
            <a:r>
              <a:rPr lang="zh-CN" altLang="en-US">
                <a:solidFill>
                  <a:srgbClr val="FF0000"/>
                </a:solidFill>
              </a:rPr>
              <a:t>I</a:t>
            </a:r>
            <a:r>
              <a:rPr lang="zh-CN" altLang="en-US"/>
              <a:t> found that a monster had been trapped in a cage.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3344" y="78798"/>
            <a:ext cx="11600873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>
                <a:solidFill>
                  <a:srgbClr val="3333FF"/>
                </a:solidFill>
              </a:rPr>
              <a:t>升级</a:t>
            </a:r>
            <a:r>
              <a:rPr lang="zh-CN" altLang="en-US" dirty="0" smtClean="0">
                <a:solidFill>
                  <a:srgbClr val="3333FF"/>
                </a:solidFill>
              </a:rPr>
              <a:t>法十二：</a:t>
            </a:r>
            <a:r>
              <a:rPr lang="zh-CN" altLang="en-US" dirty="0" smtClean="0"/>
              <a:t>形式</a:t>
            </a:r>
            <a:r>
              <a:rPr lang="zh-CN" altLang="en-US" dirty="0"/>
              <a:t>宾语或形式主语it （物做主语）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在缺乏资金的情况下做生意是非常困难的。</a:t>
            </a:r>
          </a:p>
          <a:p>
            <a:r>
              <a:rPr lang="zh-CN" altLang="en-US"/>
              <a:t>The lack of money makes </a:t>
            </a:r>
            <a:r>
              <a:rPr lang="zh-CN" altLang="en-US">
                <a:solidFill>
                  <a:srgbClr val="FF0000"/>
                </a:solidFill>
              </a:rPr>
              <a:t>it </a:t>
            </a:r>
            <a:r>
              <a:rPr lang="zh-CN" altLang="en-US"/>
              <a:t>hard for one </a:t>
            </a:r>
            <a:r>
              <a:rPr lang="zh-CN" altLang="en-US">
                <a:solidFill>
                  <a:srgbClr val="FF0000"/>
                </a:solidFill>
              </a:rPr>
              <a:t>to start up a new business</a:t>
            </a:r>
            <a:r>
              <a:rPr lang="zh-CN" altLang="en-US"/>
              <a:t>. </a:t>
            </a:r>
          </a:p>
          <a:p>
            <a:r>
              <a:rPr lang="zh-CN" altLang="en-US">
                <a:solidFill>
                  <a:srgbClr val="FF0000"/>
                </a:solidFill>
              </a:rPr>
              <a:t>It</a:t>
            </a:r>
            <a:r>
              <a:rPr lang="zh-CN" altLang="en-US"/>
              <a:t> is hard for one </a:t>
            </a:r>
            <a:r>
              <a:rPr lang="zh-CN" altLang="en-US">
                <a:solidFill>
                  <a:srgbClr val="FF0000"/>
                </a:solidFill>
              </a:rPr>
              <a:t>to start up a new business by lack of money</a:t>
            </a:r>
            <a:r>
              <a:rPr lang="zh-CN" alt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738910"/>
            <a:ext cx="11496040" cy="5982566"/>
          </a:xfrm>
        </p:spPr>
        <p:txBody>
          <a:bodyPr/>
          <a:lstStyle/>
          <a:p>
            <a:pPr algn="just"/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On February </a:t>
            </a:r>
            <a:r>
              <a:rPr lang="en-US" altLang="zh-CN" i="1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6, I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went to visit my grandma. </a:t>
            </a:r>
            <a:endParaRPr lang="en-US" altLang="zh-CN" i="1" kern="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6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when Spring Festival was around the corner,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went to visit my grandma. 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02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812800"/>
            <a:ext cx="11496040" cy="5908675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entered the room,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 her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 making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cuts.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entering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room,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well acquainted with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paper-cutting skills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grandmother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well acquainted with paper-cutting skills,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was busy making paper cuts.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grandmother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well acquainted with paper-cutting skills,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busy making paper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cuts, 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is a traditional part of Chinese culture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614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831274"/>
            <a:ext cx="11496040" cy="5890202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looked at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calendar and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realized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just the right date for room decoration according to the Chinese tradition. 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laid my eyes on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calendar, </a:t>
            </a:r>
            <a:r>
              <a:rPr lang="en-US" altLang="zh-CN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realizing …</a:t>
            </a:r>
            <a:endParaRPr lang="zh-CN" altLang="zh-CN" kern="100" dirty="0">
              <a:solidFill>
                <a:srgbClr val="3333FF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dawned on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that it was just…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223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572656"/>
            <a:ext cx="11496040" cy="6148820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attracted by the delicate works, so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couldn’t wait to have a try.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Attracted by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delicate works,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 sense of curiosity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engulfed me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aching to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a try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delicate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u="sng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her works 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zh-CN" u="sng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couldn’t wait to have a try in person.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032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291" y="406400"/>
            <a:ext cx="11296074" cy="6315075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patient instruction,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learnt the basic steps and skills of making paper cuts.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full attention was attached on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hands of my grandmother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kern="1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 could not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out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cut the paper in a neat way.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my grandmother a puzzled look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rendered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patient and enormous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never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crossed my mind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 should give up.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should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more persistent in overcoming challenges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Armed with the step-by-step instruction of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 grandma, I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1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655782"/>
            <a:ext cx="11496040" cy="6065693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wasn’t long before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creations</a:t>
            </a:r>
            <a:r>
              <a:rPr lang="en-US" altLang="zh-CN" i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“born”. </a:t>
            </a:r>
            <a:endParaRPr lang="zh-CN" altLang="zh-CN" i="1" kern="100" dirty="0">
              <a:solidFill>
                <a:srgbClr val="3333FF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hard work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turned out to be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worthwhile.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 highly of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work.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could feel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pride welling up inside me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overwhelmed by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excitement.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503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535710"/>
            <a:ext cx="11496040" cy="6185766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Then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eagerly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put them up.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broad smile lit (light) up our face.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42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572656"/>
            <a:ext cx="11496040" cy="6148820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designs on the windows, such as a monkey and the Chinese character “Fu”,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room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filled with a festival</a:t>
            </a:r>
            <a:r>
              <a:rPr lang="en-US" altLang="zh-CN" i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atmosphere.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394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748146"/>
            <a:ext cx="11496040" cy="5973330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share our happiness with others,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called on our next door neighbors and gave them some of our paper cuts.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and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handed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 some of our paper cuts.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916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709" y="526474"/>
            <a:ext cx="10723418" cy="5788602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felt 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proud when </a:t>
            </a:r>
            <a:r>
              <a:rPr lang="en-US" altLang="zh-CN" i="1" kern="1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receiving</a:t>
            </a: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appreciation of our gifts. 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reached out their hands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accept these delicate paper cuts.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appreciation of our gifts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aroused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 sense of achievement.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offered words of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praise.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 highly of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delicate paper.</a:t>
            </a:r>
            <a:endParaRPr lang="zh-CN" altLang="en-US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5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330" y="711200"/>
            <a:ext cx="11496040" cy="6010276"/>
          </a:xfrm>
        </p:spPr>
        <p:txBody>
          <a:bodyPr/>
          <a:lstStyle/>
          <a:p>
            <a:pPr algn="just">
              <a:spcAft>
                <a:spcPts val="0"/>
              </a:spcAft>
            </a:pPr>
            <a:r>
              <a:rPr lang="en-US" altLang="zh-CN" i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Paper cuts made this Spring Festival more special.</a:t>
            </a:r>
            <a:endParaRPr lang="zh-CN" altLang="zh-CN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feel obliged to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extraordinary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people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by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mastering and appreciating traditional Chinese handicraft 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we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cultivate a strong sense of patriotism.</a:t>
            </a:r>
          </a:p>
          <a:p>
            <a:pPr marL="457200" indent="-4572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high time that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CN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master and appreciate traditional Chinese handicraft. </a:t>
            </a:r>
            <a:endParaRPr lang="zh-CN" altLang="zh-CN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unforgettable experience 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zh-CN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inspires me to further learn more about traditional Chinese handicraft. </a:t>
            </a:r>
            <a:endParaRPr lang="zh-CN" altLang="en-US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34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1548</Words>
  <Application>Microsoft Office PowerPoint</Application>
  <PresentationFormat>宽屏</PresentationFormat>
  <Paragraphs>105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宋体</vt:lpstr>
      <vt:lpstr>Arial</vt:lpstr>
      <vt:lpstr>Calibri</vt:lpstr>
      <vt:lpstr>Calibri Light</vt:lpstr>
      <vt:lpstr>Times New Roman</vt:lpstr>
      <vt:lpstr>Office 主题</vt:lpstr>
      <vt:lpstr>英语句型写作练习</vt:lpstr>
      <vt:lpstr>升级法二：添加定语从句 公式一：主句（含有名词）+定语从句</vt:lpstr>
      <vt:lpstr>PowerPoint 演示文稿</vt:lpstr>
      <vt:lpstr>公式二：主句+同位语短语+定语从句</vt:lpstr>
      <vt:lpstr>升级法二：添加分词 公式一：主句+分词；分词+主句；分词+主句+分词</vt:lpstr>
      <vt:lpstr>公式二：主句+分词+分词 （建议措施句）</vt:lpstr>
      <vt:lpstr>公式三：主句+making / resulting in / leading to (the fact / effect) that </vt:lpstr>
      <vt:lpstr>升级法三：添加定从和分词 公式一：主句+doing+定语从句</vt:lpstr>
      <vt:lpstr>公式二：doing+主句+定语从句</vt:lpstr>
      <vt:lpstr>升级法四：添加by doing </vt:lpstr>
      <vt:lpstr>升级法五：not only …… but also 构成的倒装句（升华句）</vt:lpstr>
      <vt:lpstr>升级法六：only in this way / only by doing …… can …… （建议措施句）</vt:lpstr>
      <vt:lpstr>升级法七： so …… that 构成的倒装句</vt:lpstr>
      <vt:lpstr>升级法八：the more …… the more</vt:lpstr>
      <vt:lpstr>升级法九：  It is A, together with / coupled with / combined with B, that …</vt:lpstr>
      <vt:lpstr>升级法十： with+宾语+宾补</vt:lpstr>
      <vt:lpstr>升级法十一： After doing+主句 （过渡句）</vt:lpstr>
      <vt:lpstr>升级法十二：形式宾语或形式主语it （物做主语）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英语句型写作练习</dc:title>
  <dc:creator/>
  <cp:lastModifiedBy>PC</cp:lastModifiedBy>
  <cp:revision>27</cp:revision>
  <dcterms:created xsi:type="dcterms:W3CDTF">2015-05-05T08:02:00Z</dcterms:created>
  <dcterms:modified xsi:type="dcterms:W3CDTF">2025-03-31T08:34:22Z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