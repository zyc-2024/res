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5" r:id="rId4"/>
  </p:sldMasterIdLst>
  <p:notesMasterIdLst>
    <p:notesMasterId r:id="rId8"/>
  </p:notesMasterIdLst>
  <p:sldIdLst>
    <p:sldId id="292" r:id="rId5"/>
    <p:sldId id="293" r:id="rId6"/>
    <p:sldId id="258" r:id="rId7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3" r:id="rId22"/>
    <p:sldId id="274" r:id="rId23"/>
    <p:sldId id="275" r:id="rId24"/>
    <p:sldId id="276" r:id="rId25"/>
    <p:sldId id="277" r:id="rId26"/>
    <p:sldId id="279" r:id="rId27"/>
    <p:sldId id="280" r:id="rId28"/>
    <p:sldId id="281" r:id="rId29"/>
    <p:sldId id="294" r:id="rId30"/>
    <p:sldId id="283" r:id="rId31"/>
    <p:sldId id="284" r:id="rId32"/>
    <p:sldId id="285" r:id="rId33"/>
    <p:sldId id="286" r:id="rId34"/>
    <p:sldId id="287" r:id="rId35"/>
    <p:sldId id="289" r:id="rId36"/>
    <p:sldId id="290" r:id="rId37"/>
    <p:sldId id="291" r:id="rId38"/>
  </p:sldIdLst>
  <p:sldSz cx="12167870" cy="684022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142" autoAdjust="0"/>
  </p:normalViewPr>
  <p:slideViewPr>
    <p:cSldViewPr showGuides="1">
      <p:cViewPr varScale="1">
        <p:scale>
          <a:sx n="90" d="100"/>
          <a:sy n="90" d="100"/>
        </p:scale>
        <p:origin x="136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74" Type="http://schemas.openxmlformats.org/officeDocument/2006/relationships/customXml" Target="../customXml/item33.xml"/><Relationship Id="rId73" Type="http://schemas.openxmlformats.org/officeDocument/2006/relationships/customXml" Target="../customXml/item32.xml"/><Relationship Id="rId72" Type="http://schemas.openxmlformats.org/officeDocument/2006/relationships/customXml" Target="../customXml/item31.xml"/><Relationship Id="rId71" Type="http://schemas.openxmlformats.org/officeDocument/2006/relationships/customXml" Target="../customXml/item30.xml"/><Relationship Id="rId70" Type="http://schemas.openxmlformats.org/officeDocument/2006/relationships/customXml" Target="../customXml/item29.xml"/><Relationship Id="rId7" Type="http://schemas.openxmlformats.org/officeDocument/2006/relationships/slide" Target="slides/slide3.xml"/><Relationship Id="rId69" Type="http://schemas.openxmlformats.org/officeDocument/2006/relationships/customXml" Target="../customXml/item28.xml"/><Relationship Id="rId68" Type="http://schemas.openxmlformats.org/officeDocument/2006/relationships/customXml" Target="../customXml/item27.xml"/><Relationship Id="rId67" Type="http://schemas.openxmlformats.org/officeDocument/2006/relationships/customXml" Target="../customXml/item26.xml"/><Relationship Id="rId66" Type="http://schemas.openxmlformats.org/officeDocument/2006/relationships/customXml" Target="../customXml/item25.xml"/><Relationship Id="rId65" Type="http://schemas.openxmlformats.org/officeDocument/2006/relationships/customXml" Target="../customXml/item24.xml"/><Relationship Id="rId64" Type="http://schemas.openxmlformats.org/officeDocument/2006/relationships/customXml" Target="../customXml/item23.xml"/><Relationship Id="rId63" Type="http://schemas.openxmlformats.org/officeDocument/2006/relationships/customXml" Target="../customXml/item22.xml"/><Relationship Id="rId62" Type="http://schemas.openxmlformats.org/officeDocument/2006/relationships/customXml" Target="../customXml/item21.xml"/><Relationship Id="rId61" Type="http://schemas.openxmlformats.org/officeDocument/2006/relationships/customXml" Target="../customXml/item20.xml"/><Relationship Id="rId60" Type="http://schemas.openxmlformats.org/officeDocument/2006/relationships/customXml" Target="../customXml/item19.xml"/><Relationship Id="rId6" Type="http://schemas.openxmlformats.org/officeDocument/2006/relationships/slide" Target="slides/slide2.xml"/><Relationship Id="rId59" Type="http://schemas.openxmlformats.org/officeDocument/2006/relationships/customXml" Target="../customXml/item18.xml"/><Relationship Id="rId58" Type="http://schemas.openxmlformats.org/officeDocument/2006/relationships/customXml" Target="../customXml/item17.xml"/><Relationship Id="rId57" Type="http://schemas.openxmlformats.org/officeDocument/2006/relationships/customXml" Target="../customXml/item16.xml"/><Relationship Id="rId56" Type="http://schemas.openxmlformats.org/officeDocument/2006/relationships/customXml" Target="../customXml/item15.xml"/><Relationship Id="rId55" Type="http://schemas.openxmlformats.org/officeDocument/2006/relationships/customXml" Target="../customXml/item14.xml"/><Relationship Id="rId54" Type="http://schemas.openxmlformats.org/officeDocument/2006/relationships/customXml" Target="../customXml/item13.xml"/><Relationship Id="rId53" Type="http://schemas.openxmlformats.org/officeDocument/2006/relationships/customXml" Target="../customXml/item12.xml"/><Relationship Id="rId52" Type="http://schemas.openxmlformats.org/officeDocument/2006/relationships/customXml" Target="../customXml/item11.xml"/><Relationship Id="rId51" Type="http://schemas.openxmlformats.org/officeDocument/2006/relationships/customXml" Target="../customXml/item10.xml"/><Relationship Id="rId50" Type="http://schemas.openxmlformats.org/officeDocument/2006/relationships/customXml" Target="../customXml/item9.xml"/><Relationship Id="rId5" Type="http://schemas.openxmlformats.org/officeDocument/2006/relationships/slide" Target="slides/slide1.xml"/><Relationship Id="rId49" Type="http://schemas.openxmlformats.org/officeDocument/2006/relationships/customXml" Target="../customXml/item8.xml"/><Relationship Id="rId48" Type="http://schemas.openxmlformats.org/officeDocument/2006/relationships/customXml" Target="../customXml/item7.xml"/><Relationship Id="rId47" Type="http://schemas.openxmlformats.org/officeDocument/2006/relationships/customXml" Target="../customXml/item6.xml"/><Relationship Id="rId46" Type="http://schemas.openxmlformats.org/officeDocument/2006/relationships/customXml" Target="../customXml/item5.xml"/><Relationship Id="rId45" Type="http://schemas.openxmlformats.org/officeDocument/2006/relationships/customXml" Target="../customXml/item4.xml"/><Relationship Id="rId44" Type="http://schemas.openxmlformats.org/officeDocument/2006/relationships/customXml" Target="../customXml/item3.xml"/><Relationship Id="rId43" Type="http://schemas.openxmlformats.org/officeDocument/2006/relationships/customXml" Target="../customXml/item2.xml"/><Relationship Id="rId42" Type="http://schemas.openxmlformats.org/officeDocument/2006/relationships/customXml" Target="../customXml/item1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39" Type="http://schemas.openxmlformats.org/officeDocument/2006/relationships/presProps" Target="presProps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E16A1-CD54-44AD-AAEF-7C01002677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C518D-AE7E-41F4-BDAF-13DD522B5C6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9A9AE-DFF2-479B-AF37-FAA367F55B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35AA-09F9-4C1A-89F2-CB34E0111C4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终止 1"/>
          <p:cNvSpPr/>
          <p:nvPr userDrawn="1"/>
        </p:nvSpPr>
        <p:spPr>
          <a:xfrm>
            <a:off x="10914711" y="53924"/>
            <a:ext cx="864096" cy="288032"/>
          </a:xfrm>
          <a:prstGeom prst="flowChartTerminator">
            <a:avLst/>
          </a:prstGeom>
          <a:gradFill>
            <a:gsLst>
              <a:gs pos="84000">
                <a:schemeClr val="accent4"/>
              </a:gs>
              <a:gs pos="0">
                <a:srgbClr val="DE21F5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hlinkClick r:id="rId2" action="ppaction://hlinksldjump"/>
          </p:cNvPr>
          <p:cNvSpPr txBox="1"/>
          <p:nvPr userDrawn="1"/>
        </p:nvSpPr>
        <p:spPr>
          <a:xfrm>
            <a:off x="11054096" y="44051"/>
            <a:ext cx="60180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燕尾形 3"/>
          <p:cNvSpPr/>
          <p:nvPr userDrawn="1"/>
        </p:nvSpPr>
        <p:spPr>
          <a:xfrm>
            <a:off x="11634791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燕尾形 4"/>
          <p:cNvSpPr/>
          <p:nvPr userDrawn="1"/>
        </p:nvSpPr>
        <p:spPr>
          <a:xfrm rot="10800000">
            <a:off x="10986719" y="161935"/>
            <a:ext cx="67377" cy="7200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90" y="-1"/>
            <a:ext cx="12170277" cy="68478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"/>
            <a:ext cx="12168188" cy="395878"/>
          </a:xfrm>
          <a:prstGeom prst="rect">
            <a:avLst/>
          </a:prstGeom>
          <a:solidFill>
            <a:srgbClr val="953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5">
              <a:solidFill>
                <a:srgbClr val="C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iming>
    <p:tnLst>
      <p:par>
        <p:cTn id="1" dur="indefinite" restart="never" nodeType="tmRoot"/>
      </p:par>
    </p:tnLst>
  </p:timing>
  <p:txStyles>
    <p:titleStyle>
      <a:lvl1pPr algn="l" defTabSz="911860" rtl="0" eaLnBrk="1" latinLnBrk="0" hangingPunct="1">
        <a:lnSpc>
          <a:spcPct val="90000"/>
        </a:lnSpc>
        <a:spcBef>
          <a:spcPct val="0"/>
        </a:spcBef>
        <a:buNone/>
        <a:defRPr sz="43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965" indent="-227965" algn="l" defTabSz="9118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5" kern="1200">
          <a:solidFill>
            <a:schemeClr val="tx1"/>
          </a:solidFill>
          <a:latin typeface="+mn-lt"/>
          <a:ea typeface="+mn-ea"/>
          <a:cs typeface="+mn-cs"/>
        </a:defRPr>
      </a:lvl1pPr>
      <a:lvl2pPr marL="68389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114046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3pPr>
      <a:lvl4pPr marL="159639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205232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50825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4180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2074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6675" indent="-227965" algn="l" defTabSz="9118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93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86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842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435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8028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621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2145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8710" algn="l" defTabSz="911860" rtl="0" eaLnBrk="1" latinLnBrk="0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68188" cy="684663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.xml"/><Relationship Id="rId7" Type="http://schemas.openxmlformats.org/officeDocument/2006/relationships/image" Target="../media/image3.png"/><Relationship Id="rId6" Type="http://schemas.openxmlformats.org/officeDocument/2006/relationships/slide" Target="slide23.xml"/><Relationship Id="rId5" Type="http://schemas.openxmlformats.org/officeDocument/2006/relationships/slide" Target="slide13.xml"/><Relationship Id="rId4" Type="http://schemas.openxmlformats.org/officeDocument/2006/relationships/slide" Target="slide8.xml"/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2"/>
          <p:cNvSpPr txBox="1">
            <a:spLocks noChangeArrowheads="1"/>
          </p:cNvSpPr>
          <p:nvPr/>
        </p:nvSpPr>
        <p:spPr>
          <a:xfrm>
            <a:off x="4211886" y="1835914"/>
            <a:ext cx="7702619" cy="1296323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860">
              <a:defRPr/>
            </a:pPr>
            <a:endParaRPr lang="en-US" altLang="zh-CN" sz="4000" b="1" kern="0" noProof="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  <a:p>
            <a:pPr defTabSz="911860">
              <a:defRPr/>
            </a:pP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sp>
        <p:nvSpPr>
          <p:cNvPr id="6" name="Rectangle 2"/>
          <p:cNvSpPr txBox="1"/>
          <p:nvPr/>
        </p:nvSpPr>
        <p:spPr>
          <a:xfrm>
            <a:off x="9970770" y="4643755"/>
            <a:ext cx="2041525" cy="71691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200" b="1" kern="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高考英语</a:t>
            </a:r>
            <a:endParaRPr lang="zh-CN" altLang="en-US" sz="3200" b="1" kern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线连接符 2"/>
          <p:cNvCxnSpPr/>
          <p:nvPr/>
        </p:nvCxnSpPr>
        <p:spPr bwMode="auto">
          <a:xfrm>
            <a:off x="10114124" y="5291987"/>
            <a:ext cx="1584325" cy="0"/>
          </a:xfrm>
          <a:prstGeom prst="line">
            <a:avLst/>
          </a:prstGeom>
          <a:solidFill>
            <a:schemeClr val="accent1"/>
          </a:solidFill>
          <a:ln w="31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文本框 7"/>
          <p:cNvSpPr txBox="1"/>
          <p:nvPr/>
        </p:nvSpPr>
        <p:spPr>
          <a:xfrm>
            <a:off x="9970770" y="5360670"/>
            <a:ext cx="19437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spc="15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北京市专用</a:t>
            </a:r>
            <a:endParaRPr lang="zh-CN" altLang="en-US" sz="2400" b="1" spc="150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50460" y="2425700"/>
            <a:ext cx="622554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/>
            <a:r>
              <a:rPr lang="zh-CN" altLang="en-US" sz="4000" b="1" kern="0" noProof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专题九  特殊句型</a:t>
            </a:r>
            <a:endParaRPr lang="zh-CN" altLang="en-US" sz="4000" b="1" kern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11359" y="1094903"/>
            <a:ext cx="7504039" cy="3315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1" action="ppaction://hlinksldjump"/>
              </a:rPr>
              <a:t>体系</a:t>
            </a: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1" action="ppaction://hlinksldjump"/>
              </a:rPr>
              <a:t>透视</a:t>
            </a:r>
            <a:endParaRPr lang="en-US" altLang="zh-CN" sz="1995" b="1" dirty="0" smtClean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重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难</a:t>
            </a: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透析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  <a:hlinkClick r:id="rId2" action="ppaction://hlinksldjump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1.</a:t>
            </a: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2" action="ppaction://hlinksldjump"/>
              </a:rPr>
              <a:t>祈使句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2.</a:t>
            </a: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3" action="ppaction://hlinksldjump"/>
              </a:rPr>
              <a:t>感叹句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3.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强调</a:t>
            </a: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4" action="ppaction://hlinksldjump"/>
              </a:rPr>
              <a:t>句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4.</a:t>
            </a:r>
            <a:r>
              <a:rPr lang="zh-CN" altLang="en-US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倒装</a:t>
            </a: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5" action="ppaction://hlinksldjump"/>
              </a:rPr>
              <a:t>句</a:t>
            </a:r>
            <a:endParaRPr lang="en-US" altLang="zh-CN" sz="1995" b="1" dirty="0">
              <a:solidFill>
                <a:srgbClr val="953FA3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黑体" panose="02010609060101010101" pitchFamily="49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995" b="1" dirty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5.</a:t>
            </a:r>
            <a:r>
              <a:rPr lang="zh-CN" altLang="en-US" sz="1995" b="1" dirty="0" smtClean="0">
                <a:solidFill>
                  <a:srgbClr val="953FA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黑体" panose="02010609060101010101" pitchFamily="49" charset="-122"/>
                <a:hlinkClick r:id="rId6" action="ppaction://hlinksldjump"/>
              </a:rPr>
              <a:t>省略句</a:t>
            </a:r>
            <a:endParaRPr lang="zh-CN" altLang="en-US" sz="2410" b="1" kern="0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1118" y="567385"/>
            <a:ext cx="2207762" cy="521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795" b="1" dirty="0">
                <a:solidFill>
                  <a:srgbClr val="953FA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2795" b="1" dirty="0">
              <a:solidFill>
                <a:srgbClr val="953FA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402720" y="1061875"/>
            <a:ext cx="11054641" cy="0"/>
          </a:xfrm>
          <a:prstGeom prst="line">
            <a:avLst/>
          </a:prstGeom>
          <a:ln>
            <a:solidFill>
              <a:srgbClr val="9E27B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7" y="1065271"/>
            <a:ext cx="702565" cy="647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438" y="1538400"/>
            <a:ext cx="702565" cy="647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3" descr="textimage0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5742" y="1620069"/>
            <a:ext cx="5019675" cy="3762374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4820419" y="577507"/>
            <a:ext cx="2574914" cy="461665"/>
            <a:chOff x="251133" y="167422"/>
            <a:chExt cx="3959943" cy="709990"/>
          </a:xfrm>
        </p:grpSpPr>
        <p:grpSp>
          <p:nvGrpSpPr>
            <p:cNvPr id="5" name="组合 4"/>
            <p:cNvGrpSpPr/>
            <p:nvPr/>
          </p:nvGrpSpPr>
          <p:grpSpPr>
            <a:xfrm>
              <a:off x="251133" y="272306"/>
              <a:ext cx="708622" cy="593558"/>
              <a:chOff x="154881" y="272716"/>
              <a:chExt cx="708622" cy="593558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366198" y="272716"/>
                <a:ext cx="497305" cy="497306"/>
                <a:chOff x="366198" y="272716"/>
                <a:chExt cx="497305" cy="497306"/>
              </a:xfrm>
            </p:grpSpPr>
            <p:sp>
              <p:nvSpPr>
                <p:cNvPr id="9" name="椭圆 8"/>
                <p:cNvSpPr/>
                <p:nvPr/>
              </p:nvSpPr>
              <p:spPr>
                <a:xfrm>
                  <a:off x="366198" y="272716"/>
                  <a:ext cx="497305" cy="497306"/>
                </a:xfrm>
                <a:prstGeom prst="ellipse">
                  <a:avLst/>
                </a:prstGeom>
                <a:solidFill>
                  <a:srgbClr val="953FA3">
                    <a:alpha val="53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  <p:sp>
              <p:nvSpPr>
                <p:cNvPr id="10" name="椭圆 9"/>
                <p:cNvSpPr/>
                <p:nvPr/>
              </p:nvSpPr>
              <p:spPr>
                <a:xfrm>
                  <a:off x="437002" y="343520"/>
                  <a:ext cx="355696" cy="355698"/>
                </a:xfrm>
                <a:prstGeom prst="ellipse">
                  <a:avLst/>
                </a:prstGeom>
                <a:solidFill>
                  <a:schemeClr val="bg1"/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25781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32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宋体 CN" panose="02020400000000000000" pitchFamily="18" charset="-122"/>
                    <a:ea typeface="思源宋体 CN Heavy" panose="02020900000000000000" pitchFamily="18" charset="-122"/>
                    <a:cs typeface="+mn-cs"/>
                  </a:endParaRPr>
                </a:p>
              </p:txBody>
            </p:sp>
          </p:grpSp>
          <p:sp>
            <p:nvSpPr>
              <p:cNvPr id="8" name="椭圆 7"/>
              <p:cNvSpPr/>
              <p:nvPr/>
            </p:nvSpPr>
            <p:spPr>
              <a:xfrm flipH="1">
                <a:off x="154881" y="640300"/>
                <a:ext cx="225973" cy="225974"/>
              </a:xfrm>
              <a:prstGeom prst="ellipse">
                <a:avLst/>
              </a:prstGeom>
              <a:solidFill>
                <a:srgbClr val="953FA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25781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思源宋体 CN" panose="02020400000000000000" pitchFamily="18" charset="-122"/>
                  <a:ea typeface="思源宋体 CN Heavy" panose="02020900000000000000" pitchFamily="18" charset="-122"/>
                  <a:cs typeface="+mn-cs"/>
                </a:endParaRPr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015903" y="167422"/>
              <a:ext cx="3195173" cy="709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dist">
                <a:defRPr sz="4400">
                  <a:gradFill flip="none" rotWithShape="1">
                    <a:gsLst>
                      <a:gs pos="0">
                        <a:srgbClr val="F0E4B7"/>
                      </a:gs>
                      <a:gs pos="100000">
                        <a:srgbClr val="E7D48D"/>
                      </a:gs>
                    </a:gsLst>
                    <a:lin ang="5400000" scaled="1"/>
                    <a:tileRect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思源宋体 CN Heavy" panose="02020900000000000000" pitchFamily="18" charset="-122"/>
                  <a:ea typeface="思源宋体 CN Heavy" panose="02020900000000000000" pitchFamily="18" charset="-122"/>
                </a:defRPr>
              </a:lvl1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体系透视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1076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sz="2410" b="1" kern="0" dirty="0">
              <a:solidFill>
                <a:srgbClr val="953FA3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1.祈使句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祈使句常以动词的原形起首,常用来表示命令、请求、叮嘱、号召等。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(1)祈使句的否定式一般在谓语动词原形前加don't或never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Don't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ever do that again!再也不要干那种事!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Never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come late.绝不要迟到。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(2)“Do+肯定祈使句”用来加强语气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Do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give my regards to your parents!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务必代我向你父母问好!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4715942" y="606139"/>
            <a:ext cx="2088232" cy="430887"/>
            <a:chOff x="263136" y="272072"/>
            <a:chExt cx="3077968" cy="635109"/>
          </a:xfrm>
        </p:grpSpPr>
        <p:grpSp>
          <p:nvGrpSpPr>
            <p:cNvPr id="4" name="组合 3"/>
            <p:cNvGrpSpPr/>
            <p:nvPr/>
          </p:nvGrpSpPr>
          <p:grpSpPr>
            <a:xfrm>
              <a:off x="263136" y="317158"/>
              <a:ext cx="575064" cy="575064"/>
              <a:chOff x="263136" y="244750"/>
              <a:chExt cx="603639" cy="603639"/>
            </a:xfrm>
          </p:grpSpPr>
          <p:sp>
            <p:nvSpPr>
              <p:cNvPr id="6" name="泪滴形 5"/>
              <p:cNvSpPr/>
              <p:nvPr/>
            </p:nvSpPr>
            <p:spPr>
              <a:xfrm rot="10800000" flipH="1" flipV="1">
                <a:off x="263136" y="244750"/>
                <a:ext cx="603639" cy="603639"/>
              </a:xfrm>
              <a:prstGeom prst="teardrop">
                <a:avLst/>
              </a:prstGeom>
              <a:solidFill>
                <a:srgbClr val="953FA3">
                  <a:alpha val="7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7" name="椭圆 6"/>
              <p:cNvSpPr/>
              <p:nvPr/>
            </p:nvSpPr>
            <p:spPr>
              <a:xfrm rot="10800000" flipH="1" flipV="1">
                <a:off x="363481" y="345095"/>
                <a:ext cx="402949" cy="402949"/>
              </a:xfrm>
              <a:prstGeom prst="ellipse">
                <a:avLst/>
              </a:prstGeom>
              <a:solidFill>
                <a:srgbClr val="FDBE5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 rot="10800000" flipH="1" flipV="1">
                <a:off x="438741" y="420355"/>
                <a:ext cx="252430" cy="25243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思源宋体 CN" panose="02020400000000000000" pitchFamily="18" charset="-122"/>
                  <a:ea typeface="思源宋体 CN" panose="02020400000000000000" pitchFamily="18" charset="-122"/>
                </a:endParaRPr>
              </a:p>
            </p:txBody>
          </p:sp>
        </p:grpSp>
        <p:sp>
          <p:nvSpPr>
            <p:cNvPr id="5" name="文本框 4"/>
            <p:cNvSpPr txBox="1"/>
            <p:nvPr>
              <p:custDataLst>
                <p:tags r:id="rId1"/>
              </p:custDataLst>
            </p:nvPr>
          </p:nvSpPr>
          <p:spPr>
            <a:xfrm>
              <a:off x="1097509" y="272072"/>
              <a:ext cx="2243595" cy="635109"/>
            </a:xfrm>
            <a:prstGeom prst="rect">
              <a:avLst/>
            </a:prstGeom>
            <a:noFill/>
            <a:effectLst>
              <a:glow rad="203200">
                <a:srgbClr val="FF0000">
                  <a:alpha val="69000"/>
                </a:srgbClr>
              </a:glow>
            </a:effectLst>
          </p:spPr>
          <p:txBody>
            <a:bodyPr wrap="square" lIns="0" tIns="0" rIns="0" bIns="0" rtlCol="0">
              <a:spAutoFit/>
            </a:bodyPr>
            <a:lstStyle/>
            <a:p>
              <a:pPr algn="ctr" defTabSz="457200">
                <a:defRPr/>
              </a:pPr>
              <a:r>
                <a:rPr lang="zh-CN" altLang="en-US" sz="2800" b="1" dirty="0" smtClean="0">
                  <a:latin typeface="微软雅黑" panose="020B0503020204020204" pitchFamily="34" charset="-122"/>
                  <a:ea typeface="微软雅黑" panose="020B0503020204020204" pitchFamily="34" charset="-122"/>
                  <a:sym typeface="庞门正道标题体" panose="02010600030101010101" pitchFamily="2" charset="-122"/>
                </a:rPr>
                <a:t>重难透析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庞门正道标题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831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(3)祈使句用于并列结构,表示条件意义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Give him an inch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and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he'll take a yard.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得寸进尺。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Work harder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or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you won't pass the exam.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再努力些,否则考试就通不过了。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6637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2.</a:t>
            </a: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感叹句</a:t>
            </a:r>
            <a:endParaRPr lang="zh-CN" altLang="en-US" sz="2800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感叹句主要用来表示说话人说话时的惊异、喜悦、赞赏、气愤等情绪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它通常由</a:t>
            </a:r>
            <a:br>
              <a:rPr lang="zh-CN" altLang="en-US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what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或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how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来引导。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(1)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基本形式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①What(+a/an)+形容词+名词+主语+谓语!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What a clever boy he is!多聪明的男孩啊!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What terrible noise they are making!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他们发出的噪音太可怕了!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What wonderful ideas you have!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你的想法真棒!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676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②How+形容词+a/an+单数可数名词+主语+谓语!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How strange a feeling it was!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那是一种多么怪的感觉啊!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③How+形容词/副词+主语+谓语!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How clever the boy is!这个男孩太聪明了!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How fast the bird flies!这只鸟飞得真快!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(2)其他形式的感叹句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①How+主语+谓语(+宾语)!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How (much) we love our motherland!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我们多么热爱我们的祖国呀!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6637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②在不影响句子的意思、不造成歧义的情况下,常可同时省略主语和谓语。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What an interesting novel (it is)!多有趣的一本小说啊!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3.强调句</a:t>
            </a:r>
            <a:endParaRPr lang="zh-CN" altLang="en-US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(1)基本结构</a:t>
            </a:r>
            <a:endParaRPr lang="zh-CN" altLang="en-US" sz="2410" kern="0" dirty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强调句型的基本结构为“It is/was+被强调部分+that/who+句子剩余部分”,强调人时可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以用who/that,强调事物时常用that,所强调的通常是主语、宾语、状语等。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My mother reminds me to get up on time every day. 我的妈妈每天提醒我按时起床。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→It is my mother who/that reminds me to get up on time every day.(强调主语)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→It is me that my mother reminds to get up on time every day.(强调宾语)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→It is every day that my mother reminds me to get up on time.(强调时间状语)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3975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强调句还可以用来强调从句。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It was what he said that made me angry.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是他说的话让我很生气。</a:t>
            </a:r>
            <a:endParaRPr lang="zh-CN" altLang="en-US" sz="2000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(2)疑问形式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①一般疑问句:Is/Was it+被强调部分+that/who+句子剩余部分?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Was it in this palace that the last emperor died?末代皇帝是在这座宫殿里去世的吗?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②特殊疑问句:特殊疑问词+is/was it+that+句子剩余部分?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Where was it that the last emperor died?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  <a:sym typeface="+mn-ea"/>
              </a:rPr>
              <a:t>末代皇帝是在哪里去世的?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558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(3)数和时态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①被强调的部分如果是句子的主语,that/who之后的谓语动词在数上应与句子的主语保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持一致。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It is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little boy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who/that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has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broken a beautiful jar.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是那个小男孩打破了一个漂亮的罐子。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It is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they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who/that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are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going to attend your birthday party tomorrow.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是他们将参加你明天的生日聚会。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②强调句型中的时态要依据原句时态而定。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1333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ship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brought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you to England.→It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was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the ship that brought you to England.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(4)“It is/was not until...that...”句型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本句型可以用于强调一个动作或行为的起始点,意为“直到</a:t>
            </a:r>
            <a:r>
              <a:rPr lang="zh-CN" altLang="en-US" sz="2410" kern="0" dirty="0" smtClean="0">
                <a:solidFill>
                  <a:srgbClr val="000000"/>
                </a:solidFill>
                <a:latin typeface="黑体" panose="02010609060101010101" pitchFamily="49" charset="-122"/>
                <a:ea typeface="微软雅黑" panose="020B0503020204020204" pitchFamily="34" charset="-122"/>
              </a:rPr>
              <a:t>……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才”。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 didn't go to bed until ten o'clock.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他直到十点才去睡觉。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→It was not until ten o'clock that he went to bed.直到十点他才去睡觉。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(5)识别强调句型的方法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强调句型中的It is/was和that无实际意义,去掉后,句子结构仍然完整、正确,句意仍然明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确;而其他句型去掉It is/was和that后,句意不完整。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5386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It is a teacher that he is now. 现在他是一位教师。(强调句)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It is a wonder that he is still alive. 他还活着真是个奇迹。(It作形式主语)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(6)使用强调句型的注意事项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如果被强调成分是作主语的代词,用主格;如果是作宾语的代词,则用宾格。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It was he that helped me yesterday.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昨天是他帮助了我。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It was me that he helped yesterday.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昨天他帮助的人是我。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947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4.倒装句</a:t>
            </a:r>
            <a:endParaRPr lang="zh-CN" altLang="en-US" sz="2800" b="1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倒装是英语中常见的一种语言现象,可分为全部倒装和部分倒装。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(1)全部倒装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全部倒装是指把整个谓语置于主语之前,又称为“完全倒装”,常用于一般现在时或一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般过去时的句子中。常见的使用全部倒装的情况有: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①以there和here引导的句型,常用全部倒装。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There entered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a strange man.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一个陌生男人进来了。 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Here are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some examples. 这儿有几个例子。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3053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当以there和here引导的句子的主语是代词时不倒装。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Here we are at the hotel. 我们到了旅馆。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②当off、out、in、up、down、away、now、then、on等表示方向、地点、时间的副</a:t>
            </a:r>
            <a:br>
              <a:rPr dirty="0">
                <a:ea typeface="微软雅黑" panose="020B0503020204020204" pitchFamily="34" charset="-122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词在句首作状语,谓语动词是come、go、run、stand等词,而且主语为名词时,句子常使</a:t>
            </a:r>
            <a:br>
              <a:rPr dirty="0">
                <a:ea typeface="微软雅黑" panose="020B0503020204020204" pitchFamily="34" charset="-122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用全部倒装。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Down came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the hammer and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out flew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the sparks. 铁锤一落,火星四射。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Away flew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the bird. 那只鸟飞走了。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9174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>
              <a:ea typeface="微软雅黑" panose="020B0503020204020204" pitchFamily="34" charset="-122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主语是代词时不倒装。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Up she comes. 她走过来了。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③当介词(短语)在句首作状语,且主语是名词时,使用全部倒装。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Near the bridge was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an old cottage.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在桥附近有一个古老的小屋。 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④当强调表语所表示的意义时,常把表语置于句首,句子全部倒装。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Gone are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the days when he was looked down upon. 他被人看不起的日子过去了。 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Standing around the teacher were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her students. 她的学生围着这个老师站着。 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43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(2)部分倒装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部分倒装是指将谓语的一部分,如助动词、情态动词移至主语之前。如果句中的谓语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部分不含有助动词或情态动词,则需要借助助动词do、does、did来“帮助”构成倒装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句。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①为了避免句子的内容出现重复,常用“so+助动词/情态动词+主语”或“neither/nor+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助动词/情态动词+主语”的倒装句式,第一个句式表示“与前面所述的肯定情况相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同”,第二个句式表示“与前面所述的否定情况相同”。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Our society has changed and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so have the people in it (changed)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 我们的社会变了,社会里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的人们也变了。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6380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 hadn't been to London and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neither had he (been to London)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 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我没去过伦敦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他也没去</a:t>
            </a:r>
            <a:br>
              <a:rPr lang="zh-CN" altLang="en-US" sz="2800" dirty="0"/>
            </a:b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过。 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②含有否定意义的词或短语置于句首时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修饰主语时除外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句子通常采用部分倒装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这</a:t>
            </a:r>
            <a:br>
              <a:rPr lang="zh-CN" altLang="en-US" sz="2800" dirty="0"/>
            </a:b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类词或短语如下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: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NEU-BZ" pitchFamily="65" charset="-122"/>
                <a:ea typeface="NEU-BZ" pitchFamily="65" charset="-122"/>
              </a:rPr>
              <a:t>•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副词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:not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never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nowhere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little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seldom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hardly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scarcely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rarely</a:t>
            </a:r>
            <a:endParaRPr lang="en-US" altLang="zh-CN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NEU-BZ" pitchFamily="65" charset="-122"/>
                <a:ea typeface="NEU-BZ" pitchFamily="65" charset="-122"/>
              </a:rPr>
              <a:t>•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介词短语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:by no means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at no time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in no way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in no case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on no condition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under </a:t>
            </a:r>
            <a:br>
              <a:rPr lang="en-US" altLang="zh-CN" sz="2800" dirty="0"/>
            </a:b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no circumstances</a:t>
            </a:r>
            <a:endParaRPr lang="en-US" altLang="zh-CN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NEU-BZ" pitchFamily="65" charset="-122"/>
                <a:ea typeface="NEU-BZ" pitchFamily="65" charset="-122"/>
              </a:rPr>
              <a:t>•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连词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:not until...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no sooner...than...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hardly...when...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not only...but also...</a:t>
            </a:r>
            <a:endParaRPr lang="en-US" altLang="zh-CN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They have a good knowledge of English but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little do they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know about German.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他们对英语很了解,但对德语知之甚少。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755950"/>
            <a:ext cx="11831400" cy="3852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>
              <a:ea typeface="微软雅黑" panose="020B0503020204020204" pitchFamily="34" charset="-122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①not until引导的时间状语从句,若将not until提前,则主句需要倒装,从句不倒装。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u="sng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Not until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he came back</a:t>
            </a:r>
            <a:r>
              <a:rPr lang="zh-CN" altLang="en-US" sz="2000" u="sng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did I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leave.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直到他回来,我才离开。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②当not only...but also...连接并列分句且not only置于句首时,前一分句部分倒装,后一分</a:t>
            </a:r>
            <a:b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句不倒装;当not only...but also...连接并列句子成分时,句子不倒装。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u="sng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Not only does he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sing well, but he also dances well. 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他不仅唱歌很好,跳舞也很好。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5130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③含有were、should或had的虚拟条件句,可以省略if,条件句使用部分倒装,其结构是</a:t>
            </a:r>
            <a:br>
              <a:rPr dirty="0">
                <a:ea typeface="微软雅黑" panose="020B0503020204020204" pitchFamily="34" charset="-122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“Were/Should/Had+主语+其他部分(=If+主语+were/should/had+其他部分)”。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Were I you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 I would go with them.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如果我是你,我就和他们一起去。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Had they not helped us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 we could not have done it so successfully.如果他们没有帮助我们,</a:t>
            </a:r>
            <a:br>
              <a:rPr dirty="0">
                <a:ea typeface="微软雅黑" panose="020B0503020204020204" pitchFamily="34" charset="-122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我们就不会这么成功地完成这项任务。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Should he come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 say “Nobody in” to him.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如果他来了,对他说“没有人在里面”。 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3751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④only与状语连用置于句首时,部分倒装。</a:t>
            </a:r>
            <a:endParaRPr lang="zh-CN" altLang="en-US" sz="2800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Only in this way can we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learn English well.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只有用这种方式,我们才能学好英语。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Only when we learn to exist in harmony with nature can we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stop being a threat to wildlife </a:t>
            </a:r>
            <a:br>
              <a:rPr dirty="0">
                <a:ea typeface="微软雅黑" panose="020B0503020204020204" pitchFamily="34" charset="-122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and to our planet. 只有学会和大自然和谐相处,我们才不会成为野生生物和地球的威</a:t>
            </a:r>
            <a:br>
              <a:rPr dirty="0">
                <a:ea typeface="微软雅黑" panose="020B0503020204020204" pitchFamily="34" charset="-122"/>
              </a:rPr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胁。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3427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当only修饰主语时,句子不倒装。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u="sng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Only five people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turned up. 只来了五个人。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⑤以often、well等表频度或方式的副词起始的句中,由于修辞的要求,部分倒装。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Often have I seen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these Young Pioneers do good deeds.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我曾多次看见这些少先队员们做好事。 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Many a time has he given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me good advice.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他曾多次给我提出好建议。 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6258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(3)表祝愿的句子常用部分倒装</a:t>
            </a:r>
            <a:endParaRPr lang="zh-CN" altLang="en-US" sz="2410" dirty="0">
              <a:ea typeface="微软雅黑" panose="020B0503020204020204" pitchFamily="34" charset="-122"/>
            </a:endParaRPr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May you return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in safety!祝你平安归来!</a:t>
            </a:r>
            <a:endParaRPr lang="zh-CN" altLang="en-US" sz="2410" dirty="0">
              <a:ea typeface="微软雅黑" panose="020B0503020204020204" pitchFamily="34" charset="-122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在as、though引导的让步状语从句中,常使用倒装。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Successful as he is, he is not proud.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虽然他很成功,但他并不骄傲。 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Much though I like it, I can't afford it.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algn="l" eaLnBrk="0" latinLnBrk="1" hangingPunct="0">
              <a:lnSpc>
                <a:spcPct val="150000"/>
              </a:lnSpc>
              <a:spcBef>
                <a:spcPts val="145"/>
              </a:spcBef>
              <a:buClrTx/>
              <a:buSzTx/>
              <a:buFontTx/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虽然我很喜欢它,但是我买不起。</a:t>
            </a:r>
            <a:endParaRPr lang="zh-CN" altLang="en-US" sz="2000" kern="0" dirty="0" smtClean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62268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5.</a:t>
            </a:r>
            <a:r>
              <a:rPr lang="zh-CN" altLang="en-US" sz="2410" b="1" kern="0" dirty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省略句</a:t>
            </a:r>
            <a:endParaRPr lang="zh-CN" altLang="en-US" sz="2800" b="1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　　为了避免重复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使语言简练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或因习惯用法及结构上的要求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一个句子有时可以省略</a:t>
            </a:r>
            <a:br>
              <a:rPr lang="zh-CN" altLang="en-US" sz="2800" dirty="0"/>
            </a:b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一个或多个成分。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(1)介词的省略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①在英语中一些与动词、名词、形容词搭配的介词常被省略,只保留后面的动名词,例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如spend time (in) doing sth.、have difficulty (in) doing sth.、prevent/stop sb. (from) doing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sth.等。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②表示时间的介词at、on、in等用在next、last、this、each、these、yesterday、every、</a:t>
            </a:r>
            <a:r>
              <a:rPr lang="en-US" altLang="zh-CN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     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tomorrow等词之前,一般可省略。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We have a final exam every term.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我们每学期都有期末考试。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947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(2)名词所有格所修饰的名词如果表示店铺、住宅、教堂或上下文已暗示或明确指出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过的事物时,可省略名词。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 go to the supermarket instead of the butcher's (shop) to buy meat.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我去超市而不是去肉店买肉。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(3)在“the+比较级,the+比较级”结构中,以及由than或as...as引导的比较状语从句中,在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上下文语义明确的情况下,有一些成分可以省略。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sooner (you do it),the better (it will be).你越早去做,结果越好。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He is cleverer than any other boy (is).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他比任何其他男孩都聪明。</a:t>
            </a:r>
            <a:endParaRPr lang="zh-CN" altLang="en-US" sz="2410" kern="0" dirty="0" smtClean="0">
              <a:solidFill>
                <a:srgbClr val="000000"/>
              </a:solidFill>
              <a:latin typeface="Times New Roman" panose="02020603050405020304" pitchFamily="65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539949"/>
            <a:ext cx="11831400" cy="4972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(4)句子成分的省略</a:t>
            </a:r>
            <a:endParaRPr lang="zh-CN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468000" y="1116013"/>
          <a:ext cx="11268000" cy="5476608"/>
        </p:xfrm>
        <a:graphic>
          <a:graphicData uri="http://schemas.openxmlformats.org/drawingml/2006/table">
            <a:tbl>
              <a:tblPr/>
              <a:tblGrid>
                <a:gridCol w="2630170"/>
                <a:gridCol w="8637830"/>
              </a:tblGrid>
              <a:tr h="563328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被省略的成分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例句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</a:tr>
              <a:tr h="982656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主语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(It) Sounds great!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Peter entered the classroom and (Peter) sat at his desk.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谓语或谓语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的一部分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(Is) Anybody here?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同时省略主语和谓语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(或谓语的一部分)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(Are you) Ready?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(I want) Orange juice, please!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宾语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—Do you know the answer?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—Sorry, I don't know (it).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  <a:tr h="982656">
                <a:tc>
                  <a:txBody>
                    <a:bodyPr/>
                    <a:lstStyle/>
                    <a:p>
                      <a:pPr algn="ctr"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表语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 anchor="ctr" anchorCtr="0"/>
                </a:tc>
                <a:tc>
                  <a:txBody>
                    <a:bodyPr/>
                    <a:lstStyle/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—Are you tired?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  <a:p>
                      <a:pPr eaLnBrk="0" latinLnBrk="1" hangingPunct="0">
                        <a:lnSpc>
                          <a:spcPct val="150000"/>
                        </a:lnSpc>
                        <a:spcBef>
                          <a:spcPts val="0"/>
                        </a:spcBef>
                      </a:pPr>
                      <a:r>
                        <a:rPr lang="zh-CN" altLang="en-US" sz="1815" kern="0" dirty="0" smtClean="0">
                          <a:solidFill>
                            <a:srgbClr val="000000"/>
                          </a:solidFill>
                          <a:latin typeface="Times New Roman" panose="02020603050405020304" pitchFamily="65" charset="-122"/>
                          <a:ea typeface="宋体" panose="02010600030101010101" pitchFamily="2" charset="-122"/>
                        </a:rPr>
                        <a:t>—Yes, I am (tired).</a:t>
                      </a:r>
                      <a:endParaRPr lang="zh-CN" altLang="en-US" sz="1815" kern="0" dirty="0" smtClean="0">
                        <a:solidFill>
                          <a:srgbClr val="000000"/>
                        </a:solidFill>
                        <a:latin typeface="Times New Roman" panose="02020603050405020304" pitchFamily="65" charset="-122"/>
                        <a:ea typeface="宋体" panose="02010600030101010101" pitchFamily="2" charset="-122"/>
                      </a:endParaRP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558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(5)在由and或but连接的并列句中,后一分句常省略一些重复的词或词组。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 am a teacher and my husband (is) a doctor.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我是一名教师,我的先生是一名医生。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news made me angry,but (the news made) her happy.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这个消息使我感到生气,但让她很开心。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(6)在宾语从句中,连接词that常省略,但当有两个并列宾语从句时,只可省略第一个that。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 know (that) his mom is an actor and that his dad is a singer.我知道他的妈妈是一名演员,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他的爸爸是一位歌手。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831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(7)状语从句中的省略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①当从句主语与主句主语一致,且谓语中含有be动词时,常省略从句主语和be动词。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You should be careful when (you are) crossing the road.过马路时你应该小心。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Although (the area is) lacking natural resources, the area is well developed.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尽管缺乏自然资源,但该地区发展良好。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8228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  after、before和because引导的状语从句无此用法。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All things are difficult before they are easy.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凡事总是由难而易。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②当从句主语是it,且谓语中含有be动词时,常省略it和be动词。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Please call me back if (it is) possible.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如果可能的话,请给我回电话。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You need to make improvements where (it is) necessary.</a:t>
            </a:r>
            <a:endParaRPr lang="zh-CN" altLang="en-US" dirty="0">
              <a:ea typeface="微软雅黑" panose="020B0503020204020204" pitchFamily="34" charset="-122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你需要在必要的地方进行改进。</a:t>
            </a:r>
            <a:endParaRPr lang="zh-CN" altLang="en-US" dirty="0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50947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③在“no matter+疑问词”或“疑问词+-ever”引导的让步状语从句中,常省略(may/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might+)be动词或主语与be动词。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I will stick to my opinion, whatever difficulty (may be).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无论遇到什么困难,我都会坚持我的意见。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Anyone may point out the shortcomings in our work, no matter who (he is).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任何人都可以指出我们工作中的缺点,不管他是谁。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④在as引导的方式状语从句中,常省略谓语动词。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Liquids expand and contract as gases (do).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液体和气体一样可膨胀与收缩。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45258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(8)定语从句中的省略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①在限制性定语从句中,关系代词作宾语时可省略。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question (that/which) the teacher asked was very difficult.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老师问的问题很难。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②在限制性定语从句中,当关系代词在从句中作主语且从句的谓语动词含有be时,关系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代词和be可同时省略。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boy (who is) standing by the door is my classmate. 站在门口的男孩是我同学。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building (which/that is) being built is our library. 正在建造的建筑是我们的图书馆。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539949"/>
            <a:ext cx="11831400" cy="61738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(9)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不定式中的省略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①如果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but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except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、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besides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等词前面含有实义动词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do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的某种形式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则后面的不定式要</a:t>
            </a:r>
            <a:br>
              <a:rPr lang="zh-CN" altLang="en-US" sz="2800" dirty="0"/>
            </a:b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省略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to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。</a:t>
            </a:r>
            <a:endParaRPr lang="en-US" altLang="zh-CN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What could he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do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</a:t>
            </a:r>
            <a:r>
              <a:rPr lang="en-US" altLang="zh-CN" sz="2410" u="sng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but forgive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her?</a:t>
            </a:r>
            <a:endParaRPr lang="en-US" altLang="zh-CN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他不原谅她又能怎么办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?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②动词原形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do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的省略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为了避免重复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常省略不定式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to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后面的内容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只保留不定式符号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to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。</a:t>
            </a:r>
            <a:endParaRPr lang="en-US" altLang="zh-CN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—Would you like to study English with me?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你愿意和我一起学英语吗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?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—Yes, I'd like to (study English with you).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是的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,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我愿意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和你一起学英语</a:t>
            </a: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)</a:t>
            </a: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。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en-US" altLang="zh-CN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Why didn't you come to my birthday party? You were told to (come to my birthday party). </a:t>
            </a:r>
            <a:endParaRPr lang="en-US" altLang="zh-CN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为什么你没来参加我的生日聚会?告诉过你要来的。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24580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b="1" kern="0" dirty="0" smtClean="0">
                <a:solidFill>
                  <a:srgbClr val="953FA3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注意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    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Times New Roman" panose="02020603050405020304" pitchFamily="18" charset="0"/>
              </a:rPr>
              <a:t>不定式中的have和be不能省略。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She has succeeded in the final examination, but in fact she ought </a:t>
            </a:r>
            <a:r>
              <a:rPr lang="zh-CN" altLang="en-US" sz="2000" u="sng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 have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(succeeded in the </a:t>
            </a:r>
            <a:br>
              <a:rPr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final examination). 她在期末考试中取得了成功,但实际上,她本就该取得成功。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He is a writer now as he used </a:t>
            </a:r>
            <a:r>
              <a:rPr lang="zh-CN" altLang="en-US" sz="2000" u="sng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 be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000" kern="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他像从前一样还是一位作家</a:t>
            </a:r>
            <a:r>
              <a:rPr lang="zh-CN" altLang="en-US" sz="2000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kern="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8000" y="648000"/>
            <a:ext cx="11831400" cy="39440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(10)虚拟语气中的省略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①详见本专题“倒装句”部分</a:t>
            </a:r>
            <a:endParaRPr lang="zh-CN" altLang="en-US" sz="2800" dirty="0"/>
          </a:p>
          <a:p>
            <a:pPr eaLnBrk="0" latinLnBrk="1" hangingPunct="0">
              <a:lnSpc>
                <a:spcPct val="150000"/>
              </a:lnSpc>
              <a:spcBef>
                <a:spcPts val="145"/>
              </a:spcBef>
            </a:pPr>
            <a:r>
              <a:rPr lang="zh-CN" altLang="en-US" sz="2410" kern="0" dirty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②表示坚持、命令、建议、要求等的动词后的宾语从句,常用“should+动词原形”表</a:t>
            </a:r>
            <a:endParaRPr lang="zh-CN" altLang="en-US" sz="2800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示虚拟语气,其中should可以省略。这些词包括:一个坚持(insist)、两个命令(order、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command)、三个建议(suggest、propose、recommend)、四个要求(ask、demand、re-</a:t>
            </a:r>
            <a:br>
              <a:rPr dirty="0"/>
            </a:b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quire、request)。</a:t>
            </a:r>
            <a:endParaRPr lang="zh-CN" altLang="en-US" dirty="0"/>
          </a:p>
          <a:p>
            <a:pPr marL="0" indent="0" eaLnBrk="0" latinLnBrk="1" hangingPunct="0">
              <a:lnSpc>
                <a:spcPct val="150000"/>
              </a:lnSpc>
              <a:spcBef>
                <a:spcPts val="145"/>
              </a:spcBef>
              <a:buNone/>
            </a:pP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The doctor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recommended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 that the patient </a:t>
            </a:r>
            <a:r>
              <a:rPr lang="zh-CN" altLang="en-US" sz="2410" u="sng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(should) rest</a:t>
            </a:r>
            <a:r>
              <a:rPr lang="zh-CN" altLang="en-US" sz="2410" kern="0" dirty="0" smtClean="0">
                <a:solidFill>
                  <a:srgbClr val="000000"/>
                </a:solidFill>
                <a:latin typeface="Times New Roman" panose="02020603050405020304" pitchFamily="65" charset="-122"/>
                <a:ea typeface="微软雅黑" panose="020B0503020204020204" pitchFamily="34" charset="-122"/>
              </a:rPr>
              <a:t>. 医生建议病人休息。</a:t>
            </a:r>
            <a:endParaRPr lang="zh-CN" alt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OP" val="205.7761"/>
  <p:tag name="LEFT" val="173.0257"/>
  <p:tag name="WIDTH" val="632.3657"/>
  <p:tag name="HEIGHT" val="116.325"/>
  <p:tag name="FONTSIZE" val="96"/>
  <p:tag name="MARGINBOTTOM" val="0"/>
  <p:tag name="MARGINLEFT" val="0"/>
  <p:tag name="MARGINRIGHT" val="0"/>
  <p:tag name="MARGINTOP" val="0"/>
  <p:tag name="LINERULEAFTER" val="0"/>
</p:tagLst>
</file>

<file path=ppt/theme/theme1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2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4.xml"/></Relationships>
</file>

<file path=customXml/item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1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4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5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6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7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8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29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0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1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2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33.xml><?xml version="1.0" encoding="utf-8"?>
<CustomerInfo>
  <UserName>Administrator</UserName>
  <CompanyName>微软中国</CompanyName>
  <MachineID>WS103</MachineID>
  <ToolID>ljRTAAAAKGU=</ToolID>
  <Data><![CDATA[bGpSVEFBQUFLR1U9]]></Data>
</CustomerInfo>
</file>

<file path=customXml/itemProps2.xml><?xml version="1.0" encoding="utf-8"?>
<ds:datastoreItem xmlns:ds="http://schemas.openxmlformats.org/officeDocument/2006/customXml" ds:itemID="{32729C81-0A5E-4C3C-9599-350707E35113}">
  <ds:schemaRefs/>
</ds:datastoreItem>
</file>

<file path=customXml/itemProps3.xml><?xml version="1.0" encoding="utf-8"?>
<ds:datastoreItem xmlns:ds="http://schemas.openxmlformats.org/officeDocument/2006/customXml" ds:itemID="{988E0435-E88B-4DF0-9E84-C19672A693AD}">
  <ds:schemaRefs/>
</ds:datastoreItem>
</file>

<file path=customXml/itemProps4.xml><?xml version="1.0" encoding="utf-8"?>
<ds:datastoreItem xmlns:ds="http://schemas.openxmlformats.org/officeDocument/2006/customXml" ds:itemID="{F07C11AB-D65F-46F6-942C-63CBE5740E6A}">
  <ds:schemaRefs/>
</ds:datastoreItem>
</file>

<file path=customXml/itemProps5.xml><?xml version="1.0" encoding="utf-8"?>
<ds:datastoreItem xmlns:ds="http://schemas.openxmlformats.org/officeDocument/2006/customXml" ds:itemID="{1C3D6D43-F156-4693-B040-B50254400BD3}">
  <ds:schemaRefs/>
</ds:datastoreItem>
</file>

<file path=customXml/itemProps6.xml><?xml version="1.0" encoding="utf-8"?>
<ds:datastoreItem xmlns:ds="http://schemas.openxmlformats.org/officeDocument/2006/customXml" ds:itemID="{47533217-24D5-4F48-BCB5-9FE8C41F95B2}">
  <ds:schemaRefs/>
</ds:datastoreItem>
</file>

<file path=customXml/itemProps7.xml><?xml version="1.0" encoding="utf-8"?>
<ds:datastoreItem xmlns:ds="http://schemas.openxmlformats.org/officeDocument/2006/customXml" ds:itemID="{A79E0C7F-3A70-4698-AD30-2158A50C213E}">
  <ds:schemaRefs/>
</ds:datastoreItem>
</file>

<file path=customXml/itemProps8.xml><?xml version="1.0" encoding="utf-8"?>
<ds:datastoreItem xmlns:ds="http://schemas.openxmlformats.org/officeDocument/2006/customXml" ds:itemID="{F69B669C-9923-447E-B2DC-27941F49EDE9}">
  <ds:schemaRefs/>
</ds:datastoreItem>
</file>

<file path=customXml/itemProps9.xml><?xml version="1.0" encoding="utf-8"?>
<ds:datastoreItem xmlns:ds="http://schemas.openxmlformats.org/officeDocument/2006/customXml" ds:itemID="{62119739-257E-4D75-8898-B6CEB7FC6A5D}">
  <ds:schemaRefs/>
</ds:datastoreItem>
</file>

<file path=customXml/itemProps10.xml><?xml version="1.0" encoding="utf-8"?>
<ds:datastoreItem xmlns:ds="http://schemas.openxmlformats.org/officeDocument/2006/customXml" ds:itemID="{93738A5E-C615-4AB9-BE48-B73D1FD59057}">
  <ds:schemaRefs/>
</ds:datastoreItem>
</file>

<file path=customXml/itemProps11.xml><?xml version="1.0" encoding="utf-8"?>
<ds:datastoreItem xmlns:ds="http://schemas.openxmlformats.org/officeDocument/2006/customXml" ds:itemID="{25712E93-A04F-4F33-B37F-4CC1C679EBC9}">
  <ds:schemaRefs/>
</ds:datastoreItem>
</file>

<file path=customXml/itemProps12.xml><?xml version="1.0" encoding="utf-8"?>
<ds:datastoreItem xmlns:ds="http://schemas.openxmlformats.org/officeDocument/2006/customXml" ds:itemID="{B7FD7CDA-C478-4FA4-B172-11A505C9B8C1}">
  <ds:schemaRefs/>
</ds:datastoreItem>
</file>

<file path=customXml/itemProps13.xml><?xml version="1.0" encoding="utf-8"?>
<ds:datastoreItem xmlns:ds="http://schemas.openxmlformats.org/officeDocument/2006/customXml" ds:itemID="{37FAAB54-BD6F-44B9-A746-296A552CCF89}">
  <ds:schemaRefs/>
</ds:datastoreItem>
</file>

<file path=customXml/itemProps14.xml><?xml version="1.0" encoding="utf-8"?>
<ds:datastoreItem xmlns:ds="http://schemas.openxmlformats.org/officeDocument/2006/customXml" ds:itemID="{2AE0948A-D03D-401D-B20F-5DD9967863AA}">
  <ds:schemaRefs/>
</ds:datastoreItem>
</file>

<file path=customXml/itemProps15.xml><?xml version="1.0" encoding="utf-8"?>
<ds:datastoreItem xmlns:ds="http://schemas.openxmlformats.org/officeDocument/2006/customXml" ds:itemID="{DCCB036F-62DD-43AC-957A-F308CA096047}">
  <ds:schemaRefs/>
</ds:datastoreItem>
</file>

<file path=customXml/itemProps16.xml><?xml version="1.0" encoding="utf-8"?>
<ds:datastoreItem xmlns:ds="http://schemas.openxmlformats.org/officeDocument/2006/customXml" ds:itemID="{D61B5572-0EC4-46EC-B691-F2CF3481C3C9}">
  <ds:schemaRefs/>
</ds:datastoreItem>
</file>

<file path=customXml/itemProps17.xml><?xml version="1.0" encoding="utf-8"?>
<ds:datastoreItem xmlns:ds="http://schemas.openxmlformats.org/officeDocument/2006/customXml" ds:itemID="{301C9B93-0D42-4F57-A435-7383DB6F8C0C}">
  <ds:schemaRefs/>
</ds:datastoreItem>
</file>

<file path=customXml/itemProps18.xml><?xml version="1.0" encoding="utf-8"?>
<ds:datastoreItem xmlns:ds="http://schemas.openxmlformats.org/officeDocument/2006/customXml" ds:itemID="{569DD939-DA2A-4EF5-AB21-29C33A681F3E}">
  <ds:schemaRefs/>
</ds:datastoreItem>
</file>

<file path=customXml/itemProps19.xml><?xml version="1.0" encoding="utf-8"?>
<ds:datastoreItem xmlns:ds="http://schemas.openxmlformats.org/officeDocument/2006/customXml" ds:itemID="{F991F9AD-6D40-4371-918F-91CF0FDB0D7A}">
  <ds:schemaRefs/>
</ds:datastoreItem>
</file>

<file path=customXml/itemProps20.xml><?xml version="1.0" encoding="utf-8"?>
<ds:datastoreItem xmlns:ds="http://schemas.openxmlformats.org/officeDocument/2006/customXml" ds:itemID="{CD2BF607-36E6-47E9-B80B-1A86DA86F6E6}">
  <ds:schemaRefs/>
</ds:datastoreItem>
</file>

<file path=customXml/itemProps21.xml><?xml version="1.0" encoding="utf-8"?>
<ds:datastoreItem xmlns:ds="http://schemas.openxmlformats.org/officeDocument/2006/customXml" ds:itemID="{1F0E2F7B-F637-4743-A558-6DA0F07ED164}">
  <ds:schemaRefs/>
</ds:datastoreItem>
</file>

<file path=customXml/itemProps22.xml><?xml version="1.0" encoding="utf-8"?>
<ds:datastoreItem xmlns:ds="http://schemas.openxmlformats.org/officeDocument/2006/customXml" ds:itemID="{77E4308B-D09D-422E-91EB-FFA000C7C89C}">
  <ds:schemaRefs/>
</ds:datastoreItem>
</file>

<file path=customXml/itemProps23.xml><?xml version="1.0" encoding="utf-8"?>
<ds:datastoreItem xmlns:ds="http://schemas.openxmlformats.org/officeDocument/2006/customXml" ds:itemID="{093E1C64-3ADF-47E0-B459-BD2CE6D9EE41}">
  <ds:schemaRefs/>
</ds:datastoreItem>
</file>

<file path=customXml/itemProps24.xml><?xml version="1.0" encoding="utf-8"?>
<ds:datastoreItem xmlns:ds="http://schemas.openxmlformats.org/officeDocument/2006/customXml" ds:itemID="{4F15CD7C-0758-49B8-B4E3-B9FDEC307B88}">
  <ds:schemaRefs/>
</ds:datastoreItem>
</file>

<file path=customXml/itemProps25.xml><?xml version="1.0" encoding="utf-8"?>
<ds:datastoreItem xmlns:ds="http://schemas.openxmlformats.org/officeDocument/2006/customXml" ds:itemID="{FDD51F6A-B01B-42AB-AC8B-F4C50CD06A6F}">
  <ds:schemaRefs/>
</ds:datastoreItem>
</file>

<file path=customXml/itemProps26.xml><?xml version="1.0" encoding="utf-8"?>
<ds:datastoreItem xmlns:ds="http://schemas.openxmlformats.org/officeDocument/2006/customXml" ds:itemID="{10A30CCA-595B-49EF-845D-76F7162A4E28}">
  <ds:schemaRefs/>
</ds:datastoreItem>
</file>

<file path=customXml/itemProps27.xml><?xml version="1.0" encoding="utf-8"?>
<ds:datastoreItem xmlns:ds="http://schemas.openxmlformats.org/officeDocument/2006/customXml" ds:itemID="{57391AA8-925A-4011-8378-A194A28A56E5}">
  <ds:schemaRefs/>
</ds:datastoreItem>
</file>

<file path=customXml/itemProps28.xml><?xml version="1.0" encoding="utf-8"?>
<ds:datastoreItem xmlns:ds="http://schemas.openxmlformats.org/officeDocument/2006/customXml" ds:itemID="{6E2F4F2D-14DA-4665-AAE7-F86D9D1E0DAD}">
  <ds:schemaRefs/>
</ds:datastoreItem>
</file>

<file path=customXml/itemProps29.xml><?xml version="1.0" encoding="utf-8"?>
<ds:datastoreItem xmlns:ds="http://schemas.openxmlformats.org/officeDocument/2006/customXml" ds:itemID="{4742A699-7851-4359-9A5D-8B75D499EB6B}">
  <ds:schemaRefs/>
</ds:datastoreItem>
</file>

<file path=customXml/itemProps30.xml><?xml version="1.0" encoding="utf-8"?>
<ds:datastoreItem xmlns:ds="http://schemas.openxmlformats.org/officeDocument/2006/customXml" ds:itemID="{D05922FF-EA12-49ED-9F96-7D630BEEB1FE}">
  <ds:schemaRefs/>
</ds:datastoreItem>
</file>

<file path=customXml/itemProps31.xml><?xml version="1.0" encoding="utf-8"?>
<ds:datastoreItem xmlns:ds="http://schemas.openxmlformats.org/officeDocument/2006/customXml" ds:itemID="{E57961DE-5F2F-48B6-BEBC-3AA034A46989}">
  <ds:schemaRefs/>
</ds:datastoreItem>
</file>

<file path=customXml/itemProps32.xml><?xml version="1.0" encoding="utf-8"?>
<ds:datastoreItem xmlns:ds="http://schemas.openxmlformats.org/officeDocument/2006/customXml" ds:itemID="{55AF6E2B-8662-423D-8B3F-4437FF0A8035}">
  <ds:schemaRefs/>
</ds:datastoreItem>
</file>

<file path=customXml/itemProps33.xml><?xml version="1.0" encoding="utf-8"?>
<ds:datastoreItem xmlns:ds="http://schemas.openxmlformats.org/officeDocument/2006/customXml" ds:itemID="{B84817C1-CE42-4897-965B-EB932EB8B204}">
  <ds:schemaRefs/>
</ds:datastoreItem>
</file>

<file path=customXml/itemProps34.xml><?xml version="1.0" encoding="utf-8"?>
<ds:datastoreItem xmlns:ds="http://schemas.openxmlformats.org/officeDocument/2006/customXml" ds:itemID="{8E955A29-C279-4003-9624-4F452DFF9DB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专题一　动词</Template>
  <TotalTime>0</TotalTime>
  <Words>8124</Words>
  <Application>WPS 演示</Application>
  <PresentationFormat>自定义</PresentationFormat>
  <Paragraphs>287</Paragraphs>
  <Slides>33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33</vt:i4>
      </vt:variant>
    </vt:vector>
  </HeadingPairs>
  <TitlesOfParts>
    <vt:vector size="51" baseType="lpstr">
      <vt:lpstr>Arial</vt:lpstr>
      <vt:lpstr>宋体</vt:lpstr>
      <vt:lpstr>Wingdings</vt:lpstr>
      <vt:lpstr>微软雅黑</vt:lpstr>
      <vt:lpstr>Times New Roman</vt:lpstr>
      <vt:lpstr>黑体</vt:lpstr>
      <vt:lpstr>思源宋体 CN</vt:lpstr>
      <vt:lpstr>思源宋体 CN Heavy</vt:lpstr>
      <vt:lpstr>Times New Roman</vt:lpstr>
      <vt:lpstr>庞门正道标题体</vt:lpstr>
      <vt:lpstr>Arial Unicode MS</vt:lpstr>
      <vt:lpstr>Calibri</vt:lpstr>
      <vt:lpstr>NEU-BZ</vt:lpstr>
      <vt:lpstr>等线</vt:lpstr>
      <vt:lpstr>等线 Light</vt:lpstr>
      <vt:lpstr>2_自定义设计方案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封面标题</dc:title>
  <dc:creator/>
  <cp:lastModifiedBy>A0885</cp:lastModifiedBy>
  <cp:revision>39</cp:revision>
  <dcterms:created xsi:type="dcterms:W3CDTF">2025-06-07T08:07:39Z</dcterms:created>
  <dcterms:modified xsi:type="dcterms:W3CDTF">2025-06-07T08:15:23Z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73266E35A4094DF495062EEC1DB32AD1_12</vt:lpwstr>
  </property>
  <property fmtid="{D5CDD505-2E9C-101B-9397-08002B2CF9AE}" pid="3" name="KSOProductBuildVer">
    <vt:lpwstr>2052-12.1.0.21171</vt:lpwstr>
  </property>
</Properties>
</file>