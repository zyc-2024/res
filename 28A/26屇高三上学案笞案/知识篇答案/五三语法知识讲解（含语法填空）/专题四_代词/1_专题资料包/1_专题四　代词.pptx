
<file path=[Content_Types].xml><?xml version="1.0" encoding="utf-8"?>
<Types xmlns="http://schemas.openxmlformats.org/package/2006/content-types">
  <Default Extension="xml" ContentType="application/xml"/>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55" r:id="rId4"/>
  </p:sldMasterIdLst>
  <p:notesMasterIdLst>
    <p:notesMasterId r:id="rId8"/>
  </p:notesMasterIdLst>
  <p:sldIdLst>
    <p:sldId id="299" r:id="rId5"/>
    <p:sldId id="300" r:id="rId6"/>
    <p:sldId id="258" r:id="rId7"/>
    <p:sldId id="259" r:id="rId9"/>
    <p:sldId id="260" r:id="rId10"/>
    <p:sldId id="261" r:id="rId11"/>
    <p:sldId id="262" r:id="rId12"/>
    <p:sldId id="264" r:id="rId13"/>
    <p:sldId id="265" r:id="rId14"/>
    <p:sldId id="266" r:id="rId15"/>
    <p:sldId id="301" r:id="rId16"/>
    <p:sldId id="270" r:id="rId17"/>
    <p:sldId id="272" r:id="rId18"/>
    <p:sldId id="302" r:id="rId19"/>
    <p:sldId id="274" r:id="rId20"/>
    <p:sldId id="276" r:id="rId21"/>
    <p:sldId id="277" r:id="rId22"/>
    <p:sldId id="278" r:id="rId23"/>
    <p:sldId id="279" r:id="rId24"/>
    <p:sldId id="280"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Lst>
  <p:sldSz cx="12167870" cy="684022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142" autoAdjust="0"/>
  </p:normalViewPr>
  <p:slideViewPr>
    <p:cSldViewPr showGuides="1">
      <p:cViewPr varScale="1">
        <p:scale>
          <a:sx n="90" d="100"/>
          <a:sy n="90" d="100"/>
        </p:scale>
        <p:origin x="666" y="84"/>
      </p:cViewPr>
      <p:guideLst>
        <p:guide orient="horz" pos="2194"/>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1" Type="http://schemas.openxmlformats.org/officeDocument/2006/relationships/customXml" Target="../customXml/item37.xml"/><Relationship Id="rId80" Type="http://schemas.openxmlformats.org/officeDocument/2006/relationships/customXml" Target="../customXml/item36.xml"/><Relationship Id="rId8" Type="http://schemas.openxmlformats.org/officeDocument/2006/relationships/notesMaster" Target="notesMasters/notesMaster1.xml"/><Relationship Id="rId79" Type="http://schemas.openxmlformats.org/officeDocument/2006/relationships/customXml" Target="../customXml/item35.xml"/><Relationship Id="rId78" Type="http://schemas.openxmlformats.org/officeDocument/2006/relationships/customXml" Target="../customXml/item34.xml"/><Relationship Id="rId77" Type="http://schemas.openxmlformats.org/officeDocument/2006/relationships/customXml" Target="../customXml/item33.xml"/><Relationship Id="rId76" Type="http://schemas.openxmlformats.org/officeDocument/2006/relationships/customXml" Target="../customXml/item32.xml"/><Relationship Id="rId75" Type="http://schemas.openxmlformats.org/officeDocument/2006/relationships/customXml" Target="../customXml/item31.xml"/><Relationship Id="rId74" Type="http://schemas.openxmlformats.org/officeDocument/2006/relationships/customXml" Target="../customXml/item30.xml"/><Relationship Id="rId73" Type="http://schemas.openxmlformats.org/officeDocument/2006/relationships/customXml" Target="../customXml/item29.xml"/><Relationship Id="rId72" Type="http://schemas.openxmlformats.org/officeDocument/2006/relationships/customXml" Target="../customXml/item28.xml"/><Relationship Id="rId71" Type="http://schemas.openxmlformats.org/officeDocument/2006/relationships/customXml" Target="../customXml/item27.xml"/><Relationship Id="rId70" Type="http://schemas.openxmlformats.org/officeDocument/2006/relationships/customXml" Target="../customXml/item26.xml"/><Relationship Id="rId7" Type="http://schemas.openxmlformats.org/officeDocument/2006/relationships/slide" Target="slides/slide3.xml"/><Relationship Id="rId69" Type="http://schemas.openxmlformats.org/officeDocument/2006/relationships/customXml" Target="../customXml/item25.xml"/><Relationship Id="rId68" Type="http://schemas.openxmlformats.org/officeDocument/2006/relationships/customXml" Target="../customXml/item24.xml"/><Relationship Id="rId67" Type="http://schemas.openxmlformats.org/officeDocument/2006/relationships/customXml" Target="../customXml/item23.xml"/><Relationship Id="rId66" Type="http://schemas.openxmlformats.org/officeDocument/2006/relationships/customXml" Target="../customXml/item22.xml"/><Relationship Id="rId65" Type="http://schemas.openxmlformats.org/officeDocument/2006/relationships/customXml" Target="../customXml/item21.xml"/><Relationship Id="rId64" Type="http://schemas.openxmlformats.org/officeDocument/2006/relationships/customXml" Target="../customXml/item20.xml"/><Relationship Id="rId63" Type="http://schemas.openxmlformats.org/officeDocument/2006/relationships/customXml" Target="../customXml/item19.xml"/><Relationship Id="rId62" Type="http://schemas.openxmlformats.org/officeDocument/2006/relationships/customXml" Target="../customXml/item18.xml"/><Relationship Id="rId61" Type="http://schemas.openxmlformats.org/officeDocument/2006/relationships/customXml" Target="../customXml/item17.xml"/><Relationship Id="rId60" Type="http://schemas.openxmlformats.org/officeDocument/2006/relationships/customXml" Target="../customXml/item16.xml"/><Relationship Id="rId6" Type="http://schemas.openxmlformats.org/officeDocument/2006/relationships/slide" Target="slides/slide2.xml"/><Relationship Id="rId59" Type="http://schemas.openxmlformats.org/officeDocument/2006/relationships/customXml" Target="../customXml/item15.xml"/><Relationship Id="rId58" Type="http://schemas.openxmlformats.org/officeDocument/2006/relationships/customXml" Target="../customXml/item14.xml"/><Relationship Id="rId57" Type="http://schemas.openxmlformats.org/officeDocument/2006/relationships/customXml" Target="../customXml/item13.xml"/><Relationship Id="rId56" Type="http://schemas.openxmlformats.org/officeDocument/2006/relationships/customXml" Target="../customXml/item12.xml"/><Relationship Id="rId55" Type="http://schemas.openxmlformats.org/officeDocument/2006/relationships/customXml" Target="../customXml/item11.xml"/><Relationship Id="rId54" Type="http://schemas.openxmlformats.org/officeDocument/2006/relationships/customXml" Target="../customXml/item10.xml"/><Relationship Id="rId53" Type="http://schemas.openxmlformats.org/officeDocument/2006/relationships/customXml" Target="../customXml/item9.xml"/><Relationship Id="rId52" Type="http://schemas.openxmlformats.org/officeDocument/2006/relationships/customXml" Target="../customXml/item8.xml"/><Relationship Id="rId51" Type="http://schemas.openxmlformats.org/officeDocument/2006/relationships/customXml" Target="../customXml/item7.xml"/><Relationship Id="rId50" Type="http://schemas.openxmlformats.org/officeDocument/2006/relationships/customXml" Target="../customXml/item6.xml"/><Relationship Id="rId5" Type="http://schemas.openxmlformats.org/officeDocument/2006/relationships/slide" Target="slides/slide1.xml"/><Relationship Id="rId49" Type="http://schemas.openxmlformats.org/officeDocument/2006/relationships/customXml" Target="../customXml/item5.xml"/><Relationship Id="rId48" Type="http://schemas.openxmlformats.org/officeDocument/2006/relationships/customXml" Target="../customXml/item4.xml"/><Relationship Id="rId47" Type="http://schemas.openxmlformats.org/officeDocument/2006/relationships/customXml" Target="../customXml/item3.xml"/><Relationship Id="rId46" Type="http://schemas.openxmlformats.org/officeDocument/2006/relationships/customXml" Target="../customXml/item2.xml"/><Relationship Id="rId45" Type="http://schemas.openxmlformats.org/officeDocument/2006/relationships/customXml" Target="../customXml/item1.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2E16A1-CD54-44AD-AAEF-7C010026770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FC518D-AE7E-41F4-BDAF-13DD522B5C6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819A9AE-DFF2-479B-AF37-FAA367F55B3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F8935AA-09F9-4C1A-89F2-CB34E0111C4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2" name="流程图: 终止 1"/>
          <p:cNvSpPr/>
          <p:nvPr userDrawn="1"/>
        </p:nvSpPr>
        <p:spPr>
          <a:xfrm>
            <a:off x="10914711" y="53924"/>
            <a:ext cx="864096" cy="288032"/>
          </a:xfrm>
          <a:prstGeom prst="flowChartTerminator">
            <a:avLst/>
          </a:prstGeom>
          <a:gradFill>
            <a:gsLst>
              <a:gs pos="84000">
                <a:schemeClr val="accent4"/>
              </a:gs>
              <a:gs pos="0">
                <a:srgbClr val="DE21F5"/>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hlinkClick r:id="rId2" action="ppaction://hlinksldjump"/>
          </p:cNvPr>
          <p:cNvSpPr txBox="1"/>
          <p:nvPr userDrawn="1"/>
        </p:nvSpPr>
        <p:spPr>
          <a:xfrm>
            <a:off x="11054096" y="44051"/>
            <a:ext cx="601804" cy="307777"/>
          </a:xfrm>
          <a:prstGeom prst="rect">
            <a:avLst/>
          </a:prstGeom>
          <a:noFill/>
        </p:spPr>
        <p:txBody>
          <a:bodyPr wrap="square" rtlCol="0" anchor="ctr">
            <a:spAutoFit/>
          </a:bodyPr>
          <a:lstStyle/>
          <a:p>
            <a:pPr algn="ctr"/>
            <a:r>
              <a:rPr lang="zh-CN" altLang="en-US" sz="1400" b="1" dirty="0" smtClean="0">
                <a:solidFill>
                  <a:schemeClr val="bg1"/>
                </a:solidFill>
                <a:latin typeface="微软雅黑" panose="020B0503020204020204" pitchFamily="34" charset="-122"/>
                <a:ea typeface="微软雅黑" panose="020B0503020204020204" pitchFamily="34" charset="-122"/>
              </a:rPr>
              <a:t>目 录</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4" name="燕尾形 3"/>
          <p:cNvSpPr/>
          <p:nvPr userDrawn="1"/>
        </p:nvSpPr>
        <p:spPr>
          <a:xfrm>
            <a:off x="11634791" y="161935"/>
            <a:ext cx="67377" cy="7200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燕尾形 4"/>
          <p:cNvSpPr/>
          <p:nvPr userDrawn="1"/>
        </p:nvSpPr>
        <p:spPr>
          <a:xfrm rot="10800000">
            <a:off x="10986719" y="161935"/>
            <a:ext cx="67377" cy="7200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image" Target="../media/image2.jpeg"/><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90" y="-1"/>
            <a:ext cx="12170277" cy="684780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矩形 1"/>
          <p:cNvSpPr/>
          <p:nvPr/>
        </p:nvSpPr>
        <p:spPr>
          <a:xfrm>
            <a:off x="0" y="1"/>
            <a:ext cx="12168188" cy="395878"/>
          </a:xfrm>
          <a:prstGeom prst="rect">
            <a:avLst/>
          </a:prstGeom>
          <a:solidFill>
            <a:srgbClr val="953F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a:solidFill>
                <a:srgbClr val="C00000"/>
              </a:solidFill>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Lst>
  <p:timing>
    <p:tnLst>
      <p:par>
        <p:cTn id="1" dur="indefinite" restart="never" nodeType="tmRoot"/>
      </p:par>
    </p:tnLst>
  </p:timing>
  <p:txStyles>
    <p:titleStyle>
      <a:lvl1pPr algn="l" defTabSz="911860" rtl="0" eaLnBrk="1" latinLnBrk="0" hangingPunct="1">
        <a:lnSpc>
          <a:spcPct val="90000"/>
        </a:lnSpc>
        <a:spcBef>
          <a:spcPct val="0"/>
        </a:spcBef>
        <a:buNone/>
        <a:defRPr sz="4390" kern="1200">
          <a:solidFill>
            <a:schemeClr val="tx1"/>
          </a:solidFill>
          <a:latin typeface="+mj-lt"/>
          <a:ea typeface="+mj-ea"/>
          <a:cs typeface="+mj-cs"/>
        </a:defRPr>
      </a:lvl1pPr>
    </p:titleStyle>
    <p:bodyStyle>
      <a:lvl1pPr marL="227965" indent="-227965" algn="l" defTabSz="911860" rtl="0" eaLnBrk="1" latinLnBrk="0" hangingPunct="1">
        <a:lnSpc>
          <a:spcPct val="90000"/>
        </a:lnSpc>
        <a:spcBef>
          <a:spcPts val="1000"/>
        </a:spcBef>
        <a:buFont typeface="Arial" panose="020B0604020202020204" pitchFamily="34" charset="0"/>
        <a:buChar char="•"/>
        <a:defRPr sz="2795" kern="1200">
          <a:solidFill>
            <a:schemeClr val="tx1"/>
          </a:solidFill>
          <a:latin typeface="+mn-lt"/>
          <a:ea typeface="+mn-ea"/>
          <a:cs typeface="+mn-cs"/>
        </a:defRPr>
      </a:lvl1pPr>
      <a:lvl2pPr marL="683895" indent="-227965" algn="l" defTabSz="911860" rtl="0" eaLnBrk="1" latinLnBrk="0" hangingPunct="1">
        <a:lnSpc>
          <a:spcPct val="90000"/>
        </a:lnSpc>
        <a:spcBef>
          <a:spcPts val="500"/>
        </a:spcBef>
        <a:buFont typeface="Arial" panose="020B0604020202020204" pitchFamily="34" charset="0"/>
        <a:buChar char="•"/>
        <a:defRPr sz="2395" kern="1200">
          <a:solidFill>
            <a:schemeClr val="tx1"/>
          </a:solidFill>
          <a:latin typeface="+mn-lt"/>
          <a:ea typeface="+mn-ea"/>
          <a:cs typeface="+mn-cs"/>
        </a:defRPr>
      </a:lvl2pPr>
      <a:lvl3pPr marL="1140460" indent="-227965" algn="l" defTabSz="911860" rtl="0" eaLnBrk="1" latinLnBrk="0" hangingPunct="1">
        <a:lnSpc>
          <a:spcPct val="90000"/>
        </a:lnSpc>
        <a:spcBef>
          <a:spcPts val="500"/>
        </a:spcBef>
        <a:buFont typeface="Arial" panose="020B0604020202020204" pitchFamily="34" charset="0"/>
        <a:buChar char="•"/>
        <a:defRPr sz="1995" kern="1200">
          <a:solidFill>
            <a:schemeClr val="tx1"/>
          </a:solidFill>
          <a:latin typeface="+mn-lt"/>
          <a:ea typeface="+mn-ea"/>
          <a:cs typeface="+mn-cs"/>
        </a:defRPr>
      </a:lvl3pPr>
      <a:lvl4pPr marL="159639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4pPr>
      <a:lvl5pPr marL="205232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5pPr>
      <a:lvl6pPr marL="250825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6pPr>
      <a:lvl7pPr marL="296418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7pPr>
      <a:lvl8pPr marL="3420745"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8pPr>
      <a:lvl9pPr marL="3876675"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9pPr>
    </p:bodyStyle>
    <p:otherStyle>
      <a:defPPr>
        <a:defRPr lang="zh-CN"/>
      </a:defPPr>
      <a:lvl1pPr marL="0" algn="l" defTabSz="911860" rtl="0" eaLnBrk="1" latinLnBrk="0" hangingPunct="1">
        <a:defRPr sz="1795" kern="1200">
          <a:solidFill>
            <a:schemeClr val="tx1"/>
          </a:solidFill>
          <a:latin typeface="+mn-lt"/>
          <a:ea typeface="+mn-ea"/>
          <a:cs typeface="+mn-cs"/>
        </a:defRPr>
      </a:lvl1pPr>
      <a:lvl2pPr marL="455930" algn="l" defTabSz="911860" rtl="0" eaLnBrk="1" latinLnBrk="0" hangingPunct="1">
        <a:defRPr sz="1795" kern="1200">
          <a:solidFill>
            <a:schemeClr val="tx1"/>
          </a:solidFill>
          <a:latin typeface="+mn-lt"/>
          <a:ea typeface="+mn-ea"/>
          <a:cs typeface="+mn-cs"/>
        </a:defRPr>
      </a:lvl2pPr>
      <a:lvl3pPr marL="911860" algn="l" defTabSz="911860" rtl="0" eaLnBrk="1" latinLnBrk="0" hangingPunct="1">
        <a:defRPr sz="1795" kern="1200">
          <a:solidFill>
            <a:schemeClr val="tx1"/>
          </a:solidFill>
          <a:latin typeface="+mn-lt"/>
          <a:ea typeface="+mn-ea"/>
          <a:cs typeface="+mn-cs"/>
        </a:defRPr>
      </a:lvl3pPr>
      <a:lvl4pPr marL="1368425" algn="l" defTabSz="911860" rtl="0" eaLnBrk="1" latinLnBrk="0" hangingPunct="1">
        <a:defRPr sz="1795" kern="1200">
          <a:solidFill>
            <a:schemeClr val="tx1"/>
          </a:solidFill>
          <a:latin typeface="+mn-lt"/>
          <a:ea typeface="+mn-ea"/>
          <a:cs typeface="+mn-cs"/>
        </a:defRPr>
      </a:lvl4pPr>
      <a:lvl5pPr marL="1824355" algn="l" defTabSz="911860" rtl="0" eaLnBrk="1" latinLnBrk="0" hangingPunct="1">
        <a:defRPr sz="1795" kern="1200">
          <a:solidFill>
            <a:schemeClr val="tx1"/>
          </a:solidFill>
          <a:latin typeface="+mn-lt"/>
          <a:ea typeface="+mn-ea"/>
          <a:cs typeface="+mn-cs"/>
        </a:defRPr>
      </a:lvl5pPr>
      <a:lvl6pPr marL="2280285" algn="l" defTabSz="911860" rtl="0" eaLnBrk="1" latinLnBrk="0" hangingPunct="1">
        <a:defRPr sz="1795" kern="1200">
          <a:solidFill>
            <a:schemeClr val="tx1"/>
          </a:solidFill>
          <a:latin typeface="+mn-lt"/>
          <a:ea typeface="+mn-ea"/>
          <a:cs typeface="+mn-cs"/>
        </a:defRPr>
      </a:lvl6pPr>
      <a:lvl7pPr marL="2736215" algn="l" defTabSz="911860" rtl="0" eaLnBrk="1" latinLnBrk="0" hangingPunct="1">
        <a:defRPr sz="1795" kern="1200">
          <a:solidFill>
            <a:schemeClr val="tx1"/>
          </a:solidFill>
          <a:latin typeface="+mn-lt"/>
          <a:ea typeface="+mn-ea"/>
          <a:cs typeface="+mn-cs"/>
        </a:defRPr>
      </a:lvl7pPr>
      <a:lvl8pPr marL="3192145" algn="l" defTabSz="911860" rtl="0" eaLnBrk="1" latinLnBrk="0" hangingPunct="1">
        <a:defRPr sz="1795" kern="1200">
          <a:solidFill>
            <a:schemeClr val="tx1"/>
          </a:solidFill>
          <a:latin typeface="+mn-lt"/>
          <a:ea typeface="+mn-ea"/>
          <a:cs typeface="+mn-cs"/>
        </a:defRPr>
      </a:lvl8pPr>
      <a:lvl9pPr marL="3648710" algn="l" defTabSz="911860" rtl="0" eaLnBrk="1" latinLnBrk="0" hangingPunct="1">
        <a:defRPr sz="179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68188" cy="6846634"/>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slide" Target="slide21.xml"/><Relationship Id="rId7" Type="http://schemas.openxmlformats.org/officeDocument/2006/relationships/image" Target="../media/image3.png"/><Relationship Id="rId6" Type="http://schemas.openxmlformats.org/officeDocument/2006/relationships/slide" Target="slide15.xml"/><Relationship Id="rId5" Type="http://schemas.openxmlformats.org/officeDocument/2006/relationships/slide" Target="slide11.xml"/><Relationship Id="rId4" Type="http://schemas.openxmlformats.org/officeDocument/2006/relationships/slide" Target="slide8.xml"/><Relationship Id="rId3" Type="http://schemas.openxmlformats.org/officeDocument/2006/relationships/slide" Target="slide6.xml"/><Relationship Id="rId2" Type="http://schemas.openxmlformats.org/officeDocument/2006/relationships/slide" Target="slide4.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vmlDrawing" Target="../drawings/vmlDrawing1.vml"/><Relationship Id="rId5" Type="http://schemas.openxmlformats.org/officeDocument/2006/relationships/slideLayout" Target="../slideLayouts/slideLayout3.xml"/><Relationship Id="rId4" Type="http://schemas.openxmlformats.org/officeDocument/2006/relationships/image" Target="../media/image6.wmf"/><Relationship Id="rId3" Type="http://schemas.openxmlformats.org/officeDocument/2006/relationships/oleObject" Target="../embeddings/oleObject2.bin"/><Relationship Id="rId2" Type="http://schemas.openxmlformats.org/officeDocument/2006/relationships/image" Target="../media/image5.wmf"/><Relationship Id="rId1"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vmlDrawing" Target="../drawings/vmlDrawing2.vml"/><Relationship Id="rId3" Type="http://schemas.openxmlformats.org/officeDocument/2006/relationships/slideLayout" Target="../slideLayouts/slideLayout3.xml"/><Relationship Id="rId2" Type="http://schemas.openxmlformats.org/officeDocument/2006/relationships/image" Target="../media/image7.wmf"/><Relationship Id="rId1"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2"/>
          <p:cNvSpPr txBox="1">
            <a:spLocks noChangeArrowheads="1"/>
          </p:cNvSpPr>
          <p:nvPr/>
        </p:nvSpPr>
        <p:spPr>
          <a:xfrm>
            <a:off x="4211886" y="1835914"/>
            <a:ext cx="7702619" cy="129632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1860">
              <a:defRPr/>
            </a:pPr>
            <a:endParaRPr lang="en-US" altLang="zh-CN" sz="4000" b="1" kern="0" noProof="0" dirty="0" smtClean="0">
              <a:solidFill>
                <a:schemeClr val="bg1"/>
              </a:solidFill>
              <a:latin typeface="微软雅黑" panose="020B0503020204020204" pitchFamily="34" charset="-122"/>
              <a:ea typeface="微软雅黑" panose="020B0503020204020204" pitchFamily="34" charset="-122"/>
              <a:cs typeface="+mj-cs"/>
              <a:sym typeface="+mn-ea"/>
            </a:endParaRPr>
          </a:p>
          <a:p>
            <a:pPr defTabSz="911860">
              <a:defRPr/>
            </a:pPr>
            <a:endParaRPr lang="zh-CN" altLang="en-US" sz="4000" b="1" kern="0" noProof="0" dirty="0">
              <a:solidFill>
                <a:schemeClr val="bg1"/>
              </a:solidFill>
              <a:latin typeface="微软雅黑" panose="020B0503020204020204" pitchFamily="34" charset="-122"/>
              <a:ea typeface="微软雅黑" panose="020B0503020204020204" pitchFamily="34" charset="-122"/>
              <a:cs typeface="+mj-cs"/>
              <a:sym typeface="+mn-ea"/>
            </a:endParaRPr>
          </a:p>
        </p:txBody>
      </p:sp>
      <p:sp>
        <p:nvSpPr>
          <p:cNvPr id="6" name="Rectangle 2"/>
          <p:cNvSpPr txBox="1"/>
          <p:nvPr/>
        </p:nvSpPr>
        <p:spPr>
          <a:xfrm>
            <a:off x="9970770" y="4643755"/>
            <a:ext cx="2041525" cy="716915"/>
          </a:xfrm>
          <a:prstGeom prst="rect">
            <a:avLst/>
          </a:prstGeom>
          <a:no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b="1" kern="0" dirty="0" smtClean="0">
                <a:solidFill>
                  <a:schemeClr val="bg1"/>
                </a:solidFill>
                <a:latin typeface="微软雅黑" panose="020B0503020204020204" pitchFamily="34" charset="-122"/>
                <a:ea typeface="微软雅黑" panose="020B0503020204020204" pitchFamily="34" charset="-122"/>
              </a:rPr>
              <a:t>高考英语</a:t>
            </a:r>
            <a:endParaRPr lang="zh-CN" altLang="en-US" sz="3200" b="1" kern="0" dirty="0">
              <a:solidFill>
                <a:schemeClr val="bg1"/>
              </a:solidFill>
              <a:latin typeface="微软雅黑" panose="020B0503020204020204" pitchFamily="34" charset="-122"/>
              <a:ea typeface="微软雅黑" panose="020B0503020204020204" pitchFamily="34" charset="-122"/>
            </a:endParaRPr>
          </a:p>
        </p:txBody>
      </p:sp>
      <p:cxnSp>
        <p:nvCxnSpPr>
          <p:cNvPr id="7" name="直线连接符 2"/>
          <p:cNvCxnSpPr/>
          <p:nvPr/>
        </p:nvCxnSpPr>
        <p:spPr bwMode="auto">
          <a:xfrm>
            <a:off x="10114124" y="5291987"/>
            <a:ext cx="1584325" cy="0"/>
          </a:xfrm>
          <a:prstGeom prst="line">
            <a:avLst/>
          </a:prstGeom>
          <a:solidFill>
            <a:schemeClr val="accent1"/>
          </a:solidFill>
          <a:ln w="3175" cap="flat" cmpd="sng" algn="ctr">
            <a:solidFill>
              <a:srgbClr val="FFFF00"/>
            </a:solidFill>
            <a:prstDash val="solid"/>
            <a:round/>
            <a:headEnd type="none" w="med" len="med"/>
            <a:tailEnd type="none" w="med" len="med"/>
          </a:ln>
        </p:spPr>
      </p:cxnSp>
      <p:sp>
        <p:nvSpPr>
          <p:cNvPr id="8" name="文本框 7"/>
          <p:cNvSpPr txBox="1"/>
          <p:nvPr/>
        </p:nvSpPr>
        <p:spPr>
          <a:xfrm>
            <a:off x="9970770" y="5360670"/>
            <a:ext cx="1943735" cy="460375"/>
          </a:xfrm>
          <a:prstGeom prst="rect">
            <a:avLst/>
          </a:prstGeom>
          <a:noFill/>
        </p:spPr>
        <p:txBody>
          <a:bodyPr wrap="square" rtlCol="0">
            <a:spAutoFit/>
          </a:bodyPr>
          <a:lstStyle/>
          <a:p>
            <a:pPr algn="ctr"/>
            <a:r>
              <a:rPr lang="zh-CN" altLang="en-US" sz="2400" b="1" spc="150" dirty="0">
                <a:solidFill>
                  <a:srgbClr val="FFFF00"/>
                </a:solidFill>
                <a:latin typeface="微软雅黑" panose="020B0503020204020204" pitchFamily="34" charset="-122"/>
                <a:ea typeface="微软雅黑" panose="020B0503020204020204" pitchFamily="34" charset="-122"/>
              </a:rPr>
              <a:t>北京市专用</a:t>
            </a:r>
            <a:endParaRPr lang="zh-CN" altLang="en-US" sz="2400" b="1" spc="150" dirty="0">
              <a:solidFill>
                <a:srgbClr val="FFFF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950460" y="2425700"/>
            <a:ext cx="6225540" cy="706755"/>
          </a:xfrm>
          <a:prstGeom prst="rect">
            <a:avLst/>
          </a:prstGeom>
          <a:noFill/>
        </p:spPr>
        <p:txBody>
          <a:bodyPr wrap="square" rtlCol="0" anchor="t">
            <a:spAutoFit/>
          </a:bodyPr>
          <a:lstStyle/>
          <a:p>
            <a:pPr algn="r"/>
            <a:r>
              <a:rPr lang="zh-CN" altLang="en-US" sz="4000" b="1" kern="0" noProof="0" smtClean="0">
                <a:solidFill>
                  <a:schemeClr val="bg1"/>
                </a:solidFill>
                <a:latin typeface="微软雅黑" panose="020B0503020204020204" pitchFamily="34" charset="-122"/>
                <a:ea typeface="微软雅黑" panose="020B0503020204020204" pitchFamily="34" charset="-122"/>
                <a:cs typeface="+mj-cs"/>
                <a:sym typeface="+mn-ea"/>
              </a:rPr>
              <a:t>专题四  代词</a:t>
            </a:r>
            <a:endParaRPr lang="zh-CN" altLang="en-US" sz="4000" b="1" kern="0" noProof="0" dirty="0">
              <a:solidFill>
                <a:schemeClr val="bg1"/>
              </a:solidFill>
              <a:latin typeface="微软雅黑" panose="020B0503020204020204" pitchFamily="34" charset="-122"/>
              <a:ea typeface="微软雅黑" panose="020B0503020204020204" pitchFamily="34" charset="-122"/>
              <a:cs typeface="+mj-cs"/>
              <a:sym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65334" y="1094842"/>
            <a:ext cx="11348051" cy="498598"/>
          </a:xfrm>
          <a:prstGeom prst="rect">
            <a:avLst/>
          </a:prstGeom>
          <a:noFill/>
        </p:spPr>
        <p:txBody>
          <a:bodyPr wrap="square" rtlCol="0">
            <a:spAutoFit/>
          </a:bodyPr>
          <a:lstStyle/>
          <a:p>
            <a:pPr algn="l">
              <a:lnSpc>
                <a:spcPct val="150000"/>
              </a:lnSpc>
              <a:buClrTx/>
              <a:buSzTx/>
              <a:buFontTx/>
              <a:defRPr/>
            </a:pP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体系透视</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sp>
        <p:nvSpPr>
          <p:cNvPr id="5" name="文本框 4"/>
          <p:cNvSpPr txBox="1"/>
          <p:nvPr/>
        </p:nvSpPr>
        <p:spPr>
          <a:xfrm>
            <a:off x="611359" y="1653315"/>
            <a:ext cx="7504039" cy="2855397"/>
          </a:xfrm>
          <a:prstGeom prst="rect">
            <a:avLst/>
          </a:prstGeom>
          <a:noFill/>
        </p:spPr>
        <p:txBody>
          <a:bodyPr wrap="square" rtlCol="0">
            <a:spAutoFit/>
          </a:bodyPr>
          <a:lstStyle/>
          <a:p>
            <a:pPr algn="l">
              <a:lnSpc>
                <a:spcPct val="150000"/>
              </a:lnSpc>
              <a:buClrTx/>
              <a:buSzTx/>
              <a:buFontTx/>
              <a:defRPr/>
            </a:pP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重难透析</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1.</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物主代词</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2.</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反身代词</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3.</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指示代词</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4.</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不定代词</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nSpc>
                <a:spcPct val="150000"/>
              </a:lnSpc>
              <a:defRPr/>
            </a:pP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5.it</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的用法</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sp>
        <p:nvSpPr>
          <p:cNvPr id="15" name="文本框 14"/>
          <p:cNvSpPr txBox="1"/>
          <p:nvPr/>
        </p:nvSpPr>
        <p:spPr>
          <a:xfrm>
            <a:off x="301118" y="567385"/>
            <a:ext cx="2207762" cy="521888"/>
          </a:xfrm>
          <a:prstGeom prst="rect">
            <a:avLst/>
          </a:prstGeom>
          <a:noFill/>
        </p:spPr>
        <p:txBody>
          <a:bodyPr wrap="square" rtlCol="0">
            <a:spAutoFit/>
          </a:bodyPr>
          <a:lstStyle/>
          <a:p>
            <a:r>
              <a:rPr lang="zh-CN" altLang="en-US" sz="2795" b="1" dirty="0">
                <a:solidFill>
                  <a:srgbClr val="953FA3"/>
                </a:solidFill>
                <a:latin typeface="微软雅黑" panose="020B0503020204020204" pitchFamily="34" charset="-122"/>
                <a:ea typeface="微软雅黑" panose="020B0503020204020204" pitchFamily="34" charset="-122"/>
              </a:rPr>
              <a:t>目 录</a:t>
            </a:r>
            <a:endParaRPr lang="zh-CN" altLang="en-US" sz="2795" b="1" dirty="0">
              <a:solidFill>
                <a:srgbClr val="953FA3"/>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402720" y="1061875"/>
            <a:ext cx="11054641" cy="0"/>
          </a:xfrm>
          <a:prstGeom prst="line">
            <a:avLst/>
          </a:prstGeom>
          <a:ln>
            <a:solidFill>
              <a:srgbClr val="9E27B5"/>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5458" y="1082972"/>
            <a:ext cx="702565" cy="647100"/>
          </a:xfrm>
          <a:prstGeom prst="rect">
            <a:avLst/>
          </a:prstGeom>
        </p:spPr>
      </p:pic>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0537" y="1691950"/>
            <a:ext cx="702565" cy="647100"/>
          </a:xfrm>
          <a:prstGeom prst="rect">
            <a:avLst/>
          </a:prstGeom>
        </p:spPr>
      </p:pic>
      <p:sp>
        <p:nvSpPr>
          <p:cNvPr id="20" name="文本框 19"/>
          <p:cNvSpPr txBox="1"/>
          <p:nvPr/>
        </p:nvSpPr>
        <p:spPr>
          <a:xfrm>
            <a:off x="741322" y="4513231"/>
            <a:ext cx="11348051" cy="498598"/>
          </a:xfrm>
          <a:prstGeom prst="rect">
            <a:avLst/>
          </a:prstGeom>
          <a:noFill/>
        </p:spPr>
        <p:txBody>
          <a:bodyPr wrap="square" rtlCol="0">
            <a:spAutoFit/>
          </a:bodyPr>
          <a:lstStyle/>
          <a:p>
            <a:pPr algn="l">
              <a:lnSpc>
                <a:spcPct val="150000"/>
              </a:lnSpc>
              <a:buClrTx/>
              <a:buSzTx/>
              <a:buFontTx/>
              <a:defRPr/>
            </a:pP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8" action="ppaction://hlinksldjump"/>
              </a:rPr>
              <a:t>考点针对练</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pic>
        <p:nvPicPr>
          <p:cNvPr id="21" name="图片 2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1446" y="4501361"/>
            <a:ext cx="702565" cy="6471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820419" y="577507"/>
            <a:ext cx="2574914" cy="461665"/>
            <a:chOff x="251133" y="167422"/>
            <a:chExt cx="3959943" cy="709990"/>
          </a:xfrm>
        </p:grpSpPr>
        <p:grpSp>
          <p:nvGrpSpPr>
            <p:cNvPr id="5" name="组合 4"/>
            <p:cNvGrpSpPr/>
            <p:nvPr/>
          </p:nvGrpSpPr>
          <p:grpSpPr>
            <a:xfrm>
              <a:off x="251133" y="272306"/>
              <a:ext cx="708622" cy="593558"/>
              <a:chOff x="154881" y="272716"/>
              <a:chExt cx="708622" cy="593558"/>
            </a:xfrm>
          </p:grpSpPr>
          <p:grpSp>
            <p:nvGrpSpPr>
              <p:cNvPr id="7" name="组合 6"/>
              <p:cNvGrpSpPr/>
              <p:nvPr/>
            </p:nvGrpSpPr>
            <p:grpSpPr>
              <a:xfrm>
                <a:off x="366198" y="272716"/>
                <a:ext cx="497305" cy="497306"/>
                <a:chOff x="366198" y="272716"/>
                <a:chExt cx="497305" cy="497306"/>
              </a:xfrm>
            </p:grpSpPr>
            <p:sp>
              <p:nvSpPr>
                <p:cNvPr id="9" name="椭圆 8"/>
                <p:cNvSpPr/>
                <p:nvPr/>
              </p:nvSpPr>
              <p:spPr>
                <a:xfrm>
                  <a:off x="366198" y="272716"/>
                  <a:ext cx="497305" cy="497306"/>
                </a:xfrm>
                <a:prstGeom prst="ellipse">
                  <a:avLst/>
                </a:prstGeom>
                <a:solidFill>
                  <a:srgbClr val="953FA3">
                    <a:alpha val="53000"/>
                  </a:srgbClr>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sp>
              <p:nvSpPr>
                <p:cNvPr id="10" name="椭圆 9"/>
                <p:cNvSpPr/>
                <p:nvPr/>
              </p:nvSpPr>
              <p:spPr>
                <a:xfrm>
                  <a:off x="437002" y="343520"/>
                  <a:ext cx="355696" cy="355698"/>
                </a:xfrm>
                <a:prstGeom prst="ellipse">
                  <a:avLst/>
                </a:prstGeom>
                <a:solidFill>
                  <a:schemeClr val="bg1"/>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grpSp>
          <p:sp>
            <p:nvSpPr>
              <p:cNvPr id="8" name="椭圆 7"/>
              <p:cNvSpPr/>
              <p:nvPr/>
            </p:nvSpPr>
            <p:spPr>
              <a:xfrm flipH="1">
                <a:off x="154881" y="640300"/>
                <a:ext cx="225973" cy="225974"/>
              </a:xfrm>
              <a:prstGeom prst="ellipse">
                <a:avLst/>
              </a:prstGeom>
              <a:solidFill>
                <a:srgbClr val="953FA3"/>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grpSp>
        <p:sp>
          <p:nvSpPr>
            <p:cNvPr id="6" name="文本框 5"/>
            <p:cNvSpPr txBox="1"/>
            <p:nvPr/>
          </p:nvSpPr>
          <p:spPr>
            <a:xfrm>
              <a:off x="1015903" y="167422"/>
              <a:ext cx="3195173" cy="709990"/>
            </a:xfrm>
            <a:prstGeom prst="rect">
              <a:avLst/>
            </a:prstGeom>
            <a:noFill/>
          </p:spPr>
          <p:txBody>
            <a:bodyPr wrap="square" rtlCol="0">
              <a:spAutoFit/>
            </a:bodyPr>
            <a:lstStyle>
              <a:defPPr>
                <a:defRPr lang="en-US"/>
              </a:defPPr>
              <a:lvl1pPr algn="dist">
                <a:defRPr sz="4400">
                  <a:gradFill flip="none" rotWithShape="1">
                    <a:gsLst>
                      <a:gs pos="0">
                        <a:srgbClr val="F0E4B7"/>
                      </a:gs>
                      <a:gs pos="100000">
                        <a:srgbClr val="E7D48D"/>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smtClean="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Arial" panose="020B0604020202020204" pitchFamily="34" charset="0"/>
                </a:rPr>
                <a:t>体系透视</a:t>
              </a:r>
              <a:endParaRPr kumimoji="0" lang="zh-CN" altLang="en-US" sz="2400"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pic>
        <p:nvPicPr>
          <p:cNvPr id="2" name="图片 1"/>
          <p:cNvPicPr>
            <a:picLocks noChangeAspect="1"/>
          </p:cNvPicPr>
          <p:nvPr/>
        </p:nvPicPr>
        <p:blipFill>
          <a:blip r:embed="rId1"/>
          <a:stretch>
            <a:fillRect/>
          </a:stretch>
        </p:blipFill>
        <p:spPr>
          <a:xfrm>
            <a:off x="3491865" y="1011555"/>
            <a:ext cx="5353050" cy="55467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67626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1.物主代词</a:t>
            </a:r>
            <a:endParaRPr lang="zh-CN" altLang="en-US" b="1"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(1)形容词性物主代词不能单独使用,可用在名词前作定语或在动名词前作逻辑主语。</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latin typeface="Times New Roman" panose="02020603050405020304" pitchFamily="65" charset="-122"/>
                <a:ea typeface="微软雅黑" panose="020B0503020204020204" pitchFamily="34" charset="-122"/>
              </a:rPr>
              <a:t>He raised </a:t>
            </a:r>
            <a:r>
              <a:rPr lang="zh-CN" altLang="en-US" sz="2410" u="sng" kern="0" dirty="0">
                <a:latin typeface="Times New Roman" panose="02020603050405020304" pitchFamily="65" charset="-122"/>
                <a:ea typeface="微软雅黑" panose="020B0503020204020204" pitchFamily="34" charset="-122"/>
              </a:rPr>
              <a:t>his</a:t>
            </a:r>
            <a:r>
              <a:rPr lang="zh-CN" altLang="en-US" sz="2410" kern="0" dirty="0">
                <a:latin typeface="Times New Roman" panose="02020603050405020304" pitchFamily="65" charset="-122"/>
                <a:ea typeface="微软雅黑" panose="020B0503020204020204" pitchFamily="34" charset="-122"/>
              </a:rPr>
              <a:t> hat in salute as the lady approached.</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当那位女士走近时,他举帽致意。 </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Would you mind </a:t>
            </a:r>
            <a:r>
              <a:rPr lang="zh-CN" altLang="en-US" sz="2410" u="sng" kern="0" dirty="0">
                <a:solidFill>
                  <a:srgbClr val="000000"/>
                </a:solidFill>
                <a:latin typeface="Times New Roman" panose="02020603050405020304" pitchFamily="65" charset="-122"/>
                <a:ea typeface="微软雅黑" panose="020B0503020204020204" pitchFamily="34" charset="-122"/>
              </a:rPr>
              <a:t>my</a:t>
            </a:r>
            <a:r>
              <a:rPr lang="zh-CN" altLang="en-US" sz="2410" kern="0" dirty="0">
                <a:solidFill>
                  <a:srgbClr val="000000"/>
                </a:solidFill>
                <a:latin typeface="Times New Roman" panose="02020603050405020304" pitchFamily="65" charset="-122"/>
                <a:ea typeface="微软雅黑" panose="020B0503020204020204" pitchFamily="34" charset="-122"/>
              </a:rPr>
              <a:t> opening the window?</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你介意我开窗吗?</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(2)形容词性物主代词还可与own连用,表示强调。</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I saw it with </a:t>
            </a:r>
            <a:r>
              <a:rPr lang="zh-CN" altLang="en-US" sz="2410" u="sng" kern="0" dirty="0">
                <a:solidFill>
                  <a:srgbClr val="000000"/>
                </a:solidFill>
                <a:latin typeface="Times New Roman" panose="02020603050405020304" pitchFamily="65" charset="-122"/>
                <a:ea typeface="微软雅黑" panose="020B0503020204020204" pitchFamily="34" charset="-122"/>
              </a:rPr>
              <a:t>my</a:t>
            </a:r>
            <a:r>
              <a:rPr lang="zh-CN" altLang="en-US" sz="2410" kern="0" dirty="0">
                <a:solidFill>
                  <a:srgbClr val="000000"/>
                </a:solidFill>
                <a:latin typeface="Times New Roman" panose="02020603050405020304" pitchFamily="65" charset="-122"/>
                <a:ea typeface="微软雅黑" panose="020B0503020204020204" pitchFamily="34" charset="-122"/>
              </a:rPr>
              <a:t> own eyes.</a:t>
            </a:r>
            <a:r>
              <a:rPr lang="zh-CN" altLang="en-US" sz="2410" kern="0" dirty="0">
                <a:solidFill>
                  <a:srgbClr val="000000"/>
                </a:solidFill>
                <a:latin typeface="Times New Roman" panose="02020603050405020304" pitchFamily="65" charset="-122"/>
                <a:ea typeface="微软雅黑" panose="020B0503020204020204" pitchFamily="34" charset="-122"/>
                <a:sym typeface="+mn-ea"/>
              </a:rPr>
              <a:t>那是我亲眼看见的。</a:t>
            </a:r>
            <a:endParaRPr lang="zh-CN" altLang="en-US" sz="2800" dirty="0"/>
          </a:p>
          <a:p>
            <a:pPr eaLnBrk="0" latinLnBrk="1" hangingPunct="0">
              <a:lnSpc>
                <a:spcPct val="150000"/>
              </a:lnSpc>
              <a:spcBef>
                <a:spcPts val="145"/>
              </a:spcBef>
            </a:pPr>
            <a:endParaRPr lang="zh-CN" altLang="en-US" sz="2800" dirty="0"/>
          </a:p>
        </p:txBody>
      </p:sp>
      <p:grpSp>
        <p:nvGrpSpPr>
          <p:cNvPr id="5" name="组合 4"/>
          <p:cNvGrpSpPr/>
          <p:nvPr/>
        </p:nvGrpSpPr>
        <p:grpSpPr>
          <a:xfrm>
            <a:off x="4715942" y="606139"/>
            <a:ext cx="2088232" cy="430887"/>
            <a:chOff x="263136" y="272072"/>
            <a:chExt cx="3077968" cy="635109"/>
          </a:xfrm>
        </p:grpSpPr>
        <p:grpSp>
          <p:nvGrpSpPr>
            <p:cNvPr id="6" name="组合 5"/>
            <p:cNvGrpSpPr/>
            <p:nvPr/>
          </p:nvGrpSpPr>
          <p:grpSpPr>
            <a:xfrm>
              <a:off x="263136" y="317158"/>
              <a:ext cx="575064" cy="575064"/>
              <a:chOff x="263136" y="244750"/>
              <a:chExt cx="603639" cy="603639"/>
            </a:xfrm>
          </p:grpSpPr>
          <p:sp>
            <p:nvSpPr>
              <p:cNvPr id="8" name="泪滴形 7"/>
              <p:cNvSpPr/>
              <p:nvPr/>
            </p:nvSpPr>
            <p:spPr>
              <a:xfrm rot="10800000" flipH="1" flipV="1">
                <a:off x="263136" y="244750"/>
                <a:ext cx="603639" cy="603639"/>
              </a:xfrm>
              <a:prstGeom prst="teardrop">
                <a:avLst/>
              </a:prstGeom>
              <a:solidFill>
                <a:srgbClr val="953FA3">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9" name="椭圆 8"/>
              <p:cNvSpPr/>
              <p:nvPr/>
            </p:nvSpPr>
            <p:spPr>
              <a:xfrm rot="10800000" flipH="1" flipV="1">
                <a:off x="363481" y="345095"/>
                <a:ext cx="402949" cy="402949"/>
              </a:xfrm>
              <a:prstGeom prst="ellipse">
                <a:avLst/>
              </a:prstGeom>
              <a:solidFill>
                <a:srgbClr val="FDB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10" name="椭圆 9"/>
              <p:cNvSpPr/>
              <p:nvPr/>
            </p:nvSpPr>
            <p:spPr>
              <a:xfrm rot="10800000" flipH="1" flipV="1">
                <a:off x="438741" y="420355"/>
                <a:ext cx="252430" cy="2524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grpSp>
        <p:sp>
          <p:nvSpPr>
            <p:cNvPr id="7" name="文本框 6"/>
            <p:cNvSpPr txBox="1"/>
            <p:nvPr>
              <p:custDataLst>
                <p:tags r:id="rId1"/>
              </p:custDataLst>
            </p:nvPr>
          </p:nvSpPr>
          <p:spPr>
            <a:xfrm>
              <a:off x="1097509" y="272072"/>
              <a:ext cx="2243595" cy="635109"/>
            </a:xfrm>
            <a:prstGeom prst="rect">
              <a:avLst/>
            </a:prstGeom>
            <a:noFill/>
            <a:effectLst>
              <a:glow rad="203200">
                <a:srgbClr val="FF0000">
                  <a:alpha val="69000"/>
                </a:srgbClr>
              </a:glow>
            </a:effectLst>
          </p:spPr>
          <p:txBody>
            <a:bodyPr wrap="square" lIns="0" tIns="0" rIns="0" bIns="0" rtlCol="0">
              <a:spAutoFit/>
            </a:bodyPr>
            <a:lstStyle/>
            <a:p>
              <a:pPr algn="ctr" defTabSz="457200">
                <a:defRPr/>
              </a:pPr>
              <a:r>
                <a:rPr lang="zh-CN" altLang="en-US" sz="2800" b="1" dirty="0" smtClean="0">
                  <a:latin typeface="微软雅黑" panose="020B0503020204020204" pitchFamily="34" charset="-122"/>
                  <a:ea typeface="微软雅黑" panose="020B0503020204020204" pitchFamily="34" charset="-122"/>
                  <a:sym typeface="庞门正道标题体" panose="02010600030101010101" pitchFamily="2" charset="-122"/>
                </a:rPr>
                <a:t>重难透析</a:t>
              </a:r>
              <a:endParaRPr lang="zh-CN" altLang="en-US" sz="2800" b="1" dirty="0">
                <a:latin typeface="微软雅黑" panose="020B0503020204020204" pitchFamily="34" charset="-122"/>
                <a:ea typeface="微软雅黑" panose="020B0503020204020204" pitchFamily="34" charset="-122"/>
                <a:sym typeface="庞门正道标题体" panose="02010600030101010101" pitchFamily="2" charset="-122"/>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4975" y="648000"/>
            <a:ext cx="11831400" cy="400304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(3)名词性物主代词相当于“形容词性物主代词+名词”,可用作主语、宾语或表语。</a:t>
            </a:r>
            <a:endParaRPr lang="zh-CN" altLang="en-US" sz="241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We'll have to separate his things from </a:t>
            </a:r>
            <a:r>
              <a:rPr lang="zh-CN" altLang="en-US" sz="2410" u="sng" kern="0" dirty="0">
                <a:solidFill>
                  <a:srgbClr val="000000"/>
                </a:solidFill>
                <a:latin typeface="Times New Roman" panose="02020603050405020304" pitchFamily="65" charset="-122"/>
                <a:ea typeface="微软雅黑" panose="020B0503020204020204" pitchFamily="34" charset="-122"/>
              </a:rPr>
              <a:t>yours</a:t>
            </a:r>
            <a:r>
              <a:rPr lang="zh-CN" altLang="en-US" sz="2410" kern="0" dirty="0">
                <a:solidFill>
                  <a:srgbClr val="000000"/>
                </a:solidFill>
                <a:latin typeface="Times New Roman" panose="02020603050405020304" pitchFamily="65" charset="-122"/>
                <a:ea typeface="微软雅黑" panose="020B0503020204020204" pitchFamily="34" charset="-122"/>
              </a:rPr>
              <a:t>.</a:t>
            </a:r>
            <a:endParaRPr lang="zh-CN" altLang="en-US" sz="241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我们得把他的东西同你的分开。</a:t>
            </a:r>
            <a:endParaRPr lang="zh-CN" altLang="en-US" sz="241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(4)名词性物主代词还可与of连用,构成双重所有格。</a:t>
            </a:r>
            <a:endParaRPr lang="zh-CN" altLang="en-US" sz="241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I know </a:t>
            </a:r>
            <a:r>
              <a:rPr lang="zh-CN" altLang="en-US" sz="2410" u="sng" kern="0" dirty="0">
                <a:solidFill>
                  <a:srgbClr val="000000"/>
                </a:solidFill>
                <a:latin typeface="Times New Roman" panose="02020603050405020304" pitchFamily="65" charset="-122"/>
                <a:ea typeface="微软雅黑" panose="020B0503020204020204" pitchFamily="34" charset="-122"/>
              </a:rPr>
              <a:t>each brother of his</a:t>
            </a:r>
            <a:r>
              <a:rPr lang="zh-CN" altLang="en-US" sz="2410" kern="0" dirty="0">
                <a:solidFill>
                  <a:srgbClr val="000000"/>
                </a:solidFill>
                <a:latin typeface="Times New Roman" panose="02020603050405020304" pitchFamily="65" charset="-122"/>
                <a:ea typeface="微软雅黑" panose="020B0503020204020204" pitchFamily="34" charset="-122"/>
              </a:rPr>
              <a:t>.</a:t>
            </a:r>
            <a:endParaRPr lang="zh-CN" altLang="en-US" sz="241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我认识他的每个兄弟。</a:t>
            </a:r>
            <a:endParaRPr lang="zh-CN" altLang="en-US" sz="2410" dirty="0"/>
          </a:p>
          <a:p>
            <a:pPr marL="0" indent="0" eaLnBrk="0" latinLnBrk="1" hangingPunct="0">
              <a:lnSpc>
                <a:spcPct val="150000"/>
              </a:lnSpc>
              <a:spcBef>
                <a:spcPts val="145"/>
              </a:spcBef>
              <a:buNone/>
            </a:pPr>
            <a:endParaRPr lang="zh-CN" altLang="en-US" sz="241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11492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2.反身代词</a:t>
            </a:r>
            <a:endParaRPr lang="zh-CN" altLang="en-US" sz="2800" b="1"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(1)反身代词可以在句中作宾语、表语或同位语。</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By being positive about </a:t>
            </a:r>
            <a:r>
              <a:rPr lang="zh-CN" altLang="en-US" sz="2410" u="sng" kern="0" dirty="0">
                <a:solidFill>
                  <a:srgbClr val="000000"/>
                </a:solidFill>
                <a:latin typeface="Times New Roman" panose="02020603050405020304" pitchFamily="65" charset="-122"/>
                <a:ea typeface="微软雅黑" panose="020B0503020204020204" pitchFamily="34" charset="-122"/>
              </a:rPr>
              <a:t>myself </a:t>
            </a:r>
            <a:r>
              <a:rPr lang="zh-CN" altLang="en-US" sz="2410" kern="0" dirty="0">
                <a:solidFill>
                  <a:srgbClr val="000000"/>
                </a:solidFill>
                <a:latin typeface="Times New Roman" panose="02020603050405020304" pitchFamily="65" charset="-122"/>
                <a:ea typeface="微软雅黑" panose="020B0503020204020204" pitchFamily="34" charset="-122"/>
              </a:rPr>
              <a:t>and my body, I became both happier and healthier.(</a:t>
            </a:r>
            <a:r>
              <a:rPr lang="zh-CN" altLang="en-US" sz="2410" kern="0" dirty="0">
                <a:solidFill>
                  <a:srgbClr val="000000"/>
                </a:solidFill>
                <a:latin typeface="楷体" panose="02010609060101010101" charset="-122"/>
                <a:ea typeface="楷体" panose="02010609060101010101" charset="-122"/>
                <a:cs typeface="楷体" panose="02010609060101010101" charset="-122"/>
              </a:rPr>
              <a:t>作介词</a:t>
            </a:r>
            <a:br>
              <a:rPr sz="2410" kern="0" dirty="0">
                <a:solidFill>
                  <a:srgbClr val="000000"/>
                </a:solidFill>
                <a:latin typeface="楷体" panose="02010609060101010101" charset="-122"/>
                <a:ea typeface="楷体" panose="02010609060101010101" charset="-122"/>
                <a:cs typeface="楷体" panose="02010609060101010101" charset="-122"/>
              </a:rPr>
            </a:br>
            <a:r>
              <a:rPr lang="zh-CN" altLang="en-US" sz="2410" kern="0" dirty="0">
                <a:solidFill>
                  <a:srgbClr val="000000"/>
                </a:solidFill>
                <a:latin typeface="楷体" panose="02010609060101010101" charset="-122"/>
                <a:ea typeface="楷体" panose="02010609060101010101" charset="-122"/>
                <a:cs typeface="楷体" panose="02010609060101010101" charset="-122"/>
              </a:rPr>
              <a:t>的宾语</a:t>
            </a:r>
            <a:r>
              <a:rPr lang="zh-CN" altLang="en-US" sz="2410" kern="0" dirty="0">
                <a:solidFill>
                  <a:srgbClr val="000000"/>
                </a:solidFill>
                <a:latin typeface="Times New Roman" panose="02020603050405020304" pitchFamily="65" charset="-122"/>
                <a:ea typeface="微软雅黑" panose="020B0503020204020204" pitchFamily="34" charset="-122"/>
              </a:rPr>
              <a:t>)通过积极看待自我和自己的身体,我变得更加快乐,也更加健康了。</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Can you drag </a:t>
            </a:r>
            <a:r>
              <a:rPr lang="zh-CN" altLang="en-US" sz="2410" u="sng" kern="0" dirty="0">
                <a:solidFill>
                  <a:srgbClr val="000000"/>
                </a:solidFill>
                <a:latin typeface="Times New Roman" panose="02020603050405020304" pitchFamily="65" charset="-122"/>
                <a:ea typeface="微软雅黑" panose="020B0503020204020204" pitchFamily="34" charset="-122"/>
              </a:rPr>
              <a:t>yourself</a:t>
            </a:r>
            <a:r>
              <a:rPr lang="zh-CN" altLang="en-US" sz="2410" kern="0" dirty="0">
                <a:solidFill>
                  <a:srgbClr val="000000"/>
                </a:solidFill>
                <a:latin typeface="Times New Roman" panose="02020603050405020304" pitchFamily="65" charset="-122"/>
                <a:ea typeface="微软雅黑" panose="020B0503020204020204" pitchFamily="34" charset="-122"/>
              </a:rPr>
              <a:t> away from playing the mobile phone?(</a:t>
            </a:r>
            <a:r>
              <a:rPr lang="zh-CN" altLang="en-US" sz="2410" kern="0" dirty="0">
                <a:solidFill>
                  <a:srgbClr val="000000"/>
                </a:solidFill>
                <a:latin typeface="楷体" panose="02010609060101010101" charset="-122"/>
                <a:ea typeface="楷体" panose="02010609060101010101" charset="-122"/>
                <a:cs typeface="楷体" panose="02010609060101010101" charset="-122"/>
              </a:rPr>
              <a:t>作动词的宾语</a:t>
            </a:r>
            <a:r>
              <a:rPr lang="zh-CN" altLang="en-US" sz="2410" kern="0" dirty="0">
                <a:solidFill>
                  <a:srgbClr val="000000"/>
                </a:solidFill>
                <a:latin typeface="Times New Roman" panose="02020603050405020304" pitchFamily="65" charset="-122"/>
                <a:ea typeface="微软雅黑" panose="020B0503020204020204" pitchFamily="34" charset="-122"/>
              </a:rPr>
              <a:t>)</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你能停止玩手机吗?</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I haven't been feeling </a:t>
            </a:r>
            <a:r>
              <a:rPr lang="zh-CN" altLang="en-US" sz="2410" u="sng" kern="0" dirty="0">
                <a:solidFill>
                  <a:srgbClr val="000000"/>
                </a:solidFill>
                <a:latin typeface="Times New Roman" panose="02020603050405020304" pitchFamily="65" charset="-122"/>
                <a:ea typeface="微软雅黑" panose="020B0503020204020204" pitchFamily="34" charset="-122"/>
              </a:rPr>
              <a:t>myself</a:t>
            </a:r>
            <a:r>
              <a:rPr lang="zh-CN" altLang="en-US" sz="2410" kern="0" dirty="0">
                <a:solidFill>
                  <a:srgbClr val="000000"/>
                </a:solidFill>
                <a:latin typeface="Times New Roman" panose="02020603050405020304" pitchFamily="65" charset="-122"/>
                <a:ea typeface="微软雅黑" panose="020B0503020204020204" pitchFamily="34" charset="-122"/>
              </a:rPr>
              <a:t> lately.(</a:t>
            </a:r>
            <a:r>
              <a:rPr lang="zh-CN" altLang="en-US" sz="2410" kern="0" dirty="0">
                <a:solidFill>
                  <a:srgbClr val="000000"/>
                </a:solidFill>
                <a:latin typeface="楷体" panose="02010609060101010101" charset="-122"/>
                <a:ea typeface="楷体" panose="02010609060101010101" charset="-122"/>
                <a:cs typeface="楷体" panose="02010609060101010101" charset="-122"/>
              </a:rPr>
              <a:t>作表语</a:t>
            </a:r>
            <a:r>
              <a:rPr lang="zh-CN" altLang="en-US" sz="2410" kern="0" dirty="0">
                <a:solidFill>
                  <a:srgbClr val="000000"/>
                </a:solidFill>
                <a:latin typeface="Times New Roman" panose="02020603050405020304" pitchFamily="65" charset="-122"/>
                <a:ea typeface="微软雅黑" panose="020B0503020204020204" pitchFamily="34" charset="-122"/>
              </a:rPr>
              <a:t>)我近来一直感觉不舒服。</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Communication </a:t>
            </a:r>
            <a:r>
              <a:rPr lang="zh-CN" altLang="en-US" sz="2410" u="sng" kern="0" dirty="0">
                <a:solidFill>
                  <a:srgbClr val="000000"/>
                </a:solidFill>
                <a:latin typeface="Times New Roman" panose="02020603050405020304" pitchFamily="65" charset="-122"/>
                <a:ea typeface="微软雅黑" panose="020B0503020204020204" pitchFamily="34" charset="-122"/>
              </a:rPr>
              <a:t>itself</a:t>
            </a:r>
            <a:r>
              <a:rPr lang="zh-CN" altLang="en-US" sz="2410" kern="0" dirty="0">
                <a:solidFill>
                  <a:srgbClr val="000000"/>
                </a:solidFill>
                <a:latin typeface="Times New Roman" panose="02020603050405020304" pitchFamily="65" charset="-122"/>
                <a:ea typeface="微软雅黑" panose="020B0503020204020204" pitchFamily="34" charset="-122"/>
              </a:rPr>
              <a:t> is probably best understood as a dialogue process.(</a:t>
            </a:r>
            <a:r>
              <a:rPr lang="zh-CN" altLang="en-US" sz="2410" kern="0" dirty="0">
                <a:solidFill>
                  <a:srgbClr val="000000"/>
                </a:solidFill>
                <a:latin typeface="楷体" panose="02010609060101010101" charset="-122"/>
                <a:ea typeface="楷体" panose="02010609060101010101" charset="-122"/>
                <a:cs typeface="楷体" panose="02010609060101010101" charset="-122"/>
              </a:rPr>
              <a:t>作同位语,表示强</a:t>
            </a:r>
            <a:br>
              <a:rPr lang="zh-CN" altLang="en-US" sz="2410" kern="0" dirty="0">
                <a:solidFill>
                  <a:srgbClr val="000000"/>
                </a:solidFill>
                <a:latin typeface="楷体" panose="02010609060101010101" charset="-122"/>
                <a:ea typeface="楷体" panose="02010609060101010101" charset="-122"/>
                <a:cs typeface="楷体" panose="02010609060101010101" charset="-122"/>
              </a:rPr>
            </a:br>
            <a:r>
              <a:rPr lang="zh-CN" altLang="en-US" sz="2410" kern="0" dirty="0">
                <a:solidFill>
                  <a:srgbClr val="000000"/>
                </a:solidFill>
                <a:latin typeface="楷体" panose="02010609060101010101" charset="-122"/>
                <a:ea typeface="楷体" panose="02010609060101010101" charset="-122"/>
                <a:cs typeface="楷体" panose="02010609060101010101" charset="-122"/>
              </a:rPr>
              <a:t>调</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smtClean="0">
                <a:solidFill>
                  <a:srgbClr val="000000"/>
                </a:solidFill>
                <a:latin typeface="Times New Roman" panose="02020603050405020304" pitchFamily="65" charset="-122"/>
                <a:ea typeface="微软雅黑" panose="020B0503020204020204" pitchFamily="34" charset="-122"/>
              </a:rPr>
              <a:t>沟通本身可能最好被理解为一个对话过程。</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00304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(2)含有反身代词的固定搭配</a:t>
            </a:r>
            <a:endParaRPr lang="zh-CN" altLang="en-US"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①与介词搭配</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by oneself独自地</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for oneself为自己</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in oneself本身,本质上</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of oneself自动地</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to oneself独享</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②与动词搭配</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accustom/adapt oneself to 习惯于,适应</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amuse oneself 自娱自乐</a:t>
            </a:r>
            <a:endParaRPr lang="zh-CN" altLang="en-US" dirty="0"/>
          </a:p>
        </p:txBody>
      </p:sp>
      <p:sp>
        <p:nvSpPr>
          <p:cNvPr id="3" name="TextBox 2"/>
          <p:cNvSpPr txBox="1"/>
          <p:nvPr/>
        </p:nvSpPr>
        <p:spPr>
          <a:xfrm>
            <a:off x="394975" y="4572300"/>
            <a:ext cx="11831400" cy="2279015"/>
          </a:xfrm>
          <a:prstGeom prst="rect">
            <a:avLst/>
          </a:prstGeom>
          <a:noFill/>
        </p:spPr>
        <p:txBody>
          <a:bodyPr wrap="square" lIns="0" tIns="0" rIns="0" bIns="0" rtlCol="0">
            <a:spAutoFit/>
          </a:bodyPr>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apply oneself to专心于</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behave oneself表现得体,有礼貌</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devote/dedicate oneself to致力于,献身于</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dress oneself给某人自己穿衣服</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help oneself to为自己取用</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make oneself at home舒适自在;无拘无束</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seat oneself就座</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00304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3.指示代词</a:t>
            </a:r>
            <a:endParaRPr lang="zh-CN" altLang="en-US" sz="2800" b="1"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(1)指示代词可用作主语、宾语或表语。</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(2)this和these一般用来指下文将要讲到的事物,而that和those则指上文已经讲过的事物。</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How about </a:t>
            </a:r>
            <a:r>
              <a:rPr lang="zh-CN" altLang="en-US" sz="2410" u="sng" kern="0" dirty="0">
                <a:solidFill>
                  <a:srgbClr val="000000"/>
                </a:solidFill>
                <a:latin typeface="Times New Roman" panose="02020603050405020304" pitchFamily="65" charset="-122"/>
                <a:ea typeface="微软雅黑" panose="020B0503020204020204" pitchFamily="34" charset="-122"/>
              </a:rPr>
              <a:t>this</a:t>
            </a:r>
            <a:r>
              <a:rPr lang="zh-CN" altLang="en-US" sz="2410" kern="0" dirty="0">
                <a:solidFill>
                  <a:srgbClr val="000000"/>
                </a:solidFill>
                <a:latin typeface="Times New Roman" panose="02020603050405020304" pitchFamily="65" charset="-122"/>
                <a:ea typeface="微软雅黑" panose="020B0503020204020204" pitchFamily="34" charset="-122"/>
              </a:rPr>
              <a:t>: you stay here while I go to the store? </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你待在这里,我去商店,这样好不好?</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He didn't come. </a:t>
            </a:r>
            <a:r>
              <a:rPr lang="zh-CN" altLang="en-US" sz="2410" u="sng" kern="0" dirty="0">
                <a:solidFill>
                  <a:srgbClr val="000000"/>
                </a:solidFill>
                <a:latin typeface="Times New Roman" panose="02020603050405020304" pitchFamily="65" charset="-122"/>
                <a:ea typeface="微软雅黑" panose="020B0503020204020204" pitchFamily="34" charset="-122"/>
              </a:rPr>
              <a:t>That</a:t>
            </a:r>
            <a:r>
              <a:rPr lang="zh-CN" altLang="en-US" sz="2410" kern="0" dirty="0">
                <a:solidFill>
                  <a:srgbClr val="000000"/>
                </a:solidFill>
                <a:latin typeface="Times New Roman" panose="02020603050405020304" pitchFamily="65" charset="-122"/>
                <a:ea typeface="微软雅黑" panose="020B0503020204020204" pitchFamily="34" charset="-122"/>
              </a:rPr>
              <a:t> is why he didn't know.</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他没来,那就是他不知道的原因。</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4975" y="648000"/>
            <a:ext cx="11831400" cy="406019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endParaRPr lang="zh-CN" altLang="en-US" dirty="0">
              <a:ea typeface="微软雅黑" panose="020B0503020204020204" pitchFamily="34" charset="-122"/>
            </a:endParaRPr>
          </a:p>
          <a:p>
            <a:pPr algn="l" eaLnBrk="0" latinLnBrk="1" hangingPunct="0">
              <a:lnSpc>
                <a:spcPct val="150000"/>
              </a:lnSpc>
              <a:spcBef>
                <a:spcPts val="145"/>
              </a:spcBef>
              <a:buClrTx/>
              <a:buSzTx/>
              <a:buFontTx/>
            </a:pPr>
            <a:r>
              <a:rPr lang="zh-CN" altLang="en-US" sz="2410" b="1" kern="0" dirty="0">
                <a:solidFill>
                  <a:srgbClr val="953FA3"/>
                </a:solidFill>
                <a:latin typeface="Times New Roman" panose="02020603050405020304" pitchFamily="65" charset="-122"/>
                <a:ea typeface="微软雅黑" panose="020B0503020204020204" pitchFamily="34" charset="-122"/>
              </a:rPr>
              <a:t>注意</a:t>
            </a:r>
            <a:r>
              <a:rPr lang="zh-CN" altLang="en-US" sz="2410" kern="0" dirty="0">
                <a:solidFill>
                  <a:srgbClr val="000000"/>
                </a:solidFill>
                <a:latin typeface="Times New Roman" panose="02020603050405020304" pitchFamily="65" charset="-122"/>
                <a:ea typeface="微软雅黑" panose="020B0503020204020204" pitchFamily="34" charset="-122"/>
              </a:rPr>
              <a:t>    </a:t>
            </a:r>
            <a:r>
              <a:rPr lang="zh-CN" altLang="en-US" sz="2000" kern="0" dirty="0" smtClean="0">
                <a:solidFill>
                  <a:srgbClr val="000000"/>
                </a:solidFill>
                <a:latin typeface="Times New Roman" panose="02020603050405020304" pitchFamily="18" charset="0"/>
                <a:ea typeface="宋体" panose="02010600030101010101" pitchFamily="2" charset="-122"/>
              </a:rPr>
              <a:t>this和that也可用于表示程度,此时用作副词,相当于so,意为“如此,那么”。</a:t>
            </a:r>
            <a:endParaRPr lang="zh-CN" altLang="en-US" sz="2000" kern="0" dirty="0" smtClean="0">
              <a:solidFill>
                <a:srgbClr val="000000"/>
              </a:solidFill>
              <a:latin typeface="Times New Roman" panose="02020603050405020304" pitchFamily="18" charset="0"/>
              <a:ea typeface="宋体" panose="02010600030101010101" pitchFamily="2" charset="-122"/>
            </a:endParaRPr>
          </a:p>
          <a:p>
            <a:pPr algn="l" eaLnBrk="0" latinLnBrk="1" hangingPunct="0">
              <a:lnSpc>
                <a:spcPct val="150000"/>
              </a:lnSpc>
              <a:spcBef>
                <a:spcPts val="145"/>
              </a:spcBef>
              <a:buClrTx/>
              <a:buSzTx/>
              <a:buFontTx/>
            </a:pPr>
            <a:r>
              <a:rPr lang="zh-CN" altLang="en-US" sz="2000" kern="0" dirty="0" smtClean="0">
                <a:solidFill>
                  <a:srgbClr val="000000"/>
                </a:solidFill>
                <a:latin typeface="Times New Roman" panose="02020603050405020304" pitchFamily="18" charset="0"/>
                <a:ea typeface="宋体" panose="02010600030101010101" pitchFamily="2" charset="-122"/>
              </a:rPr>
              <a:t>They never expected to be quite </a:t>
            </a:r>
            <a:r>
              <a:rPr lang="zh-CN" altLang="en-US" sz="2000" u="sng" kern="0" dirty="0" smtClean="0">
                <a:solidFill>
                  <a:srgbClr val="000000"/>
                </a:solidFill>
                <a:latin typeface="Times New Roman" panose="02020603050405020304" pitchFamily="18" charset="0"/>
                <a:ea typeface="宋体" panose="02010600030101010101" pitchFamily="2" charset="-122"/>
              </a:rPr>
              <a:t>this</a:t>
            </a:r>
            <a:r>
              <a:rPr lang="zh-CN" altLang="en-US" sz="2000" kern="0" dirty="0" smtClean="0">
                <a:solidFill>
                  <a:srgbClr val="000000"/>
                </a:solidFill>
                <a:latin typeface="Times New Roman" panose="02020603050405020304" pitchFamily="18" charset="0"/>
                <a:ea typeface="宋体" panose="02010600030101010101" pitchFamily="2" charset="-122"/>
              </a:rPr>
              <a:t> successful.</a:t>
            </a:r>
            <a:endParaRPr lang="zh-CN" altLang="en-US" sz="2000" kern="0" dirty="0" smtClean="0">
              <a:solidFill>
                <a:srgbClr val="000000"/>
              </a:solidFill>
              <a:latin typeface="Times New Roman" panose="02020603050405020304" pitchFamily="18" charset="0"/>
              <a:ea typeface="宋体" panose="02010600030101010101" pitchFamily="2" charset="-122"/>
            </a:endParaRPr>
          </a:p>
          <a:p>
            <a:pPr algn="l" eaLnBrk="0" latinLnBrk="1" hangingPunct="0">
              <a:lnSpc>
                <a:spcPct val="150000"/>
              </a:lnSpc>
              <a:spcBef>
                <a:spcPts val="145"/>
              </a:spcBef>
              <a:buClrTx/>
              <a:buSzTx/>
              <a:buFontTx/>
            </a:pPr>
            <a:r>
              <a:rPr lang="zh-CN" altLang="en-US" sz="2000" kern="0" dirty="0" smtClean="0">
                <a:solidFill>
                  <a:srgbClr val="000000"/>
                </a:solidFill>
                <a:latin typeface="Times New Roman" panose="02020603050405020304" pitchFamily="18" charset="0"/>
                <a:ea typeface="宋体" panose="02010600030101010101" pitchFamily="2" charset="-122"/>
              </a:rPr>
              <a:t>他们从未想到会如此成功。</a:t>
            </a:r>
            <a:endParaRPr lang="zh-CN" altLang="en-US" sz="2000" kern="0" dirty="0" smtClean="0">
              <a:solidFill>
                <a:srgbClr val="000000"/>
              </a:solidFill>
              <a:latin typeface="Times New Roman" panose="02020603050405020304" pitchFamily="18" charset="0"/>
              <a:ea typeface="宋体" panose="02010600030101010101" pitchFamily="2" charset="-122"/>
            </a:endParaRPr>
          </a:p>
          <a:p>
            <a:pPr algn="l" eaLnBrk="0" latinLnBrk="1" hangingPunct="0">
              <a:lnSpc>
                <a:spcPct val="150000"/>
              </a:lnSpc>
              <a:spcBef>
                <a:spcPts val="145"/>
              </a:spcBef>
              <a:buClrTx/>
              <a:buSzTx/>
              <a:buFontTx/>
            </a:pPr>
            <a:r>
              <a:rPr lang="zh-CN" altLang="en-US" sz="2000" kern="0" dirty="0" smtClean="0">
                <a:solidFill>
                  <a:srgbClr val="000000"/>
                </a:solidFill>
                <a:latin typeface="Times New Roman" panose="02020603050405020304" pitchFamily="18" charset="0"/>
                <a:ea typeface="宋体" panose="02010600030101010101" pitchFamily="2" charset="-122"/>
              </a:rPr>
              <a:t>I can't solve the problem. I am not </a:t>
            </a:r>
            <a:r>
              <a:rPr lang="zh-CN" altLang="en-US" sz="2000" u="sng" kern="0" dirty="0" smtClean="0">
                <a:solidFill>
                  <a:srgbClr val="000000"/>
                </a:solidFill>
                <a:latin typeface="Times New Roman" panose="02020603050405020304" pitchFamily="18" charset="0"/>
                <a:ea typeface="宋体" panose="02010600030101010101" pitchFamily="2" charset="-122"/>
              </a:rPr>
              <a:t>that</a:t>
            </a:r>
            <a:r>
              <a:rPr lang="zh-CN" altLang="en-US" sz="2000" kern="0" dirty="0" smtClean="0">
                <a:solidFill>
                  <a:srgbClr val="000000"/>
                </a:solidFill>
                <a:latin typeface="Times New Roman" panose="02020603050405020304" pitchFamily="18" charset="0"/>
                <a:ea typeface="宋体" panose="02010600030101010101" pitchFamily="2" charset="-122"/>
              </a:rPr>
              <a:t> clever.</a:t>
            </a:r>
            <a:endParaRPr lang="zh-CN" altLang="en-US" sz="2000" kern="0" dirty="0" smtClean="0">
              <a:solidFill>
                <a:srgbClr val="000000"/>
              </a:solidFill>
              <a:latin typeface="Times New Roman" panose="02020603050405020304" pitchFamily="18" charset="0"/>
              <a:ea typeface="宋体" panose="02010600030101010101" pitchFamily="2" charset="-122"/>
            </a:endParaRPr>
          </a:p>
          <a:p>
            <a:pPr algn="l" eaLnBrk="0" latinLnBrk="1" hangingPunct="0">
              <a:lnSpc>
                <a:spcPct val="150000"/>
              </a:lnSpc>
              <a:spcBef>
                <a:spcPts val="145"/>
              </a:spcBef>
              <a:buClrTx/>
              <a:buSzTx/>
              <a:buFontTx/>
            </a:pPr>
            <a:r>
              <a:rPr lang="zh-CN" altLang="en-US" sz="2000" kern="0" dirty="0" smtClean="0">
                <a:solidFill>
                  <a:srgbClr val="000000"/>
                </a:solidFill>
                <a:latin typeface="Times New Roman" panose="02020603050405020304" pitchFamily="18" charset="0"/>
                <a:ea typeface="宋体" panose="02010600030101010101" pitchFamily="2" charset="-122"/>
              </a:rPr>
              <a:t>这个问题我解决不了。我没那么聪明。</a:t>
            </a:r>
            <a:endParaRPr lang="zh-CN" altLang="en-US" sz="2000" kern="0" dirty="0" smtClean="0">
              <a:solidFill>
                <a:srgbClr val="000000"/>
              </a:solidFill>
              <a:latin typeface="Times New Roman" panose="02020603050405020304" pitchFamily="18" charset="0"/>
              <a:ea typeface="宋体" panose="02010600030101010101" pitchFamily="2" charset="-122"/>
            </a:endParaRPr>
          </a:p>
          <a:p>
            <a:pPr algn="l" eaLnBrk="0" latinLnBrk="1" hangingPunct="0">
              <a:lnSpc>
                <a:spcPct val="150000"/>
              </a:lnSpc>
              <a:spcBef>
                <a:spcPts val="145"/>
              </a:spcBef>
              <a:buClrTx/>
              <a:buSzTx/>
              <a:buFontTx/>
            </a:pPr>
            <a:r>
              <a:rPr lang="zh-CN" altLang="en-US" sz="2410" kern="0" dirty="0">
                <a:solidFill>
                  <a:srgbClr val="000000"/>
                </a:solidFill>
                <a:latin typeface="Times New Roman" panose="02020603050405020304" pitchFamily="65" charset="-122"/>
                <a:ea typeface="微软雅黑" panose="020B0503020204020204" pitchFamily="34" charset="-122"/>
              </a:rPr>
              <a:t>(3)such可用作指示代词,指代上文所述的人或事物。</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algn="l" eaLnBrk="0" latinLnBrk="1" hangingPunct="0">
              <a:lnSpc>
                <a:spcPct val="150000"/>
              </a:lnSpc>
              <a:spcBef>
                <a:spcPts val="145"/>
              </a:spcBef>
              <a:buClrTx/>
              <a:buSzTx/>
              <a:buFontTx/>
            </a:pPr>
            <a:r>
              <a:rPr lang="zh-CN" altLang="en-US" sz="2410" kern="0" dirty="0">
                <a:solidFill>
                  <a:srgbClr val="000000"/>
                </a:solidFill>
                <a:latin typeface="Times New Roman" panose="02020603050405020304" pitchFamily="65" charset="-122"/>
                <a:ea typeface="微软雅黑" panose="020B0503020204020204" pitchFamily="34" charset="-122"/>
              </a:rPr>
              <a:t>If you retained a receipt, please enclose a copy of such. 如果你留有收据,请附上收据副本。</a:t>
            </a:r>
            <a:endParaRPr lang="zh-CN" altLang="en-US" sz="2410" kern="0" dirty="0">
              <a:solidFill>
                <a:srgbClr val="000000"/>
              </a:solidFill>
              <a:latin typeface="Times New Roman" panose="02020603050405020304" pitchFamily="65"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938145"/>
          </a:xfrm>
          <a:prstGeom prst="rect">
            <a:avLst/>
          </a:prstGeom>
          <a:noFill/>
        </p:spPr>
        <p:txBody>
          <a:bodyPr wrap="square" lIns="0" tIns="0" rIns="0" bIns="0" rtlCol="0">
            <a:spAutoFit/>
          </a:bodyPr>
          <a:lstStyle/>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000" kern="0" dirty="0" smtClean="0">
                <a:solidFill>
                  <a:srgbClr val="000000"/>
                </a:solidFill>
                <a:latin typeface="Times New Roman" panose="02020603050405020304" pitchFamily="18" charset="0"/>
                <a:ea typeface="宋体" panose="02010600030101010101" pitchFamily="2" charset="-122"/>
                <a:sym typeface="Times New Roman" panose="02020603050405020304" pitchFamily="18" charset="0"/>
              </a:rPr>
              <a:t>such可也用作限定词,与名词连用作定语,意为“这样的”。其前也可加不定代</a:t>
            </a:r>
            <a:br>
              <a:rPr lang="zh-CN" altLang="en-US" sz="2000" kern="0" dirty="0" smtClean="0">
                <a:solidFill>
                  <a:srgbClr val="000000"/>
                </a:solidFill>
                <a:latin typeface="Times New Roman" panose="02020603050405020304" pitchFamily="18" charset="0"/>
                <a:ea typeface="宋体" panose="02010600030101010101" pitchFamily="2" charset="-122"/>
                <a:sym typeface="Times New Roman" panose="02020603050405020304" pitchFamily="18" charset="0"/>
              </a:rPr>
            </a:br>
            <a:r>
              <a:rPr lang="zh-CN" altLang="en-US" sz="2000" kern="0" dirty="0" smtClean="0">
                <a:solidFill>
                  <a:srgbClr val="000000"/>
                </a:solidFill>
                <a:latin typeface="Times New Roman" panose="02020603050405020304" pitchFamily="18" charset="0"/>
                <a:ea typeface="宋体" panose="02010600030101010101" pitchFamily="2" charset="-122"/>
                <a:sym typeface="Times New Roman" panose="02020603050405020304" pitchFamily="18" charset="0"/>
              </a:rPr>
              <a:t>词。</a:t>
            </a:r>
            <a:endParaRPr lang="zh-CN" altLang="en-US" sz="2000" kern="0" dirty="0" smtClean="0">
              <a:solidFill>
                <a:srgbClr val="000000"/>
              </a:solidFill>
              <a:latin typeface="Times New Roman" panose="02020603050405020304" pitchFamily="18" charset="0"/>
              <a:ea typeface="宋体" panose="02010600030101010101" pitchFamily="2" charset="-122"/>
              <a:sym typeface="Times New Roman" panose="02020603050405020304" pitchFamily="18" charset="0"/>
            </a:endParaRPr>
          </a:p>
          <a:p>
            <a:pPr algn="l" eaLnBrk="0" latinLnBrk="1" hangingPunct="0">
              <a:lnSpc>
                <a:spcPct val="150000"/>
              </a:lnSpc>
              <a:spcBef>
                <a:spcPts val="145"/>
              </a:spcBef>
              <a:buClrTx/>
              <a:buSzTx/>
              <a:buFontTx/>
            </a:pPr>
            <a:r>
              <a:rPr lang="zh-CN" altLang="en-US" sz="2000" kern="0" dirty="0" smtClean="0">
                <a:solidFill>
                  <a:srgbClr val="000000"/>
                </a:solidFill>
                <a:latin typeface="Times New Roman" panose="02020603050405020304" pitchFamily="18" charset="0"/>
                <a:ea typeface="宋体" panose="02010600030101010101" pitchFamily="2" charset="-122"/>
              </a:rPr>
              <a:t>There's no </a:t>
            </a:r>
            <a:r>
              <a:rPr lang="zh-CN" altLang="en-US" sz="2000" u="sng" kern="0" dirty="0" smtClean="0">
                <a:solidFill>
                  <a:srgbClr val="000000"/>
                </a:solidFill>
                <a:latin typeface="Times New Roman" panose="02020603050405020304" pitchFamily="18" charset="0"/>
                <a:ea typeface="宋体" panose="02010600030101010101" pitchFamily="2" charset="-122"/>
              </a:rPr>
              <a:t>such</a:t>
            </a:r>
            <a:r>
              <a:rPr lang="zh-CN" altLang="en-US" sz="2000" kern="0" dirty="0" smtClean="0">
                <a:solidFill>
                  <a:srgbClr val="000000"/>
                </a:solidFill>
                <a:latin typeface="Times New Roman" panose="02020603050405020304" pitchFamily="18" charset="0"/>
                <a:ea typeface="宋体" panose="02010600030101010101" pitchFamily="2" charset="-122"/>
              </a:rPr>
              <a:t> thing as a free lunch.</a:t>
            </a:r>
            <a:endParaRPr lang="zh-CN" altLang="en-US" sz="2000" kern="0" dirty="0" smtClean="0">
              <a:solidFill>
                <a:srgbClr val="000000"/>
              </a:solidFill>
              <a:latin typeface="Times New Roman" panose="02020603050405020304" pitchFamily="18" charset="0"/>
              <a:ea typeface="宋体" panose="02010600030101010101" pitchFamily="2" charset="-122"/>
            </a:endParaRPr>
          </a:p>
          <a:p>
            <a:pPr algn="l" eaLnBrk="0" latinLnBrk="1" hangingPunct="0">
              <a:lnSpc>
                <a:spcPct val="150000"/>
              </a:lnSpc>
              <a:spcBef>
                <a:spcPts val="145"/>
              </a:spcBef>
              <a:buClrTx/>
              <a:buSzTx/>
              <a:buFontTx/>
            </a:pPr>
            <a:r>
              <a:rPr lang="zh-CN" altLang="en-US" sz="2000" kern="0" dirty="0" smtClean="0">
                <a:solidFill>
                  <a:srgbClr val="000000"/>
                </a:solidFill>
                <a:latin typeface="Times New Roman" panose="02020603050405020304" pitchFamily="18" charset="0"/>
                <a:ea typeface="宋体" panose="02010600030101010101" pitchFamily="2" charset="-122"/>
              </a:rPr>
              <a:t>天下没有免费的午餐。 </a:t>
            </a:r>
            <a:endParaRPr lang="zh-CN" altLang="en-US" sz="2000" kern="0" dirty="0" smtClean="0">
              <a:solidFill>
                <a:srgbClr val="000000"/>
              </a:solidFill>
              <a:latin typeface="Times New Roman" panose="02020603050405020304" pitchFamily="18" charset="0"/>
              <a:ea typeface="宋体" panose="02010600030101010101" pitchFamily="2" charset="-122"/>
            </a:endParaRPr>
          </a:p>
          <a:p>
            <a:pPr algn="l" eaLnBrk="0" latinLnBrk="1" hangingPunct="0">
              <a:lnSpc>
                <a:spcPct val="150000"/>
              </a:lnSpc>
              <a:spcBef>
                <a:spcPts val="145"/>
              </a:spcBef>
              <a:buClrTx/>
              <a:buSzTx/>
              <a:buFontTx/>
            </a:pPr>
            <a:r>
              <a:rPr lang="zh-CN" altLang="en-US" sz="2000" kern="0" dirty="0" smtClean="0">
                <a:solidFill>
                  <a:srgbClr val="000000"/>
                </a:solidFill>
                <a:latin typeface="Times New Roman" panose="02020603050405020304" pitchFamily="18" charset="0"/>
                <a:ea typeface="宋体" panose="02010600030101010101" pitchFamily="2" charset="-122"/>
              </a:rPr>
              <a:t>Any </a:t>
            </a:r>
            <a:r>
              <a:rPr lang="zh-CN" altLang="en-US" sz="2000" u="sng" kern="0" dirty="0" smtClean="0">
                <a:solidFill>
                  <a:srgbClr val="000000"/>
                </a:solidFill>
                <a:latin typeface="Times New Roman" panose="02020603050405020304" pitchFamily="18" charset="0"/>
                <a:ea typeface="宋体" panose="02010600030101010101" pitchFamily="2" charset="-122"/>
              </a:rPr>
              <a:t>such</a:t>
            </a:r>
            <a:r>
              <a:rPr lang="zh-CN" altLang="en-US" sz="2000" kern="0" dirty="0" smtClean="0">
                <a:solidFill>
                  <a:srgbClr val="000000"/>
                </a:solidFill>
                <a:latin typeface="Times New Roman" panose="02020603050405020304" pitchFamily="18" charset="0"/>
                <a:ea typeface="宋体" panose="02010600030101010101" pitchFamily="2" charset="-122"/>
              </a:rPr>
              <a:t> request is sure to be turned down.</a:t>
            </a:r>
            <a:endParaRPr lang="zh-CN" altLang="en-US" sz="2000" kern="0" dirty="0" smtClean="0">
              <a:solidFill>
                <a:srgbClr val="000000"/>
              </a:solidFill>
              <a:latin typeface="Times New Roman" panose="02020603050405020304" pitchFamily="18" charset="0"/>
              <a:ea typeface="宋体" panose="02010600030101010101" pitchFamily="2" charset="-122"/>
            </a:endParaRPr>
          </a:p>
          <a:p>
            <a:pPr algn="l" eaLnBrk="0" latinLnBrk="1" hangingPunct="0">
              <a:lnSpc>
                <a:spcPct val="150000"/>
              </a:lnSpc>
              <a:spcBef>
                <a:spcPts val="145"/>
              </a:spcBef>
              <a:buClrTx/>
              <a:buSzTx/>
              <a:buFontTx/>
            </a:pPr>
            <a:r>
              <a:rPr lang="zh-CN" altLang="en-US" sz="2000" kern="0" dirty="0" smtClean="0">
                <a:solidFill>
                  <a:srgbClr val="000000"/>
                </a:solidFill>
                <a:latin typeface="Times New Roman" panose="02020603050405020304" pitchFamily="18" charset="0"/>
                <a:ea typeface="宋体" panose="02010600030101010101" pitchFamily="2" charset="-122"/>
              </a:rPr>
              <a:t>任何这类要求肯定会碰壁。</a:t>
            </a:r>
            <a:endParaRPr lang="zh-CN" altLang="en-US" sz="2000" kern="0" dirty="0" smtClean="0">
              <a:solidFill>
                <a:srgbClr val="00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467660"/>
            <a:ext cx="11831400" cy="113030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4.不定代词</a:t>
            </a:r>
            <a:endParaRPr lang="zh-CN" altLang="en-US" b="1" dirty="0" smtClean="0"/>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(1)both、all、either、any、neither、none</a:t>
            </a:r>
            <a:endParaRPr lang="zh-CN" altLang="en-US" dirty="0"/>
          </a:p>
        </p:txBody>
      </p:sp>
      <p:graphicFrame>
        <p:nvGraphicFramePr>
          <p:cNvPr id="3" name="表格 2"/>
          <p:cNvGraphicFramePr>
            <a:graphicFrameLocks noGrp="1"/>
          </p:cNvGraphicFramePr>
          <p:nvPr/>
        </p:nvGraphicFramePr>
        <p:xfrm>
          <a:off x="468000" y="1619919"/>
          <a:ext cx="11268000" cy="1689984"/>
        </p:xfrm>
        <a:graphic>
          <a:graphicData uri="http://schemas.openxmlformats.org/drawingml/2006/table">
            <a:tbl>
              <a:tblPr/>
              <a:tblGrid>
                <a:gridCol w="2817000"/>
                <a:gridCol w="2817000"/>
                <a:gridCol w="2817000"/>
                <a:gridCol w="2817000"/>
              </a:tblGrid>
              <a:tr h="563328">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都</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任何一个</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都不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r>
              <a:tr h="563328">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两者</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both</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either</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neither</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r>
              <a:tr h="563328">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三者或三者以上</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all</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any</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none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nchor="ctr" anchorCtr="0"/>
                </a:tc>
              </a:tr>
            </a:tbl>
          </a:graphicData>
        </a:graphic>
      </p:graphicFrame>
      <p:sp>
        <p:nvSpPr>
          <p:cNvPr id="4" name="TextBox 2"/>
          <p:cNvSpPr txBox="1"/>
          <p:nvPr/>
        </p:nvSpPr>
        <p:spPr>
          <a:xfrm>
            <a:off x="533405" y="3419953"/>
            <a:ext cx="11831400" cy="227901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kern="0" dirty="0">
                <a:latin typeface="Times New Roman" panose="02020603050405020304" pitchFamily="65" charset="-122"/>
                <a:ea typeface="微软雅黑" panose="020B0503020204020204" pitchFamily="34" charset="-122"/>
              </a:rPr>
              <a:t>I've bought two books;you can have </a:t>
            </a:r>
            <a:r>
              <a:rPr lang="zh-CN" altLang="en-US" sz="2410" u="sng" kern="0" dirty="0">
                <a:latin typeface="Times New Roman" panose="02020603050405020304" pitchFamily="65" charset="-122"/>
                <a:ea typeface="微软雅黑" panose="020B0503020204020204" pitchFamily="34" charset="-122"/>
              </a:rPr>
              <a:t>either</a:t>
            </a:r>
            <a:r>
              <a:rPr lang="zh-CN" altLang="en-US" sz="2410" kern="0" dirty="0">
                <a:latin typeface="Times New Roman" panose="02020603050405020304" pitchFamily="65" charset="-122"/>
                <a:ea typeface="微软雅黑" panose="020B0503020204020204" pitchFamily="34" charset="-122"/>
              </a:rPr>
              <a:t>.</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我买了两本书,你要哪本都行。</a:t>
            </a:r>
            <a:endParaRPr lang="zh-CN" altLang="en-US" sz="2800" dirty="0"/>
          </a:p>
          <a:p>
            <a:pPr eaLnBrk="0" latinLnBrk="1" hangingPunct="0">
              <a:lnSpc>
                <a:spcPct val="150000"/>
              </a:lnSpc>
              <a:spcBef>
                <a:spcPts val="145"/>
              </a:spcBef>
            </a:pPr>
            <a:r>
              <a:rPr lang="zh-CN" altLang="en-US" sz="2410" u="sng" kern="0" dirty="0">
                <a:solidFill>
                  <a:srgbClr val="000000"/>
                </a:solidFill>
                <a:latin typeface="Times New Roman" panose="02020603050405020304" pitchFamily="65" charset="-122"/>
                <a:ea typeface="微软雅黑" panose="020B0503020204020204" pitchFamily="34" charset="-122"/>
              </a:rPr>
              <a:t>Any</a:t>
            </a:r>
            <a:r>
              <a:rPr lang="zh-CN" altLang="en-US" sz="2410" kern="0" dirty="0">
                <a:solidFill>
                  <a:srgbClr val="000000"/>
                </a:solidFill>
                <a:latin typeface="Times New Roman" panose="02020603050405020304" pitchFamily="65" charset="-122"/>
                <a:ea typeface="微软雅黑" panose="020B0503020204020204" pitchFamily="34" charset="-122"/>
              </a:rPr>
              <a:t> child who breaks the rules will be punished.凡违反规定的孩子都要受罚。</a:t>
            </a:r>
            <a:endParaRPr lang="zh-CN" altLang="en-US" sz="2800" dirty="0"/>
          </a:p>
          <a:p>
            <a:pPr eaLnBrk="0" latinLnBrk="1" hangingPunct="0">
              <a:lnSpc>
                <a:spcPct val="150000"/>
              </a:lnSpc>
              <a:spcBef>
                <a:spcPts val="145"/>
              </a:spcBef>
            </a:pPr>
            <a:r>
              <a:rPr lang="zh-CN" altLang="en-US" sz="2410" u="sng" kern="0" dirty="0">
                <a:solidFill>
                  <a:srgbClr val="000000"/>
                </a:solidFill>
                <a:latin typeface="Times New Roman" panose="02020603050405020304" pitchFamily="65" charset="-122"/>
                <a:ea typeface="微软雅黑" panose="020B0503020204020204" pitchFamily="34" charset="-122"/>
              </a:rPr>
              <a:t>None</a:t>
            </a:r>
            <a:r>
              <a:rPr lang="zh-CN" altLang="en-US" sz="2410" kern="0" dirty="0">
                <a:solidFill>
                  <a:srgbClr val="000000"/>
                </a:solidFill>
                <a:latin typeface="Times New Roman" panose="02020603050405020304" pitchFamily="65" charset="-122"/>
                <a:ea typeface="微软雅黑" panose="020B0503020204020204" pitchFamily="34" charset="-122"/>
              </a:rPr>
              <a:t> of these pens works.这些钢笔没有一支能用。</a:t>
            </a:r>
            <a:endParaRPr lang="zh-CN" altLang="en-US" sz="2800" dirty="0"/>
          </a:p>
        </p:txBody>
      </p:sp>
      <p:sp>
        <p:nvSpPr>
          <p:cNvPr id="5" name="文本框 4"/>
          <p:cNvSpPr txBox="1"/>
          <p:nvPr/>
        </p:nvSpPr>
        <p:spPr>
          <a:xfrm>
            <a:off x="467360" y="5699125"/>
            <a:ext cx="11576050" cy="1127125"/>
          </a:xfrm>
          <a:prstGeom prst="rect">
            <a:avLst/>
          </a:prstGeom>
          <a:noFill/>
        </p:spPr>
        <p:txBody>
          <a:bodyPr wrap="square" rtlCol="0" anchor="t">
            <a:spAutoFit/>
          </a:bodyPr>
          <a:p>
            <a:pPr marL="0" indent="0" eaLnBrk="0" latinLnBrk="1" hangingPunct="0">
              <a:lnSpc>
                <a:spcPct val="150000"/>
              </a:lnSpc>
              <a:spcBef>
                <a:spcPts val="145"/>
              </a:spcBef>
              <a:buNone/>
            </a:pPr>
            <a:r>
              <a:rPr lang="zh-CN" altLang="en-US" sz="2410" b="1" kern="0" dirty="0">
                <a:solidFill>
                  <a:srgbClr val="953FA3"/>
                </a:solidFill>
                <a:latin typeface="Times New Roman" panose="02020603050405020304" pitchFamily="65" charset="-122"/>
                <a:ea typeface="微软雅黑" panose="020B0503020204020204" pitchFamily="34" charset="-122"/>
                <a:sym typeface="+mn-ea"/>
              </a:rPr>
              <a:t>易混易错</a:t>
            </a: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　</a:t>
            </a:r>
            <a:r>
              <a:rPr lang="zh-CN" altLang="en-US" sz="2000" kern="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部分否定与全部否定</a:t>
            </a: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all、both等与not连用时,表示部分否定;如果表示全部否定,需用none或neither。</a:t>
            </a:r>
            <a:endParaRPr lang="zh-CN" altLang="en-US" sz="2000" kern="0"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081969"/>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(2)each</a:t>
            </a:r>
            <a:endParaRPr lang="en-US" altLang="zh-CN"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each</a:t>
            </a:r>
            <a:r>
              <a:rPr lang="zh-CN" altLang="en-US" sz="2410" kern="0" dirty="0">
                <a:solidFill>
                  <a:srgbClr val="000000"/>
                </a:solidFill>
                <a:latin typeface="Times New Roman" panose="02020603050405020304" pitchFamily="65" charset="-122"/>
                <a:ea typeface="微软雅黑" panose="020B0503020204020204" pitchFamily="34" charset="-122"/>
              </a:rPr>
              <a:t>作不定代词</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表示两个或两个以上中的每一个</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侧重个体</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强调“每一个”</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可在句</a:t>
            </a:r>
            <a:br>
              <a:rPr lang="zh-CN" altLang="en-US" sz="2410" kern="0" dirty="0">
                <a:solidFill>
                  <a:srgbClr val="000000"/>
                </a:solidFill>
                <a:latin typeface="Times New Roman" panose="02020603050405020304" pitchFamily="65" charset="-122"/>
                <a:ea typeface="微软雅黑" panose="020B0503020204020204" pitchFamily="34" charset="-122"/>
              </a:rPr>
            </a:br>
            <a:r>
              <a:rPr lang="zh-CN" altLang="en-US" sz="2410" kern="0" dirty="0">
                <a:solidFill>
                  <a:srgbClr val="000000"/>
                </a:solidFill>
                <a:latin typeface="Times New Roman" panose="02020603050405020304" pitchFamily="65" charset="-122"/>
                <a:ea typeface="微软雅黑" panose="020B0503020204020204" pitchFamily="34" charset="-122"/>
              </a:rPr>
              <a:t>中作主语、宾语或同位语</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也可用作定语。作定语时</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常考查与</a:t>
            </a:r>
            <a:r>
              <a:rPr lang="en-US" altLang="zh-CN" sz="2410" kern="0" dirty="0">
                <a:solidFill>
                  <a:srgbClr val="000000"/>
                </a:solidFill>
                <a:latin typeface="Times New Roman" panose="02020603050405020304" pitchFamily="65" charset="-122"/>
                <a:ea typeface="微软雅黑" panose="020B0503020204020204" pitchFamily="34" charset="-122"/>
              </a:rPr>
              <a:t>every</a:t>
            </a:r>
            <a:r>
              <a:rPr lang="zh-CN" altLang="en-US" sz="2410" kern="0" dirty="0">
                <a:solidFill>
                  <a:srgbClr val="000000"/>
                </a:solidFill>
                <a:latin typeface="Times New Roman" panose="02020603050405020304" pitchFamily="65" charset="-122"/>
                <a:ea typeface="微软雅黑" panose="020B0503020204020204" pitchFamily="34" charset="-122"/>
              </a:rPr>
              <a:t>的区别。</a:t>
            </a:r>
            <a:r>
              <a:rPr lang="en-US" altLang="zh-CN" sz="2410" kern="0" dirty="0">
                <a:solidFill>
                  <a:srgbClr val="000000"/>
                </a:solidFill>
                <a:latin typeface="Times New Roman" panose="02020603050405020304" pitchFamily="65" charset="-122"/>
                <a:ea typeface="微软雅黑" panose="020B0503020204020204" pitchFamily="34" charset="-122"/>
              </a:rPr>
              <a:t>every</a:t>
            </a:r>
            <a:r>
              <a:rPr lang="zh-CN" altLang="en-US" sz="2410" kern="0" dirty="0">
                <a:solidFill>
                  <a:srgbClr val="000000"/>
                </a:solidFill>
                <a:latin typeface="Times New Roman" panose="02020603050405020304" pitchFamily="65" charset="-122"/>
                <a:ea typeface="微软雅黑" panose="020B0503020204020204" pitchFamily="34" charset="-122"/>
              </a:rPr>
              <a:t>表</a:t>
            </a:r>
            <a:br>
              <a:rPr lang="zh-CN" altLang="en-US" sz="2410" kern="0" dirty="0">
                <a:solidFill>
                  <a:srgbClr val="000000"/>
                </a:solidFill>
                <a:latin typeface="Times New Roman" panose="02020603050405020304" pitchFamily="65" charset="-122"/>
                <a:ea typeface="微软雅黑" panose="020B0503020204020204" pitchFamily="34" charset="-122"/>
              </a:rPr>
            </a:br>
            <a:r>
              <a:rPr lang="zh-CN" altLang="en-US" sz="2410" kern="0" dirty="0">
                <a:solidFill>
                  <a:srgbClr val="000000"/>
                </a:solidFill>
                <a:latin typeface="Times New Roman" panose="02020603050405020304" pitchFamily="65" charset="-122"/>
                <a:ea typeface="微软雅黑" panose="020B0503020204020204" pitchFamily="34" charset="-122"/>
              </a:rPr>
              <a:t>示三个或三个以上中的每一个</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侧重整体</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强调全部。</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u="sng" kern="0" dirty="0">
                <a:solidFill>
                  <a:srgbClr val="000000"/>
                </a:solidFill>
                <a:latin typeface="Times New Roman" panose="02020603050405020304" pitchFamily="65" charset="-122"/>
                <a:ea typeface="楷体_GB2312" pitchFamily="65" charset="-122"/>
              </a:rPr>
              <a:t>Each</a:t>
            </a:r>
            <a:r>
              <a:rPr lang="zh-CN" altLang="en-US" sz="2410" kern="0" dirty="0">
                <a:solidFill>
                  <a:srgbClr val="000000"/>
                </a:solidFill>
                <a:latin typeface="Times New Roman" panose="02020603050405020304" pitchFamily="65" charset="-122"/>
                <a:ea typeface="楷体_GB2312" pitchFamily="65" charset="-122"/>
              </a:rPr>
              <a:t> of my children goes to a different school.</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我的几个孩子各自在不同的学校上学。</a:t>
            </a:r>
            <a:endParaRPr lang="zh-CN" altLang="en-US" sz="2800" dirty="0"/>
          </a:p>
          <a:p>
            <a:pPr eaLnBrk="0" latinLnBrk="1" hangingPunct="0">
              <a:lnSpc>
                <a:spcPct val="150000"/>
              </a:lnSpc>
              <a:spcBef>
                <a:spcPts val="145"/>
              </a:spcBef>
            </a:pPr>
            <a:r>
              <a:rPr lang="zh-CN" altLang="en-US" sz="2410" u="sng" kern="0" dirty="0">
                <a:solidFill>
                  <a:srgbClr val="000000"/>
                </a:solidFill>
                <a:latin typeface="Times New Roman" panose="02020603050405020304" pitchFamily="65" charset="-122"/>
                <a:ea typeface="微软雅黑" panose="020B0503020204020204" pitchFamily="34" charset="-122"/>
              </a:rPr>
              <a:t>Every</a:t>
            </a:r>
            <a:r>
              <a:rPr lang="zh-CN" altLang="en-US" sz="2410" kern="0" dirty="0">
                <a:solidFill>
                  <a:srgbClr val="000000"/>
                </a:solidFill>
                <a:latin typeface="Times New Roman" panose="02020603050405020304" pitchFamily="65" charset="-122"/>
                <a:ea typeface="微软雅黑" panose="020B0503020204020204" pitchFamily="34" charset="-122"/>
              </a:rPr>
              <a:t> student has to take the examination. </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 All students have to take the examination.</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每个学生都必须参加考试。</a:t>
            </a:r>
            <a:endParaRPr lang="zh-CN" altLang="en-US" sz="2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39801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410" kern="0" dirty="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000" kern="0" dirty="0">
                <a:solidFill>
                  <a:srgbClr val="000000"/>
                </a:solidFill>
                <a:latin typeface="Times New Roman" panose="02020603050405020304" pitchFamily="18" charset="0"/>
                <a:ea typeface="宋体" panose="02010600030101010101" pitchFamily="2" charset="-122"/>
                <a:sym typeface="Times New Roman" panose="02020603050405020304" pitchFamily="18" charset="0"/>
              </a:rPr>
              <a:t> ①each作主语的同位语时,谓语动词仍与句子主语保持一致。</a:t>
            </a:r>
            <a:endParaRPr lang="zh-CN" altLang="en-US" sz="2000" kern="0" dirty="0">
              <a:latin typeface="Times New Roman" panose="02020603050405020304" pitchFamily="18" charset="0"/>
              <a:ea typeface="宋体" panose="02010600030101010101" pitchFamily="2" charset="-122"/>
              <a:sym typeface="Times New Roman" panose="02020603050405020304" pitchFamily="18" charset="0"/>
            </a:endParaRPr>
          </a:p>
          <a:p>
            <a:pPr eaLnBrk="0" latinLnBrk="1" hangingPunct="0">
              <a:lnSpc>
                <a:spcPct val="150000"/>
              </a:lnSpc>
              <a:spcBef>
                <a:spcPts val="145"/>
              </a:spcBef>
            </a:pPr>
            <a:r>
              <a:rPr lang="zh-CN" altLang="en-US" sz="2000" kern="0" dirty="0">
                <a:solidFill>
                  <a:srgbClr val="000000"/>
                </a:solidFill>
                <a:latin typeface="Times New Roman" panose="02020603050405020304" pitchFamily="18" charset="0"/>
                <a:ea typeface="宋体" panose="02010600030101010101" pitchFamily="2" charset="-122"/>
              </a:rPr>
              <a:t>We </a:t>
            </a:r>
            <a:r>
              <a:rPr lang="zh-CN" altLang="en-US" sz="2000" u="sng" kern="0" dirty="0">
                <a:solidFill>
                  <a:srgbClr val="000000"/>
                </a:solidFill>
                <a:latin typeface="Times New Roman" panose="02020603050405020304" pitchFamily="18" charset="0"/>
                <a:ea typeface="宋体" panose="02010600030101010101" pitchFamily="2" charset="-122"/>
              </a:rPr>
              <a:t>each</a:t>
            </a:r>
            <a:r>
              <a:rPr lang="zh-CN" altLang="en-US" sz="2000" kern="0" dirty="0">
                <a:solidFill>
                  <a:srgbClr val="000000"/>
                </a:solidFill>
                <a:latin typeface="Times New Roman" panose="02020603050405020304" pitchFamily="18" charset="0"/>
                <a:ea typeface="宋体" panose="02010600030101010101" pitchFamily="2" charset="-122"/>
              </a:rPr>
              <a:t> have a different point of view.</a:t>
            </a:r>
            <a:endParaRPr lang="zh-CN" altLang="en-US" sz="2000" kern="0" dirty="0">
              <a:solidFill>
                <a:srgbClr val="000000"/>
              </a:solidFill>
              <a:latin typeface="Times New Roman" panose="02020603050405020304" pitchFamily="18" charset="0"/>
              <a:ea typeface="宋体" panose="02010600030101010101" pitchFamily="2" charset="-122"/>
            </a:endParaRPr>
          </a:p>
          <a:p>
            <a:pPr eaLnBrk="0" latinLnBrk="1" hangingPunct="0">
              <a:lnSpc>
                <a:spcPct val="150000"/>
              </a:lnSpc>
              <a:spcBef>
                <a:spcPts val="145"/>
              </a:spcBef>
            </a:pPr>
            <a:r>
              <a:rPr lang="zh-CN" altLang="en-US" sz="2000" kern="0" dirty="0">
                <a:solidFill>
                  <a:srgbClr val="000000"/>
                </a:solidFill>
                <a:latin typeface="Times New Roman" panose="02020603050405020304" pitchFamily="18" charset="0"/>
                <a:ea typeface="宋体" panose="02010600030101010101" pitchFamily="2" charset="-122"/>
              </a:rPr>
              <a:t>我们每个人都有不同的观点。</a:t>
            </a:r>
            <a:endParaRPr lang="zh-CN" altLang="en-US" sz="2000" kern="0" dirty="0">
              <a:solidFill>
                <a:srgbClr val="000000"/>
              </a:solidFill>
              <a:latin typeface="Times New Roman" panose="02020603050405020304" pitchFamily="18" charset="0"/>
              <a:ea typeface="宋体" panose="02010600030101010101" pitchFamily="2" charset="-122"/>
            </a:endParaRPr>
          </a:p>
          <a:p>
            <a:pPr eaLnBrk="0" latinLnBrk="1" hangingPunct="0">
              <a:lnSpc>
                <a:spcPct val="150000"/>
              </a:lnSpc>
              <a:spcBef>
                <a:spcPts val="145"/>
              </a:spcBef>
            </a:pPr>
            <a:r>
              <a:rPr lang="zh-CN" altLang="en-US" sz="2000" kern="0" dirty="0">
                <a:solidFill>
                  <a:srgbClr val="000000"/>
                </a:solidFill>
                <a:latin typeface="Times New Roman" panose="02020603050405020304" pitchFamily="18" charset="0"/>
                <a:ea typeface="宋体" panose="02010600030101010101" pitchFamily="2" charset="-122"/>
              </a:rPr>
              <a:t>②each可与of连用,后接名词复数;而every不能与of连用。</a:t>
            </a:r>
            <a:endParaRPr lang="zh-CN" altLang="en-US" sz="2000" kern="0" dirty="0">
              <a:solidFill>
                <a:srgbClr val="000000"/>
              </a:solidFill>
              <a:latin typeface="Times New Roman" panose="02020603050405020304" pitchFamily="18" charset="0"/>
              <a:ea typeface="宋体" panose="02010600030101010101" pitchFamily="2" charset="-122"/>
            </a:endParaRPr>
          </a:p>
          <a:p>
            <a:pPr eaLnBrk="0" latinLnBrk="1" hangingPunct="0">
              <a:lnSpc>
                <a:spcPct val="150000"/>
              </a:lnSpc>
              <a:spcBef>
                <a:spcPts val="145"/>
              </a:spcBef>
            </a:pPr>
            <a:r>
              <a:rPr lang="zh-CN" altLang="en-US" sz="2000" u="sng" kern="0" dirty="0">
                <a:solidFill>
                  <a:srgbClr val="000000"/>
                </a:solidFill>
                <a:latin typeface="Times New Roman" panose="02020603050405020304" pitchFamily="18" charset="0"/>
                <a:ea typeface="宋体" panose="02010600030101010101" pitchFamily="2" charset="-122"/>
              </a:rPr>
              <a:t>Each</a:t>
            </a:r>
            <a:r>
              <a:rPr lang="zh-CN" altLang="en-US" sz="2000" kern="0" dirty="0">
                <a:solidFill>
                  <a:srgbClr val="000000"/>
                </a:solidFill>
                <a:latin typeface="Times New Roman" panose="02020603050405020304" pitchFamily="18" charset="0"/>
                <a:ea typeface="宋体" panose="02010600030101010101" pitchFamily="2" charset="-122"/>
              </a:rPr>
              <a:t> of the answers is worth 20 points.</a:t>
            </a:r>
            <a:endParaRPr lang="zh-CN" altLang="en-US" sz="2000" kern="0" dirty="0">
              <a:solidFill>
                <a:srgbClr val="000000"/>
              </a:solidFill>
              <a:latin typeface="Times New Roman" panose="02020603050405020304" pitchFamily="18" charset="0"/>
              <a:ea typeface="宋体" panose="02010600030101010101" pitchFamily="2" charset="-122"/>
            </a:endParaRPr>
          </a:p>
          <a:p>
            <a:pPr eaLnBrk="0" latinLnBrk="1" hangingPunct="0">
              <a:lnSpc>
                <a:spcPct val="150000"/>
              </a:lnSpc>
              <a:spcBef>
                <a:spcPts val="145"/>
              </a:spcBef>
            </a:pPr>
            <a:r>
              <a:rPr lang="zh-CN" altLang="en-US" sz="2000" kern="0" dirty="0">
                <a:solidFill>
                  <a:srgbClr val="000000"/>
                </a:solidFill>
                <a:latin typeface="Times New Roman" panose="02020603050405020304" pitchFamily="18" charset="0"/>
                <a:ea typeface="宋体" panose="02010600030101010101" pitchFamily="2" charset="-122"/>
              </a:rPr>
              <a:t>每题为20分。</a:t>
            </a:r>
            <a:endParaRPr lang="zh-CN" altLang="en-US" sz="2000" kern="0" dirty="0">
              <a:solidFill>
                <a:srgbClr val="000000"/>
              </a:solidFill>
              <a:latin typeface="Times New Roman" panose="02020603050405020304" pitchFamily="18" charset="0"/>
              <a:ea typeface="宋体" panose="02010600030101010101" pitchFamily="2" charset="-122"/>
            </a:endParaRPr>
          </a:p>
          <a:p>
            <a:pPr eaLnBrk="0" latinLnBrk="1" hangingPunct="0">
              <a:lnSpc>
                <a:spcPct val="150000"/>
              </a:lnSpc>
              <a:spcBef>
                <a:spcPts val="145"/>
              </a:spcBef>
            </a:pPr>
            <a:r>
              <a:rPr lang="zh-CN" altLang="en-US" sz="2000" kern="0" dirty="0">
                <a:solidFill>
                  <a:srgbClr val="000000"/>
                </a:solidFill>
                <a:latin typeface="Times New Roman" panose="02020603050405020304" pitchFamily="18" charset="0"/>
                <a:ea typeface="宋体" panose="02010600030101010101" pitchFamily="2" charset="-122"/>
              </a:rPr>
              <a:t>③every可与not连用表示部分否定,意为“并非每一个”;而each通常不用于否定句。</a:t>
            </a:r>
            <a:endParaRPr lang="zh-CN" altLang="en-US" sz="2000" kern="0" dirty="0">
              <a:solidFill>
                <a:srgbClr val="000000"/>
              </a:solidFill>
              <a:latin typeface="Times New Roman" panose="02020603050405020304" pitchFamily="18" charset="0"/>
              <a:ea typeface="宋体" panose="02010600030101010101" pitchFamily="2" charset="-122"/>
            </a:endParaRPr>
          </a:p>
          <a:p>
            <a:pPr eaLnBrk="0" latinLnBrk="1" hangingPunct="0">
              <a:lnSpc>
                <a:spcPct val="150000"/>
              </a:lnSpc>
              <a:spcBef>
                <a:spcPts val="145"/>
              </a:spcBef>
            </a:pPr>
            <a:r>
              <a:rPr lang="zh-CN" altLang="en-US" sz="2000" kern="0" dirty="0">
                <a:solidFill>
                  <a:srgbClr val="000000"/>
                </a:solidFill>
                <a:latin typeface="Times New Roman" panose="02020603050405020304" pitchFamily="18" charset="0"/>
                <a:ea typeface="宋体" panose="02010600030101010101" pitchFamily="2" charset="-122"/>
              </a:rPr>
              <a:t>I couldn't hear </a:t>
            </a:r>
            <a:r>
              <a:rPr lang="zh-CN" altLang="en-US" sz="2000" u="sng" kern="0" dirty="0">
                <a:solidFill>
                  <a:srgbClr val="000000"/>
                </a:solidFill>
                <a:latin typeface="Times New Roman" panose="02020603050405020304" pitchFamily="18" charset="0"/>
                <a:ea typeface="宋体" panose="02010600030101010101" pitchFamily="2" charset="-122"/>
              </a:rPr>
              <a:t>every</a:t>
            </a:r>
            <a:r>
              <a:rPr lang="zh-CN" altLang="en-US" sz="2000" kern="0" dirty="0">
                <a:solidFill>
                  <a:srgbClr val="000000"/>
                </a:solidFill>
                <a:latin typeface="Times New Roman" panose="02020603050405020304" pitchFamily="18" charset="0"/>
                <a:ea typeface="宋体" panose="02010600030101010101" pitchFamily="2" charset="-122"/>
              </a:rPr>
              <a:t> word of his speech.</a:t>
            </a:r>
            <a:endParaRPr lang="zh-CN" altLang="en-US" sz="2000" kern="0" dirty="0">
              <a:solidFill>
                <a:srgbClr val="000000"/>
              </a:solidFill>
              <a:latin typeface="Times New Roman" panose="02020603050405020304" pitchFamily="18" charset="0"/>
              <a:ea typeface="宋体" panose="02010600030101010101" pitchFamily="2" charset="-122"/>
            </a:endParaRPr>
          </a:p>
          <a:p>
            <a:pPr marL="0" indent="0" eaLnBrk="0" latinLnBrk="1" hangingPunct="0">
              <a:lnSpc>
                <a:spcPct val="150000"/>
              </a:lnSpc>
              <a:spcBef>
                <a:spcPts val="145"/>
              </a:spcBef>
              <a:buNone/>
            </a:pPr>
            <a:r>
              <a:rPr lang="zh-CN" altLang="en-US" sz="2000" kern="0" dirty="0">
                <a:solidFill>
                  <a:srgbClr val="000000"/>
                </a:solidFill>
                <a:latin typeface="Times New Roman" panose="02020603050405020304" pitchFamily="18" charset="0"/>
                <a:ea typeface="宋体" panose="02010600030101010101" pitchFamily="2" charset="-122"/>
              </a:rPr>
              <a:t>他的演讲并非每一句我都能听见。</a:t>
            </a:r>
            <a:endParaRPr lang="zh-CN" altLang="en-US" sz="2000" kern="0"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539949"/>
            <a:ext cx="11831400" cy="497444"/>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(3)one用于指代可数名词,既可以指人,又可以指物。</a:t>
            </a:r>
            <a:endParaRPr lang="zh-CN" altLang="en-US" dirty="0"/>
          </a:p>
        </p:txBody>
      </p:sp>
      <p:graphicFrame>
        <p:nvGraphicFramePr>
          <p:cNvPr id="3" name="表格 2"/>
          <p:cNvGraphicFramePr>
            <a:graphicFrameLocks noGrp="1"/>
          </p:cNvGraphicFramePr>
          <p:nvPr/>
        </p:nvGraphicFramePr>
        <p:xfrm>
          <a:off x="468000" y="1260029"/>
          <a:ext cx="11268000" cy="2816639"/>
        </p:xfrm>
        <a:graphic>
          <a:graphicData uri="http://schemas.openxmlformats.org/drawingml/2006/table">
            <a:tbl>
              <a:tblPr/>
              <a:tblGrid>
                <a:gridCol w="2817000"/>
                <a:gridCol w="2817000"/>
                <a:gridCol w="2817000"/>
                <a:gridCol w="2817000"/>
              </a:tblGrid>
              <a:tr h="563328">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用法</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不定代词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替换词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563328">
                <a:tc rowSpan="2">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代替上文出现的单数名词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one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泛指</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a/an+单数名词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563328">
                <a:tc vMerge="1">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one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特指</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that或the+单数名词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563328">
                <a:tc rowSpan="2">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代替上文出现的复数名词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ones</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泛指</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零冠词+复数名词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563327">
                <a:tc vMerge="1">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ones</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特指</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those或the+复数名词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
        <p:nvSpPr>
          <p:cNvPr id="4" name="TextBox 2"/>
          <p:cNvSpPr txBox="1"/>
          <p:nvPr/>
        </p:nvSpPr>
        <p:spPr>
          <a:xfrm>
            <a:off x="468000" y="4181678"/>
            <a:ext cx="11831400" cy="1125052"/>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The books on the desk are better than </a:t>
            </a:r>
            <a:r>
              <a:rPr lang="zh-CN" altLang="en-US" sz="2410" u="sng" kern="0" dirty="0">
                <a:solidFill>
                  <a:srgbClr val="000000"/>
                </a:solidFill>
                <a:latin typeface="Times New Roman" panose="02020603050405020304" pitchFamily="65" charset="-122"/>
                <a:ea typeface="微软雅黑" panose="020B0503020204020204" pitchFamily="34" charset="-122"/>
              </a:rPr>
              <a:t>the ones</a:t>
            </a:r>
            <a:r>
              <a:rPr lang="zh-CN" altLang="en-US" sz="2410" kern="0" dirty="0">
                <a:solidFill>
                  <a:srgbClr val="000000"/>
                </a:solidFill>
                <a:latin typeface="Times New Roman" panose="02020603050405020304" pitchFamily="65" charset="-122"/>
                <a:ea typeface="微软雅黑" panose="020B0503020204020204" pitchFamily="34" charset="-122"/>
              </a:rPr>
              <a:t>(=those/the books) under the desk.</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桌子上面的书比桌子下面的那些好。</a:t>
            </a:r>
            <a:endParaRPr lang="zh-CN" alt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113030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5.it的用法</a:t>
            </a:r>
            <a:endParaRPr lang="zh-CN" altLang="en-US" b="1" dirty="0"/>
          </a:p>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(1)基本用法</a:t>
            </a:r>
            <a:endParaRPr lang="zh-CN" altLang="en-US" dirty="0"/>
          </a:p>
        </p:txBody>
      </p:sp>
      <p:graphicFrame>
        <p:nvGraphicFramePr>
          <p:cNvPr id="3" name="表格 2"/>
          <p:cNvGraphicFramePr>
            <a:graphicFrameLocks noGrp="1"/>
          </p:cNvGraphicFramePr>
          <p:nvPr/>
        </p:nvGraphicFramePr>
        <p:xfrm>
          <a:off x="468000" y="1908101"/>
          <a:ext cx="11268000" cy="3268791"/>
        </p:xfrm>
        <a:graphic>
          <a:graphicData uri="http://schemas.openxmlformats.org/drawingml/2006/table">
            <a:tbl>
              <a:tblPr/>
              <a:tblGrid>
                <a:gridCol w="2303726"/>
                <a:gridCol w="8964274"/>
              </a:tblGrid>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用法</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例句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指代上文提及的事物</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other room has two beds in </a:t>
                      </a:r>
                      <a:r>
                        <a:rPr lang="zh-CN" altLang="en-US" sz="1815" u="sng" kern="0" dirty="0" smtClean="0">
                          <a:solidFill>
                            <a:srgbClr val="000000"/>
                          </a:solidFill>
                          <a:latin typeface="Times New Roman" panose="02020603050405020304" pitchFamily="65" charset="-122"/>
                          <a:ea typeface="宋体" panose="02010600030101010101" pitchFamily="2" charset="-122"/>
                        </a:rPr>
                        <a:t>it</a:t>
                      </a:r>
                      <a:r>
                        <a:rPr lang="zh-CN" altLang="en-US" sz="1815" kern="0" dirty="0" smtClean="0">
                          <a:solidFill>
                            <a:srgbClr val="000000"/>
                          </a:solidFill>
                          <a:latin typeface="Times New Roman" panose="02020603050405020304" pitchFamily="65" charset="-122"/>
                          <a:ea typeface="宋体" panose="02010600030101010101" pitchFamily="2" charset="-122"/>
                        </a:rPr>
                        <a:t>.另一个房间里有两张床。</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用以明确身份或指代不明性别的婴儿</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It</a:t>
                      </a:r>
                      <a:r>
                        <a:rPr lang="zh-CN" altLang="en-US" sz="1815" kern="0" dirty="0" smtClean="0">
                          <a:solidFill>
                            <a:srgbClr val="000000"/>
                          </a:solidFill>
                          <a:latin typeface="Times New Roman" panose="02020603050405020304" pitchFamily="65" charset="-122"/>
                          <a:ea typeface="宋体" panose="02010600030101010101" pitchFamily="2" charset="-122"/>
                        </a:rPr>
                        <a:t>'s your mother on the phone.是你母亲来的电话。</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baby cried because </a:t>
                      </a:r>
                      <a:r>
                        <a:rPr lang="zh-CN" altLang="en-US" sz="1815" u="sng" kern="0" dirty="0" smtClean="0">
                          <a:solidFill>
                            <a:srgbClr val="000000"/>
                          </a:solidFill>
                          <a:latin typeface="Times New Roman" panose="02020603050405020304" pitchFamily="65" charset="-122"/>
                          <a:ea typeface="宋体" panose="02010600030101010101" pitchFamily="2" charset="-122"/>
                        </a:rPr>
                        <a:t>it</a:t>
                      </a:r>
                      <a:r>
                        <a:rPr lang="zh-CN" altLang="en-US" sz="1815" kern="0" dirty="0" smtClean="0">
                          <a:solidFill>
                            <a:srgbClr val="000000"/>
                          </a:solidFill>
                          <a:latin typeface="Times New Roman" panose="02020603050405020304" pitchFamily="65" charset="-122"/>
                          <a:ea typeface="宋体" panose="02010600030101010101" pitchFamily="2" charset="-122"/>
                        </a:rPr>
                        <a:t> was hungry.这个婴儿因饥饿而啼哭。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指代天气、距离、环境、季节、温度、地点、日期等</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It</a:t>
                      </a:r>
                      <a:r>
                        <a:rPr lang="zh-CN" altLang="en-US" sz="1815" kern="0" dirty="0" smtClean="0">
                          <a:solidFill>
                            <a:srgbClr val="000000"/>
                          </a:solidFill>
                          <a:latin typeface="Times New Roman" panose="02020603050405020304" pitchFamily="65" charset="-122"/>
                          <a:ea typeface="宋体" panose="02010600030101010101" pitchFamily="2" charset="-122"/>
                        </a:rPr>
                        <a:t> is nine o'clock sharp now.现在是9点整。(指时间)</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It</a:t>
                      </a:r>
                      <a:r>
                        <a:rPr lang="zh-CN" altLang="en-US" sz="1815" kern="0" dirty="0" smtClean="0">
                          <a:solidFill>
                            <a:srgbClr val="000000"/>
                          </a:solidFill>
                          <a:latin typeface="Times New Roman" panose="02020603050405020304" pitchFamily="65" charset="-122"/>
                          <a:ea typeface="宋体" panose="02010600030101010101" pitchFamily="2" charset="-122"/>
                        </a:rPr>
                        <a:t> is raining hard outside.外面雨下得正大。(指天气)</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It</a:t>
                      </a:r>
                      <a:r>
                        <a:rPr lang="zh-CN" altLang="en-US" sz="1815" kern="0" dirty="0" smtClean="0">
                          <a:solidFill>
                            <a:srgbClr val="000000"/>
                          </a:solidFill>
                          <a:latin typeface="Times New Roman" panose="02020603050405020304" pitchFamily="65" charset="-122"/>
                          <a:ea typeface="宋体" panose="02010600030101010101" pitchFamily="2" charset="-122"/>
                        </a:rPr>
                        <a:t>'s over 200 miles from London to Manchester. 从伦敦到曼彻斯特有两百多英里。(指距离)</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21652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latin typeface="Times New Roman" panose="02020603050405020304" pitchFamily="65" charset="-122"/>
                <a:ea typeface="微软雅黑" panose="020B0503020204020204" pitchFamily="34" charset="-122"/>
              </a:rPr>
              <a:t>(2)特殊用法</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①作形式主语</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NEU-BZ" pitchFamily="65" charset="-122"/>
                <a:ea typeface="NEU-BZ" pitchFamily="65" charset="-122"/>
              </a:rPr>
              <a:t>•</a:t>
            </a:r>
            <a:r>
              <a:rPr lang="zh-CN" altLang="en-US" sz="2410" kern="0" dirty="0" smtClean="0">
                <a:solidFill>
                  <a:srgbClr val="000000"/>
                </a:solidFill>
                <a:latin typeface="Times New Roman" panose="02020603050405020304" pitchFamily="65" charset="-122"/>
                <a:ea typeface="微软雅黑" panose="020B0503020204020204" pitchFamily="34" charset="-122"/>
              </a:rPr>
              <a:t>代替不定式</a:t>
            </a:r>
            <a:endParaRPr lang="zh-CN" altLang="en-US" dirty="0"/>
          </a:p>
          <a:p>
            <a:pPr marL="0" indent="0" eaLnBrk="0" latinLnBrk="1" hangingPunct="0">
              <a:lnSpc>
                <a:spcPct val="150000"/>
              </a:lnSpc>
              <a:spcBef>
                <a:spcPts val="145"/>
              </a:spcBef>
              <a:buNone/>
            </a:pPr>
            <a:r>
              <a:rPr lang="zh-CN" altLang="en-US" sz="5015" kern="0" spc="21909" dirty="0" smtClean="0">
                <a:solidFill>
                  <a:srgbClr val="000000"/>
                </a:solidFill>
                <a:latin typeface="Times New Roman" panose="02020603050405020304" pitchFamily="65" charset="-122"/>
                <a:ea typeface="微软雅黑" panose="020B0503020204020204" pitchFamily="34" charset="-122"/>
              </a:rPr>
              <a:t> </a:t>
            </a:r>
            <a:r>
              <a:rPr lang="zh-CN" altLang="en-US" sz="2000" kern="0" dirty="0" smtClean="0">
                <a:solidFill>
                  <a:srgbClr val="000000"/>
                </a:solidFill>
                <a:latin typeface="Times New Roman" panose="02020603050405020304" pitchFamily="65" charset="-122"/>
                <a:ea typeface="微软雅黑" panose="020B0503020204020204" pitchFamily="34" charset="-122"/>
              </a:rPr>
              <a:t>+to do sth.</a:t>
            </a:r>
            <a:endParaRPr lang="zh-CN" altLang="en-US" dirty="0"/>
          </a:p>
          <a:p>
            <a:pPr marL="0" indent="0" eaLnBrk="0" latinLnBrk="1" hangingPunct="0">
              <a:lnSpc>
                <a:spcPct val="150000"/>
              </a:lnSpc>
              <a:spcBef>
                <a:spcPts val="800"/>
              </a:spcBef>
              <a:buNone/>
            </a:pPr>
            <a:r>
              <a:rPr lang="zh-CN" altLang="en-US" sz="2410" kern="0" dirty="0" smtClean="0">
                <a:solidFill>
                  <a:srgbClr val="000000"/>
                </a:solidFill>
                <a:latin typeface="NEU-BZ" pitchFamily="65" charset="-122"/>
                <a:ea typeface="NEU-BZ" pitchFamily="65" charset="-122"/>
              </a:rPr>
              <a:t>•</a:t>
            </a:r>
            <a:r>
              <a:rPr lang="zh-CN" altLang="en-US" sz="2410" kern="0" dirty="0" smtClean="0">
                <a:solidFill>
                  <a:srgbClr val="000000"/>
                </a:solidFill>
                <a:latin typeface="Times New Roman" panose="02020603050405020304" pitchFamily="65" charset="-122"/>
                <a:ea typeface="微软雅黑" panose="020B0503020204020204" pitchFamily="34" charset="-122"/>
              </a:rPr>
              <a:t>代替动名词</a:t>
            </a:r>
            <a:endParaRPr lang="zh-CN" altLang="en-US" dirty="0"/>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65" charset="-122"/>
                <a:ea typeface="微软雅黑" panose="020B0503020204020204" pitchFamily="34" charset="-122"/>
              </a:rPr>
              <a:t>It+be+</a:t>
            </a:r>
            <a:r>
              <a:rPr lang="zh-CN" altLang="en-US" sz="4950" kern="0" spc="8999" dirty="0" smtClean="0">
                <a:solidFill>
                  <a:srgbClr val="000000"/>
                </a:solidFill>
                <a:latin typeface="Times New Roman" panose="02020603050405020304" pitchFamily="65" charset="-122"/>
                <a:ea typeface="微软雅黑" panose="020B0503020204020204" pitchFamily="34" charset="-122"/>
              </a:rPr>
              <a:t> </a:t>
            </a:r>
            <a:r>
              <a:rPr lang="zh-CN" altLang="en-US" sz="2000" kern="0" dirty="0" smtClean="0">
                <a:solidFill>
                  <a:srgbClr val="000000"/>
                </a:solidFill>
                <a:latin typeface="Times New Roman" panose="02020603050405020304" pitchFamily="65" charset="-122"/>
                <a:ea typeface="微软雅黑" panose="020B0503020204020204" pitchFamily="34" charset="-122"/>
              </a:rPr>
              <a:t>+doing sth.</a:t>
            </a:r>
            <a:endParaRPr lang="zh-CN" altLang="en-US" dirty="0"/>
          </a:p>
          <a:p>
            <a:pPr marL="0" indent="0" eaLnBrk="0" latinLnBrk="1" hangingPunct="0">
              <a:lnSpc>
                <a:spcPct val="150000"/>
              </a:lnSpc>
              <a:spcBef>
                <a:spcPts val="775"/>
              </a:spcBef>
              <a:buNone/>
            </a:pPr>
            <a:endParaRPr lang="zh-CN" altLang="en-US" dirty="0"/>
          </a:p>
        </p:txBody>
      </p:sp>
      <p:graphicFrame>
        <p:nvGraphicFramePr>
          <p:cNvPr id="4" name="对象 3"/>
          <p:cNvGraphicFramePr>
            <a:graphicFrameLocks noChangeAspect="1"/>
          </p:cNvGraphicFramePr>
          <p:nvPr/>
        </p:nvGraphicFramePr>
        <p:xfrm>
          <a:off x="468000" y="2646864"/>
          <a:ext cx="2851017" cy="1016518"/>
        </p:xfrm>
        <a:graphic>
          <a:graphicData uri="http://schemas.openxmlformats.org/presentationml/2006/ole">
            <mc:AlternateContent xmlns:mc="http://schemas.openxmlformats.org/markup-compatibility/2006">
              <mc:Choice xmlns:v="urn:schemas-microsoft-com:vml" Requires="v">
                <p:oleObj spid="_x0000_s1032" name="Equation" r:id="rId1" imgW="3446145" imgH="1229995" progId="Equation.DSMT4">
                  <p:embed/>
                </p:oleObj>
              </mc:Choice>
              <mc:Fallback>
                <p:oleObj name="Equation" r:id="rId1" imgW="3446145" imgH="1229995" progId="Equation.DSMT4">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000" y="2646864"/>
                        <a:ext cx="2851017" cy="10165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nvGraphicFramePr>
        <p:xfrm>
          <a:off x="1187280" y="4356253"/>
          <a:ext cx="1657303" cy="1122689"/>
        </p:xfrm>
        <a:graphic>
          <a:graphicData uri="http://schemas.openxmlformats.org/presentationml/2006/ole">
            <mc:AlternateContent xmlns:mc="http://schemas.openxmlformats.org/markup-compatibility/2006">
              <mc:Choice xmlns:v="urn:schemas-microsoft-com:vml" Requires="v">
                <p:oleObj spid="_x0000_s1033" name="Equation" r:id="rId3" imgW="1788160" imgH="1207770" progId="Equation.DSMT4">
                  <p:embed/>
                </p:oleObj>
              </mc:Choice>
              <mc:Fallback>
                <p:oleObj name="Equation" r:id="rId3" imgW="1788160" imgH="120777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280" y="4356253"/>
                        <a:ext cx="1657303" cy="11226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64070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NEU-BZ" pitchFamily="65" charset="-122"/>
                <a:ea typeface="NEU-BZ" pitchFamily="65" charset="-122"/>
                <a:sym typeface="+mn-ea"/>
              </a:rPr>
              <a:t>•</a:t>
            </a:r>
            <a:r>
              <a:rPr lang="zh-CN" altLang="en-US" sz="2410" kern="0" dirty="0" smtClean="0">
                <a:solidFill>
                  <a:srgbClr val="000000"/>
                </a:solidFill>
                <a:latin typeface="Times New Roman" panose="02020603050405020304" pitchFamily="65" charset="-122"/>
                <a:ea typeface="微软雅黑" panose="020B0503020204020204" pitchFamily="34" charset="-122"/>
              </a:rPr>
              <a:t>代替主语从句</a:t>
            </a:r>
            <a:endParaRPr lang="zh-CN" altLang="en-US" sz="6355" kern="0" spc="22595"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6355" kern="0" spc="22595" dirty="0" smtClean="0">
                <a:solidFill>
                  <a:srgbClr val="000000"/>
                </a:solidFill>
                <a:latin typeface="Times New Roman" panose="02020603050405020304" pitchFamily="65" charset="-122"/>
                <a:ea typeface="微软雅黑" panose="020B0503020204020204" pitchFamily="34" charset="-122"/>
              </a:rPr>
              <a:t> </a:t>
            </a:r>
            <a:endParaRPr lang="zh-CN" altLang="en-US" dirty="0"/>
          </a:p>
          <a:p>
            <a:pPr marL="0" indent="0" eaLnBrk="0" latinLnBrk="1" hangingPunct="0">
              <a:lnSpc>
                <a:spcPct val="150000"/>
              </a:lnSpc>
              <a:spcBef>
                <a:spcPts val="132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②作形式宾语</a:t>
            </a:r>
            <a:endParaRPr lang="zh-CN" altLang="en-US" dirty="0"/>
          </a:p>
          <a:p>
            <a:pPr eaLnBrk="0" latinLnBrk="1" hangingPunct="0">
              <a:lnSpc>
                <a:spcPct val="150000"/>
              </a:lnSpc>
              <a:spcBef>
                <a:spcPts val="145"/>
              </a:spcBef>
            </a:pPr>
            <a:r>
              <a:rPr lang="zh-CN" altLang="en-US" sz="2410" kern="0" dirty="0">
                <a:solidFill>
                  <a:srgbClr val="000000"/>
                </a:solidFill>
                <a:latin typeface="NEU-BZ" pitchFamily="65" charset="-122"/>
                <a:ea typeface="NEU-BZ" pitchFamily="65"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动词+it+宾补+动名词/不定式/that从句</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I think </a:t>
            </a:r>
            <a:r>
              <a:rPr lang="zh-CN" altLang="en-US" sz="2410" u="sng" kern="0" dirty="0">
                <a:solidFill>
                  <a:srgbClr val="000000"/>
                </a:solidFill>
                <a:latin typeface="Times New Roman" panose="02020603050405020304" pitchFamily="65" charset="-122"/>
                <a:ea typeface="微软雅黑" panose="020B0503020204020204" pitchFamily="34" charset="-122"/>
              </a:rPr>
              <a:t>it</a:t>
            </a:r>
            <a:r>
              <a:rPr lang="zh-CN" altLang="en-US" sz="2410" kern="0" dirty="0">
                <a:solidFill>
                  <a:srgbClr val="000000"/>
                </a:solidFill>
                <a:latin typeface="Times New Roman" panose="02020603050405020304" pitchFamily="65" charset="-122"/>
                <a:ea typeface="微软雅黑" panose="020B0503020204020204" pitchFamily="34" charset="-122"/>
              </a:rPr>
              <a:t> no use </a:t>
            </a:r>
            <a:r>
              <a:rPr lang="zh-CN" altLang="en-US" sz="2410" u="sng" kern="0" dirty="0">
                <a:solidFill>
                  <a:srgbClr val="000000"/>
                </a:solidFill>
                <a:latin typeface="Times New Roman" panose="02020603050405020304" pitchFamily="65" charset="-122"/>
                <a:ea typeface="微软雅黑" panose="020B0503020204020204" pitchFamily="34" charset="-122"/>
              </a:rPr>
              <a:t>crying</a:t>
            </a:r>
            <a:r>
              <a:rPr lang="zh-CN" altLang="en-US" sz="2410" kern="0" dirty="0">
                <a:solidFill>
                  <a:srgbClr val="000000"/>
                </a:solidFill>
                <a:latin typeface="Times New Roman" panose="02020603050405020304" pitchFamily="65" charset="-122"/>
                <a:ea typeface="微软雅黑" panose="020B0503020204020204" pitchFamily="34" charset="-122"/>
              </a:rPr>
              <a:t>.</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我认为哭是没有用的。</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I find </a:t>
            </a:r>
            <a:r>
              <a:rPr lang="zh-CN" altLang="en-US" sz="2410" u="sng" kern="0" dirty="0">
                <a:solidFill>
                  <a:srgbClr val="000000"/>
                </a:solidFill>
                <a:latin typeface="Times New Roman" panose="02020603050405020304" pitchFamily="65" charset="-122"/>
                <a:ea typeface="微软雅黑" panose="020B0503020204020204" pitchFamily="34" charset="-122"/>
              </a:rPr>
              <a:t>it</a:t>
            </a:r>
            <a:r>
              <a:rPr lang="zh-CN" altLang="en-US" sz="2410" kern="0" dirty="0">
                <a:solidFill>
                  <a:srgbClr val="000000"/>
                </a:solidFill>
                <a:latin typeface="Times New Roman" panose="02020603050405020304" pitchFamily="65" charset="-122"/>
                <a:ea typeface="微软雅黑" panose="020B0503020204020204" pitchFamily="34" charset="-122"/>
              </a:rPr>
              <a:t> easy </a:t>
            </a:r>
            <a:r>
              <a:rPr lang="zh-CN" altLang="en-US" sz="2410" u="sng" kern="0" dirty="0">
                <a:solidFill>
                  <a:srgbClr val="000000"/>
                </a:solidFill>
                <a:latin typeface="Times New Roman" panose="02020603050405020304" pitchFamily="65" charset="-122"/>
                <a:ea typeface="微软雅黑" panose="020B0503020204020204" pitchFamily="34" charset="-122"/>
              </a:rPr>
              <a:t>to get along with</a:t>
            </a:r>
            <a:r>
              <a:rPr lang="zh-CN" altLang="en-US" sz="2410" kern="0" dirty="0">
                <a:solidFill>
                  <a:srgbClr val="000000"/>
                </a:solidFill>
                <a:latin typeface="Times New Roman" panose="02020603050405020304" pitchFamily="65" charset="-122"/>
                <a:ea typeface="微软雅黑" panose="020B0503020204020204" pitchFamily="34" charset="-122"/>
              </a:rPr>
              <a:t> the newcomer.</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我发现和新来的人相处很容易。</a:t>
            </a:r>
            <a:endParaRPr lang="zh-CN" altLang="en-US" sz="2800" dirty="0"/>
          </a:p>
        </p:txBody>
      </p:sp>
      <p:graphicFrame>
        <p:nvGraphicFramePr>
          <p:cNvPr id="4" name="对象 3"/>
          <p:cNvGraphicFramePr>
            <a:graphicFrameLocks noChangeAspect="1"/>
          </p:cNvGraphicFramePr>
          <p:nvPr/>
        </p:nvGraphicFramePr>
        <p:xfrm>
          <a:off x="539120" y="1260129"/>
          <a:ext cx="3182877" cy="1393539"/>
        </p:xfrm>
        <a:graphic>
          <a:graphicData uri="http://schemas.openxmlformats.org/presentationml/2006/ole">
            <mc:AlternateContent xmlns:mc="http://schemas.openxmlformats.org/markup-compatibility/2006">
              <mc:Choice xmlns:v="urn:schemas-microsoft-com:vml" Requires="v">
                <p:oleObj spid="_x0000_s2054" name="Equation" r:id="rId1" imgW="3702685" imgH="1624965" progId="Equation.DSMT4">
                  <p:embed/>
                </p:oleObj>
              </mc:Choice>
              <mc:Fallback>
                <p:oleObj name="Equation" r:id="rId1" imgW="3702685" imgH="1624965" progId="Equation.DSMT4">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120" y="1260129"/>
                        <a:ext cx="3182877" cy="13935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094793"/>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We consider </a:t>
            </a:r>
            <a:r>
              <a:rPr lang="en-US" altLang="zh-CN" sz="2410" u="sng" kern="0" dirty="0">
                <a:solidFill>
                  <a:srgbClr val="000000"/>
                </a:solidFill>
                <a:latin typeface="Times New Roman" panose="02020603050405020304" pitchFamily="65" charset="-122"/>
                <a:ea typeface="微软雅黑" panose="020B0503020204020204" pitchFamily="34" charset="-122"/>
              </a:rPr>
              <a:t>it</a:t>
            </a:r>
            <a:r>
              <a:rPr lang="en-US" altLang="zh-CN" sz="2410" kern="0" dirty="0">
                <a:solidFill>
                  <a:srgbClr val="000000"/>
                </a:solidFill>
                <a:latin typeface="Times New Roman" panose="02020603050405020304" pitchFamily="65" charset="-122"/>
                <a:ea typeface="微软雅黑" panose="020B0503020204020204" pitchFamily="34" charset="-122"/>
              </a:rPr>
              <a:t> of great importance </a:t>
            </a:r>
            <a:r>
              <a:rPr lang="en-US" altLang="zh-CN" sz="2410" u="sng" kern="0" dirty="0">
                <a:solidFill>
                  <a:srgbClr val="000000"/>
                </a:solidFill>
                <a:latin typeface="Times New Roman" panose="02020603050405020304" pitchFamily="65" charset="-122"/>
                <a:ea typeface="微软雅黑" panose="020B0503020204020204" pitchFamily="34" charset="-122"/>
              </a:rPr>
              <a:t>that theory must be combined with practice</a:t>
            </a:r>
            <a:r>
              <a:rPr lang="en-US" altLang="zh-CN" sz="2410" kern="0" dirty="0">
                <a:solidFill>
                  <a:srgbClr val="000000"/>
                </a:solidFill>
                <a:latin typeface="Times New Roman" panose="02020603050405020304" pitchFamily="65" charset="-122"/>
                <a:ea typeface="微软雅黑" panose="020B0503020204020204" pitchFamily="34" charset="-122"/>
              </a:rPr>
              <a:t>. </a:t>
            </a:r>
            <a:r>
              <a:rPr lang="zh-CN" altLang="en-US" sz="2410" kern="0" dirty="0">
                <a:solidFill>
                  <a:srgbClr val="000000"/>
                </a:solidFill>
                <a:latin typeface="Times New Roman" panose="02020603050405020304" pitchFamily="65" charset="-122"/>
                <a:ea typeface="微软雅黑" panose="020B0503020204020204" pitchFamily="34" charset="-122"/>
              </a:rPr>
              <a:t>我们认为</a:t>
            </a:r>
            <a:br>
              <a:rPr lang="zh-CN" altLang="en-US" sz="2800" dirty="0"/>
            </a:br>
            <a:r>
              <a:rPr lang="zh-CN" altLang="en-US" sz="2410" kern="0" dirty="0">
                <a:solidFill>
                  <a:srgbClr val="000000"/>
                </a:solidFill>
                <a:latin typeface="Times New Roman" panose="02020603050405020304" pitchFamily="65" charset="-122"/>
                <a:ea typeface="微软雅黑" panose="020B0503020204020204" pitchFamily="34" charset="-122"/>
              </a:rPr>
              <a:t>理论与实践相结合是极为重要的。</a:t>
            </a:r>
            <a:endParaRPr lang="zh-CN" altLang="en-US" sz="2800" dirty="0"/>
          </a:p>
          <a:p>
            <a:pPr eaLnBrk="0" latinLnBrk="1" hangingPunct="0">
              <a:lnSpc>
                <a:spcPct val="150000"/>
              </a:lnSpc>
              <a:spcBef>
                <a:spcPts val="145"/>
              </a:spcBef>
            </a:pPr>
            <a:r>
              <a:rPr lang="en-US" altLang="zh-CN" sz="2410" kern="0" dirty="0">
                <a:solidFill>
                  <a:srgbClr val="000000"/>
                </a:solidFill>
                <a:latin typeface="NEU-BZ" pitchFamily="65" charset="-122"/>
                <a:ea typeface="NEU-BZ" pitchFamily="65"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表示爱、恨等情感的动词</a:t>
            </a:r>
            <a:r>
              <a:rPr lang="en-US" altLang="zh-CN" sz="2410" kern="0" dirty="0">
                <a:solidFill>
                  <a:srgbClr val="000000"/>
                </a:solidFill>
                <a:latin typeface="Times New Roman" panose="02020603050405020304" pitchFamily="65" charset="-122"/>
                <a:ea typeface="微软雅黑" panose="020B0503020204020204" pitchFamily="34" charset="-122"/>
              </a:rPr>
              <a:t>+it+</a:t>
            </a:r>
            <a:r>
              <a:rPr lang="zh-CN" altLang="en-US" sz="2410" kern="0" dirty="0">
                <a:solidFill>
                  <a:srgbClr val="000000"/>
                </a:solidFill>
                <a:latin typeface="Times New Roman" panose="02020603050405020304" pitchFamily="65" charset="-122"/>
                <a:ea typeface="微软雅黑" panose="020B0503020204020204" pitchFamily="34" charset="-122"/>
              </a:rPr>
              <a:t>宾语从句</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此类动词有</a:t>
            </a:r>
            <a:r>
              <a:rPr lang="en-US" altLang="zh-CN" sz="2410" kern="0" dirty="0">
                <a:solidFill>
                  <a:srgbClr val="000000"/>
                </a:solidFill>
                <a:latin typeface="Times New Roman" panose="02020603050405020304" pitchFamily="65" charset="-122"/>
                <a:ea typeface="微软雅黑" panose="020B0503020204020204" pitchFamily="34" charset="-122"/>
              </a:rPr>
              <a:t>dislike</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appreciate</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hate</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like</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love</a:t>
            </a:r>
            <a:r>
              <a:rPr lang="zh-CN" altLang="en-US" sz="2410" kern="0" dirty="0">
                <a:solidFill>
                  <a:srgbClr val="000000"/>
                </a:solidFill>
                <a:latin typeface="Times New Roman" panose="02020603050405020304" pitchFamily="65" charset="-122"/>
                <a:ea typeface="微软雅黑" panose="020B0503020204020204" pitchFamily="34" charset="-122"/>
              </a:rPr>
              <a:t>等。</a:t>
            </a:r>
            <a:endParaRPr lang="zh-CN" altLang="en-US" sz="2800"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I hate </a:t>
            </a:r>
            <a:r>
              <a:rPr lang="en-US" altLang="zh-CN" sz="2410" u="sng" kern="0" dirty="0">
                <a:solidFill>
                  <a:srgbClr val="000000"/>
                </a:solidFill>
                <a:latin typeface="Times New Roman" panose="02020603050405020304" pitchFamily="65" charset="-122"/>
                <a:ea typeface="微软雅黑" panose="020B0503020204020204" pitchFamily="34" charset="-122"/>
              </a:rPr>
              <a:t>it</a:t>
            </a:r>
            <a:r>
              <a:rPr lang="en-US" altLang="zh-CN" sz="2410" kern="0" dirty="0">
                <a:solidFill>
                  <a:srgbClr val="000000"/>
                </a:solidFill>
                <a:latin typeface="Times New Roman" panose="02020603050405020304" pitchFamily="65" charset="-122"/>
                <a:ea typeface="微软雅黑" panose="020B0503020204020204" pitchFamily="34" charset="-122"/>
              </a:rPr>
              <a:t> when people talk with their mouths full. </a:t>
            </a:r>
            <a:r>
              <a:rPr lang="zh-CN" altLang="en-US" sz="2410" kern="0" dirty="0">
                <a:solidFill>
                  <a:srgbClr val="000000"/>
                </a:solidFill>
                <a:latin typeface="Times New Roman" panose="02020603050405020304" pitchFamily="65" charset="-122"/>
                <a:ea typeface="微软雅黑" panose="020B0503020204020204" pitchFamily="34" charset="-122"/>
              </a:rPr>
              <a:t>我讨厌人们满嘴东西时和别人说话。</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③用于固定短语</a:t>
            </a:r>
            <a:endParaRPr lang="zh-CN" altLang="en-US" sz="2800"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as it is</a:t>
            </a:r>
            <a:r>
              <a:rPr lang="zh-CN" altLang="en-US" sz="2410" kern="0" dirty="0">
                <a:solidFill>
                  <a:srgbClr val="000000"/>
                </a:solidFill>
                <a:latin typeface="Times New Roman" panose="02020603050405020304" pitchFamily="65" charset="-122"/>
                <a:ea typeface="微软雅黑" panose="020B0503020204020204" pitchFamily="34" charset="-122"/>
              </a:rPr>
              <a:t>事实上</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照目前情况</a:t>
            </a:r>
            <a:endParaRPr lang="zh-CN" altLang="en-US" sz="2800"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be worth it</a:t>
            </a:r>
            <a:r>
              <a:rPr lang="zh-CN" altLang="en-US" sz="2410" kern="0" dirty="0">
                <a:solidFill>
                  <a:srgbClr val="000000"/>
                </a:solidFill>
                <a:latin typeface="Times New Roman" panose="02020603050405020304" pitchFamily="65" charset="-122"/>
                <a:ea typeface="微软雅黑" panose="020B0503020204020204" pitchFamily="34" charset="-122"/>
              </a:rPr>
              <a:t>值得</a:t>
            </a:r>
            <a:endParaRPr lang="zh-CN" altLang="en-US" sz="2800"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call it a day</a:t>
            </a:r>
            <a:r>
              <a:rPr lang="zh-CN" altLang="en-US" sz="2410" kern="0" dirty="0">
                <a:solidFill>
                  <a:srgbClr val="000000"/>
                </a:solidFill>
                <a:latin typeface="Times New Roman" panose="02020603050405020304" pitchFamily="65" charset="-122"/>
                <a:ea typeface="微软雅黑" panose="020B0503020204020204" pitchFamily="34" charset="-122"/>
              </a:rPr>
              <a:t>到此为止</a:t>
            </a:r>
            <a:endParaRPr lang="zh-CN" altLang="en-US" sz="2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01142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it (all) depends视情况而定</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make it准时到达;获得成功</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take it easy放轻松;别着急</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when it comes to...说到</a:t>
            </a:r>
            <a:r>
              <a:rPr lang="zh-CN" altLang="en-US" sz="2410" kern="0" dirty="0" smtClean="0">
                <a:solidFill>
                  <a:srgbClr val="000000"/>
                </a:solidFill>
                <a:latin typeface="黑体" panose="02010609060101010101" pitchFamily="49" charset="-122"/>
                <a:ea typeface="微软雅黑" panose="020B0503020204020204" pitchFamily="34" charset="-122"/>
              </a:rPr>
              <a:t>……</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④用于固定句型</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NEU-BZ" pitchFamily="65" charset="-122"/>
                <a:ea typeface="NEU-BZ" pitchFamily="65" charset="-122"/>
              </a:rPr>
              <a:t>•</a:t>
            </a:r>
            <a:r>
              <a:rPr lang="zh-CN" altLang="en-US" sz="2410" kern="0" dirty="0" smtClean="0">
                <a:solidFill>
                  <a:srgbClr val="000000"/>
                </a:solidFill>
                <a:latin typeface="Times New Roman" panose="02020603050405020304" pitchFamily="65" charset="-122"/>
                <a:ea typeface="微软雅黑" panose="020B0503020204020204" pitchFamily="34" charset="-122"/>
              </a:rPr>
              <a:t>强调句型:It be+被强调部分+that/who+其他成分</a:t>
            </a:r>
            <a:endParaRPr lang="zh-CN" altLang="en-US" dirty="0"/>
          </a:p>
          <a:p>
            <a:pPr eaLnBrk="0" latinLnBrk="1" hangingPunct="0">
              <a:lnSpc>
                <a:spcPct val="150000"/>
              </a:lnSpc>
              <a:spcBef>
                <a:spcPts val="145"/>
              </a:spcBef>
            </a:pPr>
            <a:r>
              <a:rPr lang="zh-CN" altLang="en-US" sz="2410" u="sng" kern="0" dirty="0">
                <a:solidFill>
                  <a:srgbClr val="000000"/>
                </a:solidFill>
                <a:latin typeface="Times New Roman" panose="02020603050405020304" pitchFamily="65" charset="-122"/>
                <a:ea typeface="微软雅黑" panose="020B0503020204020204" pitchFamily="34" charset="-122"/>
              </a:rPr>
              <a:t>It</a:t>
            </a:r>
            <a:r>
              <a:rPr lang="zh-CN" altLang="en-US" sz="2410" kern="0" dirty="0">
                <a:solidFill>
                  <a:srgbClr val="000000"/>
                </a:solidFill>
                <a:latin typeface="Times New Roman" panose="02020603050405020304" pitchFamily="65" charset="-122"/>
                <a:ea typeface="微软雅黑" panose="020B0503020204020204" pitchFamily="34" charset="-122"/>
              </a:rPr>
              <a:t> was at 3 o'clock that the rescue team arrived at the disaster-stricken area.</a:t>
            </a:r>
            <a:endParaRPr lang="zh-CN" altLang="en-US"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救援队是在3点钟到达受灾地区的。</a:t>
            </a:r>
            <a:endParaRPr lang="zh-CN" altLang="en-US" dirty="0"/>
          </a:p>
          <a:p>
            <a:pPr marL="0" indent="0" eaLnBrk="0" latinLnBrk="1" hangingPunct="0">
              <a:lnSpc>
                <a:spcPct val="150000"/>
              </a:lnSpc>
              <a:spcBef>
                <a:spcPts val="145"/>
              </a:spcBef>
              <a:buNone/>
            </a:pPr>
            <a:endParaRPr lang="zh-CN"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468000" y="395905"/>
            <a:ext cx="11831400" cy="716915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NEU-BZ" pitchFamily="65" charset="-122"/>
                <a:ea typeface="NEU-BZ" pitchFamily="65" charset="-122"/>
                <a:sym typeface="+mn-ea"/>
              </a:rPr>
              <a:t>•</a:t>
            </a: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It's (high) time+that从句</a:t>
            </a:r>
            <a:endParaRPr lang="zh-CN" altLang="en-US" sz="2410"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It</a:t>
            </a:r>
            <a:r>
              <a:rPr lang="zh-CN" altLang="en-US" sz="2410" kern="0" dirty="0" smtClean="0">
                <a:solidFill>
                  <a:srgbClr val="000000"/>
                </a:solidFill>
                <a:latin typeface="Times New Roman" panose="02020603050405020304" pitchFamily="65" charset="-122"/>
                <a:ea typeface="微软雅黑" panose="020B0503020204020204" pitchFamily="34" charset="-122"/>
              </a:rPr>
              <a:t>'s high time that the meeting was over.</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会议早该结束了。</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NEU-BZ" pitchFamily="65" charset="-122"/>
                <a:ea typeface="NEU-BZ" pitchFamily="65" charset="-122"/>
              </a:rPr>
              <a:t>•</a:t>
            </a:r>
            <a:r>
              <a:rPr lang="zh-CN" altLang="en-US" sz="2410" kern="0" dirty="0" smtClean="0">
                <a:solidFill>
                  <a:srgbClr val="000000"/>
                </a:solidFill>
                <a:latin typeface="Times New Roman" panose="02020603050405020304" pitchFamily="65" charset="-122"/>
                <a:ea typeface="微软雅黑" panose="020B0503020204020204" pitchFamily="34" charset="-122"/>
              </a:rPr>
              <a:t>It be+the+序数词+time+that从句</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It</a:t>
            </a:r>
            <a:r>
              <a:rPr lang="zh-CN" altLang="en-US" sz="2410" kern="0" dirty="0" smtClean="0">
                <a:solidFill>
                  <a:srgbClr val="000000"/>
                </a:solidFill>
                <a:latin typeface="Times New Roman" panose="02020603050405020304" pitchFamily="65" charset="-122"/>
                <a:ea typeface="微软雅黑" panose="020B0503020204020204" pitchFamily="34" charset="-122"/>
              </a:rPr>
              <a:t>'s the second time that he has failed the driving test.</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这是他第二次没能通过驾照考试。</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NEU-BZ" pitchFamily="65" charset="-122"/>
                <a:ea typeface="NEU-BZ" pitchFamily="65" charset="-122"/>
              </a:rPr>
              <a:t>•</a:t>
            </a:r>
            <a:r>
              <a:rPr lang="zh-CN" altLang="en-US" sz="2410" kern="0" dirty="0" smtClean="0">
                <a:solidFill>
                  <a:srgbClr val="000000"/>
                </a:solidFill>
                <a:latin typeface="Times New Roman" panose="02020603050405020304" pitchFamily="65" charset="-122"/>
                <a:ea typeface="微软雅黑" panose="020B0503020204020204" pitchFamily="34" charset="-122"/>
              </a:rPr>
              <a:t>It is/has been+时间段+since从句</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It</a:t>
            </a:r>
            <a:r>
              <a:rPr lang="zh-CN" altLang="en-US" sz="2410" kern="0" dirty="0" smtClean="0">
                <a:solidFill>
                  <a:srgbClr val="000000"/>
                </a:solidFill>
                <a:latin typeface="Times New Roman" panose="02020603050405020304" pitchFamily="65" charset="-122"/>
                <a:ea typeface="微软雅黑" panose="020B0503020204020204" pitchFamily="34" charset="-122"/>
              </a:rPr>
              <a:t> is/has been years since we parted.自从我们分别以来已经有很多年了。</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It</a:t>
            </a:r>
            <a:r>
              <a:rPr lang="zh-CN" altLang="en-US" sz="2410" kern="0" dirty="0" smtClean="0">
                <a:solidFill>
                  <a:srgbClr val="000000"/>
                </a:solidFill>
                <a:latin typeface="Times New Roman" panose="02020603050405020304" pitchFamily="65" charset="-122"/>
                <a:ea typeface="微软雅黑" panose="020B0503020204020204" pitchFamily="34" charset="-122"/>
              </a:rPr>
              <a:t> is several years since he lived here.</a:t>
            </a: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他不住在这里已经好多年了。</a:t>
            </a:r>
            <a:endParaRPr lang="zh-CN" altLang="en-US" sz="2410" kern="0" dirty="0" smtClean="0">
              <a:solidFill>
                <a:srgbClr val="000000"/>
              </a:solidFill>
              <a:latin typeface="Times New Roman" panose="02020603050405020304" pitchFamily="65" charset="-122"/>
              <a:ea typeface="微软雅黑" panose="020B0503020204020204" pitchFamily="34" charset="-122"/>
              <a:sym typeface="+mn-ea"/>
            </a:endParaRPr>
          </a:p>
          <a:p>
            <a:pPr marL="0" indent="0" algn="l" eaLnBrk="0" latinLnBrk="1" hangingPunct="0">
              <a:lnSpc>
                <a:spcPct val="150000"/>
              </a:lnSpc>
              <a:spcBef>
                <a:spcPts val="145"/>
              </a:spcBef>
              <a:buNone/>
            </a:pPr>
            <a:r>
              <a:rPr lang="zh-CN" altLang="en-US" sz="2410" kern="0" dirty="0" smtClean="0">
                <a:solidFill>
                  <a:srgbClr val="000000"/>
                </a:solidFill>
                <a:latin typeface="NEU-BZ" pitchFamily="65" charset="-122"/>
                <a:ea typeface="NEU-BZ" pitchFamily="65" charset="-122"/>
                <a:sym typeface="+mn-ea"/>
              </a:rPr>
              <a:t>•</a:t>
            </a: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It be+时间段+before从句</a:t>
            </a:r>
            <a:endParaRPr lang="zh-CN" altLang="en-US" dirty="0"/>
          </a:p>
          <a:p>
            <a:pPr marL="0" indent="0" algn="l"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sym typeface="+mn-ea"/>
              </a:rPr>
              <a:t>It</a:t>
            </a: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 will be years before we meet again.要过几年我们才能重逢。</a:t>
            </a:r>
            <a:endParaRPr lang="zh-CN" altLang="en-US" dirty="0"/>
          </a:p>
          <a:p>
            <a:pPr marL="0" indent="0" algn="l"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sym typeface="+mn-ea"/>
              </a:rPr>
              <a:t>It</a:t>
            </a: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 was not long before he came back.没过多久他就回来了。</a:t>
            </a:r>
            <a:endParaRPr lang="zh-CN" altLang="en-US"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endParaRPr lang="zh-CN" alt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785110"/>
          </a:xfrm>
          <a:prstGeom prst="rect">
            <a:avLst/>
          </a:prstGeom>
          <a:noFill/>
        </p:spPr>
        <p:txBody>
          <a:bodyPr wrap="square" lIns="0" tIns="0" rIns="0" bIns="0" rtlCol="0">
            <a:spAutoFit/>
          </a:bodyPr>
          <a:lstStyle/>
          <a:p>
            <a:pPr eaLnBrk="0" latinLnBrk="1" hangingPunct="0">
              <a:lnSpc>
                <a:spcPct val="150000"/>
              </a:lnSpc>
              <a:spcBef>
                <a:spcPts val="145"/>
              </a:spcBef>
            </a:pPr>
            <a:endParaRPr lang="zh-CN" altLang="en-US" sz="2800" dirty="0"/>
          </a:p>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微软雅黑" panose="020B0503020204020204" pitchFamily="34" charset="-122"/>
              </a:rPr>
              <a:t>1. </a:t>
            </a:r>
            <a:r>
              <a:rPr lang="zh-CN" altLang="en-US" sz="2410" kern="0" dirty="0">
                <a:solidFill>
                  <a:srgbClr val="000000"/>
                </a:solidFill>
                <a:latin typeface="Times New Roman" panose="02020603050405020304" pitchFamily="65" charset="-122"/>
                <a:ea typeface="微软雅黑" panose="020B0503020204020204" pitchFamily="34" charset="-122"/>
              </a:rPr>
              <a:t>Neptune is a gas giant in </a:t>
            </a:r>
            <a:r>
              <a:rPr lang="en-US" altLang="zh-CN" sz="2410" kern="0" dirty="0" smtClean="0">
                <a:solidFill>
                  <a:srgbClr val="000000"/>
                </a:solidFill>
                <a:latin typeface="Times New Roman" panose="02020603050405020304" pitchFamily="65" charset="-122"/>
                <a:ea typeface="微软雅黑" panose="020B0503020204020204" pitchFamily="34" charset="-122"/>
              </a:rPr>
              <a:t>________</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we) solar system, similar to Jupiter.</a:t>
            </a:r>
            <a:endParaRPr lang="zh-CN" altLang="en-US"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句意:海王星是我们太阳系中的一颗气态巨行星,类似于木星。设空处在in(介</a:t>
            </a:r>
            <a:br>
              <a:rPr kern="0" dirty="0">
                <a:latin typeface="Times New Roman" panose="02020603050405020304" pitchFamily="18" charset="0"/>
                <a:ea typeface="楷体" panose="02010609060101010101" charset="-122"/>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词)后,在solar system(名词)前,故应用形容词性物主代词our。</a:t>
            </a:r>
            <a:endParaRPr lang="zh-CN" altLang="en-US" kern="0" dirty="0">
              <a:latin typeface="Times New Roman" panose="02020603050405020304" pitchFamily="18" charset="0"/>
              <a:ea typeface="楷体" panose="02010609060101010101" charset="-122"/>
              <a:sym typeface="Times New Roman" panose="02020603050405020304" pitchFamily="18" charset="0"/>
            </a:endParaRPr>
          </a:p>
        </p:txBody>
      </p:sp>
      <p:sp>
        <p:nvSpPr>
          <p:cNvPr id="3" name="文本框 2"/>
          <p:cNvSpPr txBox="1"/>
          <p:nvPr/>
        </p:nvSpPr>
        <p:spPr>
          <a:xfrm>
            <a:off x="3866838" y="1302420"/>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微软雅黑" panose="020B0503020204020204" pitchFamily="34" charset="-122"/>
              </a:rPr>
              <a:t>　</a:t>
            </a:r>
            <a:r>
              <a:rPr lang="en-US" altLang="zh-CN" sz="2400" b="1" dirty="0" smtClean="0">
                <a:solidFill>
                  <a:srgbClr val="953FA3"/>
                </a:solidFill>
                <a:latin typeface="Times New Roman" panose="02020603050405020304" pitchFamily="18" charset="0"/>
                <a:ea typeface="微软雅黑" panose="020B0503020204020204" pitchFamily="34" charset="-122"/>
              </a:rPr>
              <a:t>our    </a:t>
            </a:r>
            <a:endParaRPr lang="zh-CN" altLang="en-US" sz="2400" b="1" dirty="0">
              <a:solidFill>
                <a:srgbClr val="953FA3"/>
              </a:solidFill>
              <a:latin typeface="Times New Roman" panose="02020603050405020304" pitchFamily="18" charset="0"/>
              <a:ea typeface="微软雅黑" panose="020B0503020204020204" pitchFamily="34" charset="-122"/>
            </a:endParaRPr>
          </a:p>
        </p:txBody>
      </p:sp>
      <p:grpSp>
        <p:nvGrpSpPr>
          <p:cNvPr id="10" name="组合 9"/>
          <p:cNvGrpSpPr/>
          <p:nvPr/>
        </p:nvGrpSpPr>
        <p:grpSpPr>
          <a:xfrm>
            <a:off x="5003800" y="539750"/>
            <a:ext cx="2359025" cy="521970"/>
            <a:chOff x="2031546" y="5566398"/>
            <a:chExt cx="1693545" cy="521970"/>
          </a:xfrm>
        </p:grpSpPr>
        <p:sp>
          <p:nvSpPr>
            <p:cNvPr id="11" name="矩形 10"/>
            <p:cNvSpPr/>
            <p:nvPr/>
          </p:nvSpPr>
          <p:spPr>
            <a:xfrm>
              <a:off x="2102666" y="5566398"/>
              <a:ext cx="1622425" cy="521970"/>
            </a:xfrm>
            <a:prstGeom prst="rect">
              <a:avLst/>
            </a:prstGeom>
          </p:spPr>
          <p:txBody>
            <a:bodyPr wrap="square">
              <a:spAutoFit/>
            </a:bodyPr>
            <a:lstStyle/>
            <a:p>
              <a:r>
                <a:rPr lang="zh-CN" altLang="en-US" sz="2800" b="1" kern="0" dirty="0" smtClean="0">
                  <a:solidFill>
                    <a:srgbClr val="953FA3"/>
                  </a:solidFill>
                  <a:latin typeface="楷体" panose="02010609060101010101" charset="-122"/>
                  <a:ea typeface="楷体" panose="02010609060101010101" charset="-122"/>
                  <a:cs typeface="Times New Roman" panose="02020603050405020304" pitchFamily="18" charset="0"/>
                </a:rPr>
                <a:t>考点针对练</a:t>
              </a:r>
              <a:endParaRPr lang="zh-CN" altLang="en-US" sz="2800" b="1" kern="0" dirty="0" smtClean="0">
                <a:solidFill>
                  <a:srgbClr val="953FA3"/>
                </a:solidFill>
                <a:latin typeface="楷体" panose="02010609060101010101" charset="-122"/>
                <a:ea typeface="楷体" panose="02010609060101010101" charset="-122"/>
                <a:cs typeface="Times New Roman" panose="02020603050405020304" pitchFamily="18" charset="0"/>
              </a:endParaRPr>
            </a:p>
          </p:txBody>
        </p:sp>
        <p:grpSp>
          <p:nvGrpSpPr>
            <p:cNvPr id="12" name="组合 11"/>
            <p:cNvGrpSpPr/>
            <p:nvPr/>
          </p:nvGrpSpPr>
          <p:grpSpPr>
            <a:xfrm rot="12533546">
              <a:off x="2060935" y="5658963"/>
              <a:ext cx="75274" cy="302276"/>
              <a:chOff x="1835622" y="5914973"/>
              <a:chExt cx="72919" cy="284654"/>
            </a:xfrm>
          </p:grpSpPr>
          <p:sp>
            <p:nvSpPr>
              <p:cNvPr id="14" name="等腰三角形 13"/>
              <p:cNvSpPr/>
              <p:nvPr/>
            </p:nvSpPr>
            <p:spPr>
              <a:xfrm>
                <a:off x="1836533" y="5914973"/>
                <a:ext cx="72008" cy="71957"/>
              </a:xfrm>
              <a:prstGeom prst="triangle">
                <a:avLst>
                  <a:gd name="adj" fmla="val 50113"/>
                </a:avLst>
              </a:prstGeom>
              <a:noFill/>
              <a:ln>
                <a:solidFill>
                  <a:srgbClr val="953FA3">
                    <a:alpha val="67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835622" y="5986199"/>
                <a:ext cx="72008" cy="170374"/>
              </a:xfrm>
              <a:prstGeom prst="rect">
                <a:avLst/>
              </a:prstGeom>
              <a:noFill/>
              <a:ln>
                <a:solidFill>
                  <a:srgbClr val="953FA3">
                    <a:alpha val="67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835622" y="6156573"/>
                <a:ext cx="72008" cy="43054"/>
              </a:xfrm>
              <a:prstGeom prst="rect">
                <a:avLst/>
              </a:prstGeom>
              <a:noFill/>
              <a:ln>
                <a:solidFill>
                  <a:srgbClr val="953FA3">
                    <a:alpha val="67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任意多边形 12"/>
            <p:cNvSpPr/>
            <p:nvPr/>
          </p:nvSpPr>
          <p:spPr>
            <a:xfrm>
              <a:off x="2031546" y="5983061"/>
              <a:ext cx="1390650" cy="70757"/>
            </a:xfrm>
            <a:custGeom>
              <a:avLst/>
              <a:gdLst>
                <a:gd name="connsiteX0" fmla="*/ 0 w 1390650"/>
                <a:gd name="connsiteY0" fmla="*/ 57150 h 70757"/>
                <a:gd name="connsiteX1" fmla="*/ 360590 w 1390650"/>
                <a:gd name="connsiteY1" fmla="*/ 1360 h 70757"/>
                <a:gd name="connsiteX2" fmla="*/ 853168 w 1390650"/>
                <a:gd name="connsiteY2" fmla="*/ 70757 h 70757"/>
                <a:gd name="connsiteX3" fmla="*/ 1390650 w 1390650"/>
                <a:gd name="connsiteY3" fmla="*/ 0 h 70757"/>
              </a:gdLst>
              <a:ahLst/>
              <a:cxnLst>
                <a:cxn ang="0">
                  <a:pos x="connsiteX0" y="connsiteY0"/>
                </a:cxn>
                <a:cxn ang="0">
                  <a:pos x="connsiteX1" y="connsiteY1"/>
                </a:cxn>
                <a:cxn ang="0">
                  <a:pos x="connsiteX2" y="connsiteY2"/>
                </a:cxn>
                <a:cxn ang="0">
                  <a:pos x="connsiteX3" y="connsiteY3"/>
                </a:cxn>
              </a:cxnLst>
              <a:rect l="l" t="t" r="r" b="b"/>
              <a:pathLst>
                <a:path w="1390650" h="70757">
                  <a:moveTo>
                    <a:pt x="0" y="57150"/>
                  </a:moveTo>
                  <a:cubicBezTo>
                    <a:pt x="109197" y="28121"/>
                    <a:pt x="218395" y="-908"/>
                    <a:pt x="360590" y="1360"/>
                  </a:cubicBezTo>
                  <a:cubicBezTo>
                    <a:pt x="502785" y="3628"/>
                    <a:pt x="681491" y="70984"/>
                    <a:pt x="853168" y="70757"/>
                  </a:cubicBezTo>
                  <a:cubicBezTo>
                    <a:pt x="1024845" y="70530"/>
                    <a:pt x="1291318" y="14968"/>
                    <a:pt x="1390650" y="0"/>
                  </a:cubicBezTo>
                </a:path>
              </a:pathLst>
            </a:custGeom>
            <a:noFill/>
            <a:ln>
              <a:solidFill>
                <a:srgbClr val="953FA3"/>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 calcmode="lin" valueType="num">
                                      <p:cBhvr additive="base">
                                        <p:cTn id="1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 </a:t>
            </a:r>
            <a:r>
              <a:rPr lang="en-US" altLang="zh-CN" sz="2410" kern="0" dirty="0">
                <a:solidFill>
                  <a:srgbClr val="000000"/>
                </a:solidFill>
                <a:latin typeface="Times New Roman" panose="02020603050405020304" pitchFamily="65" charset="-122"/>
                <a:ea typeface="楷体_GB2312" pitchFamily="65" charset="-122"/>
              </a:rPr>
              <a:t>The Chinese Ancient Tea Museum was officially unveiled(</a:t>
            </a:r>
            <a:r>
              <a:rPr lang="zh-CN" altLang="en-US" sz="2410" kern="0" dirty="0">
                <a:solidFill>
                  <a:srgbClr val="000000"/>
                </a:solidFill>
                <a:latin typeface="Times New Roman" panose="02020603050405020304" pitchFamily="65" charset="-122"/>
                <a:ea typeface="楷体_GB2312" pitchFamily="65" charset="-122"/>
              </a:rPr>
              <a:t>揭幕</a:t>
            </a:r>
            <a:r>
              <a:rPr lang="en-US" altLang="zh-CN" sz="2410" kern="0" dirty="0">
                <a:solidFill>
                  <a:srgbClr val="000000"/>
                </a:solidFill>
                <a:latin typeface="Times New Roman" panose="02020603050405020304" pitchFamily="65" charset="-122"/>
                <a:ea typeface="楷体_GB2312" pitchFamily="65" charset="-122"/>
              </a:rPr>
              <a:t>) at the ceremony, open-</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ing</a:t>
            </a:r>
            <a:r>
              <a:rPr lang="en-US" altLang="zh-CN" sz="2410" kern="0" dirty="0">
                <a:solidFill>
                  <a:srgbClr val="000000"/>
                </a:solidFill>
                <a:latin typeface="Times New Roman" panose="02020603050405020304" pitchFamily="65" charset="-122"/>
                <a:ea typeface="楷体_GB2312" pitchFamily="65" charset="-122"/>
              </a:rPr>
              <a:t> </a:t>
            </a:r>
            <a:r>
              <a:rPr lang="en-US" altLang="zh-CN" sz="2410" kern="0" dirty="0" smtClean="0">
                <a:solidFill>
                  <a:srgbClr val="000000"/>
                </a:solidFill>
                <a:latin typeface="Times New Roman" panose="02020603050405020304" pitchFamily="65" charset="-122"/>
                <a:ea typeface="楷体_GB2312" pitchFamily="65" charset="-122"/>
              </a:rPr>
              <a:t>________(</a:t>
            </a:r>
            <a:r>
              <a:rPr lang="en-US" altLang="zh-CN" sz="2410" kern="0" dirty="0">
                <a:solidFill>
                  <a:srgbClr val="000000"/>
                </a:solidFill>
                <a:latin typeface="Times New Roman" panose="02020603050405020304" pitchFamily="65" charset="-122"/>
                <a:ea typeface="楷体_GB2312" pitchFamily="65" charset="-122"/>
              </a:rPr>
              <a:t>it) first exhibition: The Avenue of Truth—A Special Exhibition of </a:t>
            </a:r>
            <a:r>
              <a:rPr lang="en-US" altLang="zh-CN" sz="2410" kern="0" dirty="0" err="1">
                <a:solidFill>
                  <a:srgbClr val="000000"/>
                </a:solidFill>
                <a:latin typeface="Times New Roman" panose="02020603050405020304" pitchFamily="65" charset="-122"/>
                <a:ea typeface="楷体_GB2312" pitchFamily="65" charset="-122"/>
              </a:rPr>
              <a:t>Pu'er</a:t>
            </a:r>
            <a:r>
              <a:rPr lang="en-US" altLang="zh-CN" sz="2410" kern="0" dirty="0">
                <a:solidFill>
                  <a:srgbClr val="000000"/>
                </a:solidFill>
                <a:latin typeface="Times New Roman" panose="02020603050405020304" pitchFamily="65" charset="-122"/>
                <a:ea typeface="楷体_GB2312" pitchFamily="65" charset="-122"/>
              </a:rPr>
              <a:t> Tea.</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句意:在开幕式上,中华古茶博物馆正式揭牌,开启了它的第一个展览:大道遗真</a:t>
            </a:r>
            <a:b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——馆藏普洱茶专题展。名词exhibition前用形容词性物主代词。故填its。</a:t>
            </a:r>
            <a:endPar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endParaRPr>
          </a:p>
        </p:txBody>
      </p:sp>
      <p:sp>
        <p:nvSpPr>
          <p:cNvPr id="3" name="文本框 2"/>
          <p:cNvSpPr txBox="1"/>
          <p:nvPr/>
        </p:nvSpPr>
        <p:spPr>
          <a:xfrm>
            <a:off x="934725"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its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3. </a:t>
            </a:r>
            <a:r>
              <a:rPr lang="en-US" altLang="zh-CN" sz="2410" kern="0" dirty="0">
                <a:solidFill>
                  <a:srgbClr val="000000"/>
                </a:solidFill>
                <a:latin typeface="Times New Roman" panose="02020603050405020304" pitchFamily="65" charset="-122"/>
                <a:ea typeface="楷体_GB2312" pitchFamily="65" charset="-122"/>
              </a:rPr>
              <a:t>As the song goes, this long and winding road “will never disappear”, and it will al-</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ways stick in the visitor's memory. It sure does in </a:t>
            </a:r>
            <a:r>
              <a:rPr lang="en-US" altLang="zh-CN" sz="2410" kern="0" dirty="0" smtClean="0">
                <a:solidFill>
                  <a:srgbClr val="000000"/>
                </a:solidFill>
                <a:latin typeface="Times New Roman" panose="02020603050405020304" pitchFamily="65" charset="-122"/>
                <a:ea typeface="楷体_GB2312" pitchFamily="65" charset="-122"/>
              </a:rPr>
              <a:t>_________(</a:t>
            </a:r>
            <a:r>
              <a:rPr lang="en-US" altLang="zh-CN" sz="2410" kern="0" dirty="0">
                <a:solidFill>
                  <a:srgbClr val="000000"/>
                </a:solidFill>
                <a:latin typeface="Times New Roman" panose="02020603050405020304" pitchFamily="65" charset="-122"/>
                <a:ea typeface="楷体_GB2312" pitchFamily="65" charset="-122"/>
              </a:rPr>
              <a:t>I).</a:t>
            </a:r>
            <a:endParaRPr lang="en-US" altLang="zh-CN" sz="2800" dirty="0"/>
          </a:p>
          <a:p>
            <a:pPr marL="0" indent="0" eaLnBrk="0" latinLnBrk="1" hangingPunct="0">
              <a:lnSpc>
                <a:spcPct val="150000"/>
              </a:lnSpc>
              <a:spcBef>
                <a:spcPts val="145"/>
              </a:spcBef>
              <a:buNone/>
            </a:pPr>
            <a:endParaRPr lang="zh-CN" altLang="en-US" dirty="0" smtClean="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句意:正如歌中所唱,这条漫长而又曲折的道路“永远不会消失”,它将永远留在</a:t>
            </a:r>
            <a:b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游客的记忆中。它当然也会留在我的记忆中。设空处用名词性物主代词mine代替my </a:t>
            </a:r>
            <a:b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memory。</a:t>
            </a:r>
            <a:endPar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endParaRPr>
          </a:p>
        </p:txBody>
      </p:sp>
      <p:sp>
        <p:nvSpPr>
          <p:cNvPr id="3" name="文本框 2"/>
          <p:cNvSpPr txBox="1"/>
          <p:nvPr/>
        </p:nvSpPr>
        <p:spPr>
          <a:xfrm>
            <a:off x="6598925"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mine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4. </a:t>
            </a:r>
            <a:r>
              <a:rPr lang="en-US" altLang="zh-CN" sz="2410" kern="0" dirty="0">
                <a:solidFill>
                  <a:srgbClr val="000000"/>
                </a:solidFill>
                <a:latin typeface="Times New Roman" panose="02020603050405020304" pitchFamily="65" charset="-122"/>
                <a:ea typeface="楷体_GB2312" pitchFamily="65" charset="-122"/>
              </a:rPr>
              <a:t>This area, with </a:t>
            </a:r>
            <a:r>
              <a:rPr lang="en-US" altLang="zh-CN" sz="2410" kern="0" dirty="0" smtClean="0">
                <a:solidFill>
                  <a:srgbClr val="000000"/>
                </a:solidFill>
                <a:latin typeface="Times New Roman" panose="02020603050405020304" pitchFamily="65" charset="-122"/>
                <a:ea typeface="楷体_GB2312" pitchFamily="65" charset="-122"/>
              </a:rPr>
              <a:t>________(</a:t>
            </a:r>
            <a:r>
              <a:rPr lang="en-US" altLang="zh-CN" sz="2410" kern="0" dirty="0">
                <a:solidFill>
                  <a:srgbClr val="000000"/>
                </a:solidFill>
                <a:latin typeface="Times New Roman" panose="02020603050405020304" pitchFamily="65" charset="-122"/>
                <a:ea typeface="楷体_GB2312" pitchFamily="65" charset="-122"/>
              </a:rPr>
              <a:t>it) unique and breathtaking natural beauty, must be well pre-</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served for all people of the nation to enjoy—as a national park.</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with为介词,其后的宾语为beauty,设空处应用形容词性物主代词来修饰beauty。</a:t>
            </a:r>
            <a:b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故填its。</a:t>
            </a:r>
            <a:endPar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endParaRPr>
          </a:p>
        </p:txBody>
      </p:sp>
      <p:sp>
        <p:nvSpPr>
          <p:cNvPr id="3" name="文本框 2"/>
          <p:cNvSpPr txBox="1"/>
          <p:nvPr/>
        </p:nvSpPr>
        <p:spPr>
          <a:xfrm>
            <a:off x="267780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its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5. </a:t>
            </a:r>
            <a:r>
              <a:rPr lang="en-US" altLang="zh-CN" sz="2410" kern="0" dirty="0">
                <a:solidFill>
                  <a:srgbClr val="000000"/>
                </a:solidFill>
                <a:latin typeface="Times New Roman" panose="02020603050405020304" pitchFamily="65" charset="-122"/>
                <a:ea typeface="楷体_GB2312" pitchFamily="65" charset="-122"/>
              </a:rPr>
              <a:t>She was extremely pretty, and her house was a reflection of </a:t>
            </a:r>
            <a:r>
              <a:rPr lang="en-US" altLang="zh-CN" sz="2410" kern="0" dirty="0" smtClean="0">
                <a:solidFill>
                  <a:srgbClr val="000000"/>
                </a:solidFill>
                <a:latin typeface="Times New Roman" panose="02020603050405020304" pitchFamily="65" charset="-122"/>
                <a:ea typeface="楷体_GB2312" pitchFamily="65" charset="-122"/>
              </a:rPr>
              <a:t>____________(</a:t>
            </a:r>
            <a:r>
              <a:rPr lang="en-US" altLang="zh-CN" sz="2410" kern="0" dirty="0">
                <a:solidFill>
                  <a:srgbClr val="000000"/>
                </a:solidFill>
                <a:latin typeface="Times New Roman" panose="02020603050405020304" pitchFamily="65" charset="-122"/>
                <a:ea typeface="楷体_GB2312" pitchFamily="65" charset="-122"/>
              </a:rPr>
              <a:t>she), everything</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 in good taste and in perfect order.</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句意:她非常漂亮,她的房子反映了她本人(的品味),一切都很高雅,井井有条。此</a:t>
            </a:r>
            <a:b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空与her指代的人一致,强调她本人,所以要用反身代词herself。</a:t>
            </a:r>
            <a:endPar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endParaRPr>
          </a:p>
        </p:txBody>
      </p:sp>
      <p:sp>
        <p:nvSpPr>
          <p:cNvPr id="3" name="文本框 2"/>
          <p:cNvSpPr txBox="1"/>
          <p:nvPr/>
        </p:nvSpPr>
        <p:spPr>
          <a:xfrm>
            <a:off x="8148325"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herself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7877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6. </a:t>
            </a:r>
            <a:r>
              <a:rPr lang="en-US" altLang="zh-CN" sz="2410" kern="0" dirty="0">
                <a:solidFill>
                  <a:srgbClr val="000000"/>
                </a:solidFill>
                <a:latin typeface="Times New Roman" panose="02020603050405020304" pitchFamily="65" charset="-122"/>
                <a:ea typeface="楷体_GB2312" pitchFamily="65" charset="-122"/>
              </a:rPr>
              <a:t>As well as looking at exhibits, visitors can play with computer simulations(</a:t>
            </a:r>
            <a:r>
              <a:rPr lang="zh-CN" altLang="en-US" sz="2410" kern="0" dirty="0">
                <a:solidFill>
                  <a:srgbClr val="000000"/>
                </a:solidFill>
                <a:latin typeface="Times New Roman" panose="02020603050405020304" pitchFamily="65" charset="-122"/>
                <a:ea typeface="楷体_GB2312" pitchFamily="65" charset="-122"/>
              </a:rPr>
              <a:t>模拟</a:t>
            </a:r>
            <a:r>
              <a:rPr lang="en-US" altLang="zh-CN" sz="2410" kern="0" dirty="0">
                <a:solidFill>
                  <a:srgbClr val="000000"/>
                </a:solidFill>
                <a:latin typeface="Times New Roman" panose="02020603050405020304" pitchFamily="65" charset="-122"/>
                <a:ea typeface="楷体_GB2312" pitchFamily="65" charset="-122"/>
              </a:rPr>
              <a:t>)and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imagine </a:t>
            </a:r>
            <a:r>
              <a:rPr lang="en-US" altLang="zh-CN" sz="2410" kern="0" dirty="0" smtClean="0">
                <a:solidFill>
                  <a:srgbClr val="000000"/>
                </a:solidFill>
                <a:latin typeface="Times New Roman" panose="02020603050405020304" pitchFamily="65" charset="-122"/>
                <a:ea typeface="楷体_GB2312" pitchFamily="65" charset="-122"/>
              </a:rPr>
              <a:t>_______________(</a:t>
            </a:r>
            <a:r>
              <a:rPr lang="en-US" altLang="zh-CN" sz="2410" kern="0" dirty="0">
                <a:solidFill>
                  <a:srgbClr val="000000"/>
                </a:solidFill>
                <a:latin typeface="Times New Roman" panose="02020603050405020304" pitchFamily="65" charset="-122"/>
                <a:ea typeface="楷体_GB2312" pitchFamily="65" charset="-122"/>
              </a:rPr>
              <a:t>they) living at a different time in history or walking through a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rainforest.</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句意:除了观赏展品,游客(还)可以玩电脑模拟(游戏),想象他们自己生活在一个</a:t>
            </a:r>
            <a:b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不同的历史时期或漫步在热带雨林中。设空处作imagine的宾语,与主语visitors指的是</a:t>
            </a:r>
            <a:b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同一群人,故使用反身代词。</a:t>
            </a:r>
            <a:endPar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endParaRPr>
          </a:p>
        </p:txBody>
      </p:sp>
      <p:sp>
        <p:nvSpPr>
          <p:cNvPr id="3" name="文本框 2"/>
          <p:cNvSpPr txBox="1"/>
          <p:nvPr/>
        </p:nvSpPr>
        <p:spPr>
          <a:xfrm>
            <a:off x="1531625"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themselves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7. </a:t>
            </a:r>
            <a:r>
              <a:rPr lang="en-US" altLang="zh-CN" sz="2410" kern="0" dirty="0">
                <a:solidFill>
                  <a:srgbClr val="000000"/>
                </a:solidFill>
                <a:latin typeface="Times New Roman" panose="02020603050405020304" pitchFamily="65" charset="-122"/>
                <a:ea typeface="楷体_GB2312" pitchFamily="65" charset="-122"/>
              </a:rPr>
              <a:t>Readers are encouraged to continue exploring the digital world with the guidance of </a:t>
            </a:r>
            <a:r>
              <a:rPr lang="en-US" altLang="zh-CN" sz="2410" kern="0" dirty="0" smtClean="0">
                <a:solidFill>
                  <a:srgbClr val="000000"/>
                </a:solidFill>
                <a:latin typeface="Times New Roman" panose="02020603050405020304" pitchFamily="65" charset="-122"/>
                <a:ea typeface="楷体_GB2312" pitchFamily="65" charset="-122"/>
              </a:rPr>
              <a:t>____</a:t>
            </a:r>
            <a:br>
              <a:rPr lang="en-US" altLang="zh-CN" sz="2800" dirty="0"/>
            </a:br>
            <a:r>
              <a:rPr lang="en-US" altLang="zh-CN" sz="2410" kern="0" dirty="0" smtClean="0">
                <a:solidFill>
                  <a:srgbClr val="000000"/>
                </a:solidFill>
                <a:latin typeface="Times New Roman" panose="02020603050405020304" pitchFamily="65" charset="-122"/>
                <a:ea typeface="楷体_GB2312" pitchFamily="65" charset="-122"/>
              </a:rPr>
              <a:t>_______(</a:t>
            </a:r>
            <a:r>
              <a:rPr lang="en-US" altLang="zh-CN" sz="2410" kern="0" dirty="0">
                <a:solidFill>
                  <a:srgbClr val="000000"/>
                </a:solidFill>
                <a:latin typeface="Times New Roman" panose="02020603050405020304" pitchFamily="65" charset="-122"/>
                <a:ea typeface="楷体_GB2312" pitchFamily="65" charset="-122"/>
              </a:rPr>
              <a:t>we) Further Resources section featured in each volume.</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句意:我们鼓励读者运用我们在每一卷的参考资料部分提供的指导继续探索数</a:t>
            </a:r>
            <a:b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字世界。修饰Further Resources section,应用形容词性物主代词。</a:t>
            </a:r>
            <a:endParaRPr lang="zh-CN" altLang="en-US" dirty="0">
              <a:latin typeface="Times New Roman" panose="02020603050405020304" pitchFamily="18" charset="0"/>
              <a:sym typeface="Times New Roman" panose="02020603050405020304" pitchFamily="18" charset="0"/>
            </a:endParaRPr>
          </a:p>
        </p:txBody>
      </p:sp>
      <p:sp>
        <p:nvSpPr>
          <p:cNvPr id="3" name="文本框 2"/>
          <p:cNvSpPr txBox="1"/>
          <p:nvPr/>
        </p:nvSpPr>
        <p:spPr>
          <a:xfrm>
            <a:off x="468000" y="1198736"/>
            <a:ext cx="11831400" cy="461665"/>
          </a:xfrm>
          <a:prstGeom prst="rect">
            <a:avLst/>
          </a:prstGeom>
          <a:noFill/>
        </p:spPr>
        <p:txBody>
          <a:bodyPr vert="horz" rtlCol="0">
            <a:spAutoFit/>
          </a:bodyPr>
          <a:lstStyle/>
          <a:p>
            <a:r>
              <a:rPr lang="en-US" altLang="zh-CN" sz="2400" b="1" smtClean="0">
                <a:solidFill>
                  <a:srgbClr val="953FA3"/>
                </a:solidFill>
                <a:latin typeface="Times New Roman" panose="02020603050405020304" pitchFamily="18" charset="0"/>
                <a:ea typeface="楷体_GB2312" pitchFamily="65" charset="-122"/>
              </a:rPr>
              <a:t>our    </a:t>
            </a:r>
            <a:endParaRPr lang="zh-CN" altLang="en-US" sz="2400" b="1">
              <a:solidFill>
                <a:srgbClr val="953FA3"/>
              </a:solidFill>
              <a:latin typeface="Times New Roman" panose="02020603050405020304" pitchFamily="18" charset="0"/>
              <a:ea typeface="楷体_GB2312" pitchFamily="65" charset="-122"/>
            </a:endParaRPr>
          </a:p>
        </p:txBody>
      </p:sp>
      <p:sp>
        <p:nvSpPr>
          <p:cNvPr id="4" name="文本框 3"/>
          <p:cNvSpPr txBox="1"/>
          <p:nvPr/>
        </p:nvSpPr>
        <p:spPr>
          <a:xfrm>
            <a:off x="1114870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7877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8. </a:t>
            </a:r>
            <a:r>
              <a:rPr lang="en-US" altLang="zh-CN" sz="2410" kern="0" dirty="0">
                <a:solidFill>
                  <a:srgbClr val="000000"/>
                </a:solidFill>
                <a:latin typeface="Times New Roman" panose="02020603050405020304" pitchFamily="65" charset="-122"/>
                <a:ea typeface="楷体_GB2312" pitchFamily="65" charset="-122"/>
              </a:rPr>
              <a:t>Data about the moon's composition, such as how much ice and other treasures it con-</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tains</a:t>
            </a:r>
            <a:r>
              <a:rPr lang="en-US" altLang="zh-CN" sz="2410" kern="0" dirty="0">
                <a:solidFill>
                  <a:srgbClr val="000000"/>
                </a:solidFill>
                <a:latin typeface="Times New Roman" panose="02020603050405020304" pitchFamily="65" charset="-122"/>
                <a:ea typeface="楷体_GB2312" pitchFamily="65" charset="-122"/>
              </a:rPr>
              <a:t>, could help China decide whether </a:t>
            </a:r>
            <a:r>
              <a:rPr lang="en-US" altLang="zh-CN" sz="2410" kern="0" dirty="0" smtClean="0">
                <a:solidFill>
                  <a:srgbClr val="000000"/>
                </a:solidFill>
                <a:latin typeface="Times New Roman" panose="02020603050405020304" pitchFamily="65" charset="-122"/>
                <a:ea typeface="楷体_GB2312" pitchFamily="65" charset="-122"/>
              </a:rPr>
              <a:t>________(</a:t>
            </a:r>
            <a:r>
              <a:rPr lang="en-US" altLang="zh-CN" sz="2410" kern="0" dirty="0">
                <a:solidFill>
                  <a:srgbClr val="000000"/>
                </a:solidFill>
                <a:latin typeface="Times New Roman" panose="02020603050405020304" pitchFamily="65" charset="-122"/>
                <a:ea typeface="楷体_GB2312" pitchFamily="65" charset="-122"/>
              </a:rPr>
              <a:t>it) plans for a future lunar(</a:t>
            </a:r>
            <a:r>
              <a:rPr lang="zh-CN" altLang="en-US" sz="2410" kern="0" dirty="0">
                <a:solidFill>
                  <a:srgbClr val="000000"/>
                </a:solidFill>
                <a:latin typeface="Times New Roman" panose="02020603050405020304" pitchFamily="65" charset="-122"/>
                <a:ea typeface="楷体_GB2312" pitchFamily="65" charset="-122"/>
              </a:rPr>
              <a:t>月球的</a:t>
            </a:r>
            <a:r>
              <a:rPr lang="en-US" altLang="zh-CN" sz="2410" kern="0" dirty="0">
                <a:solidFill>
                  <a:srgbClr val="000000"/>
                </a:solidFill>
                <a:latin typeface="Times New Roman" panose="02020603050405020304" pitchFamily="65" charset="-122"/>
                <a:ea typeface="楷体_GB2312" pitchFamily="65" charset="-122"/>
              </a:rPr>
              <a:t>) base are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practical.</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句意:关于月亮构成的数据,比如它含有多少冰和其他宝藏,可以帮助中国确定其</a:t>
            </a:r>
            <a:b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未来建月球基地的计划是否可行。设空处作名词plans的定语,需用形容词性物主代词;</a:t>
            </a:r>
            <a:b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根据提示词it可知设空处填its。</a:t>
            </a:r>
            <a:endPar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endParaRPr>
          </a:p>
        </p:txBody>
      </p:sp>
      <p:sp>
        <p:nvSpPr>
          <p:cNvPr id="3" name="文本框 2"/>
          <p:cNvSpPr txBox="1"/>
          <p:nvPr/>
        </p:nvSpPr>
        <p:spPr>
          <a:xfrm>
            <a:off x="5305113"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its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9. </a:t>
            </a:r>
            <a:r>
              <a:rPr lang="en-US" altLang="zh-CN" sz="2410" kern="0" dirty="0">
                <a:solidFill>
                  <a:srgbClr val="000000"/>
                </a:solidFill>
                <a:latin typeface="Times New Roman" panose="02020603050405020304" pitchFamily="65" charset="-122"/>
                <a:ea typeface="楷体_GB2312" pitchFamily="65" charset="-122"/>
              </a:rPr>
              <a:t>When the gorillas and I frightened each other, I was just glad to find </a:t>
            </a:r>
            <a:r>
              <a:rPr lang="en-US" altLang="zh-CN" sz="2410" kern="0" dirty="0" smtClean="0">
                <a:solidFill>
                  <a:srgbClr val="000000"/>
                </a:solidFill>
                <a:latin typeface="Times New Roman" panose="02020603050405020304" pitchFamily="65" charset="-122"/>
                <a:ea typeface="楷体_GB2312" pitchFamily="65" charset="-122"/>
              </a:rPr>
              <a:t>_________(</a:t>
            </a:r>
            <a:r>
              <a:rPr lang="en-US" altLang="zh-CN" sz="2410" kern="0" dirty="0">
                <a:solidFill>
                  <a:srgbClr val="000000"/>
                </a:solidFill>
                <a:latin typeface="Times New Roman" panose="02020603050405020304" pitchFamily="65" charset="-122"/>
                <a:ea typeface="楷体_GB2312" pitchFamily="65" charset="-122"/>
              </a:rPr>
              <a:t>they)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alive.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设空处作动词find的宾语,应用宾格,故填them,指代上文的gorillas。</a:t>
            </a:r>
            <a:endPar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endParaRPr>
          </a:p>
        </p:txBody>
      </p:sp>
      <p:sp>
        <p:nvSpPr>
          <p:cNvPr id="3" name="文本框 2"/>
          <p:cNvSpPr txBox="1"/>
          <p:nvPr/>
        </p:nvSpPr>
        <p:spPr>
          <a:xfrm>
            <a:off x="9208775"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them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10. </a:t>
            </a:r>
            <a:r>
              <a:rPr lang="en-US" altLang="zh-CN" sz="2410" kern="0" dirty="0">
                <a:solidFill>
                  <a:srgbClr val="000000"/>
                </a:solidFill>
                <a:latin typeface="Times New Roman" panose="02020603050405020304" pitchFamily="65" charset="-122"/>
                <a:ea typeface="楷体_GB2312" pitchFamily="65" charset="-122"/>
              </a:rPr>
              <a:t>It is so easy to let an online course slide, but </a:t>
            </a:r>
            <a:r>
              <a:rPr lang="en-US" altLang="zh-CN" sz="2410" kern="0" dirty="0" smtClean="0">
                <a:solidFill>
                  <a:srgbClr val="000000"/>
                </a:solidFill>
                <a:latin typeface="Times New Roman" panose="02020603050405020304" pitchFamily="65" charset="-122"/>
                <a:ea typeface="楷体_GB2312" pitchFamily="65" charset="-122"/>
              </a:rPr>
              <a:t>_________(</a:t>
            </a:r>
            <a:r>
              <a:rPr lang="en-US" altLang="zh-CN" sz="2410" kern="0" dirty="0">
                <a:solidFill>
                  <a:srgbClr val="000000"/>
                </a:solidFill>
                <a:latin typeface="Times New Roman" panose="02020603050405020304" pitchFamily="65" charset="-122"/>
                <a:ea typeface="楷体_GB2312" pitchFamily="65" charset="-122"/>
              </a:rPr>
              <a:t>you) grades will suffer as a re-</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sult</a:t>
            </a:r>
            <a:r>
              <a:rPr lang="en-US" altLang="zh-CN" sz="2410" kern="0" dirty="0">
                <a:solidFill>
                  <a:srgbClr val="000000"/>
                </a:solidFill>
                <a:latin typeface="Times New Roman" panose="02020603050405020304" pitchFamily="65" charset="-122"/>
                <a:ea typeface="楷体_GB2312" pitchFamily="65" charset="-122"/>
              </a:rPr>
              <a:t>.</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此处表示“你的成绩”,应使用形容词性物主代词,故填your。</a:t>
            </a:r>
            <a:endPar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endParaRPr>
          </a:p>
        </p:txBody>
      </p:sp>
      <p:sp>
        <p:nvSpPr>
          <p:cNvPr id="3" name="文本框 2"/>
          <p:cNvSpPr txBox="1"/>
          <p:nvPr/>
        </p:nvSpPr>
        <p:spPr>
          <a:xfrm>
            <a:off x="6416363"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your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11. </a:t>
            </a:r>
            <a:r>
              <a:rPr lang="en-US" altLang="zh-CN" sz="2410" kern="0" dirty="0">
                <a:solidFill>
                  <a:srgbClr val="000000"/>
                </a:solidFill>
                <a:latin typeface="Times New Roman" panose="02020603050405020304" pitchFamily="65" charset="-122"/>
                <a:ea typeface="楷体_GB2312" pitchFamily="65" charset="-122"/>
              </a:rPr>
              <a:t>Nervously facing challenges, I know I will whisper to </a:t>
            </a:r>
            <a:r>
              <a:rPr lang="en-US" altLang="zh-CN" sz="2410" kern="0" dirty="0" smtClean="0">
                <a:solidFill>
                  <a:srgbClr val="000000"/>
                </a:solidFill>
                <a:latin typeface="Times New Roman" panose="02020603050405020304" pitchFamily="65" charset="-122"/>
                <a:ea typeface="楷体_GB2312" pitchFamily="65" charset="-122"/>
              </a:rPr>
              <a:t>___________(</a:t>
            </a:r>
            <a:r>
              <a:rPr lang="en-US" altLang="zh-CN" sz="2410" kern="0" dirty="0">
                <a:solidFill>
                  <a:srgbClr val="000000"/>
                </a:solidFill>
                <a:latin typeface="Times New Roman" panose="02020603050405020304" pitchFamily="65" charset="-122"/>
                <a:ea typeface="楷体_GB2312" pitchFamily="65" charset="-122"/>
              </a:rPr>
              <a:t>I) the two simple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words “Be yourself”.</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此处指低声对自己说,从句的主语和宾语指同一个人,故设空处应填反身代词</a:t>
            </a:r>
            <a:b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myself。</a:t>
            </a:r>
            <a:endPar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endParaRPr>
          </a:p>
        </p:txBody>
      </p:sp>
      <p:sp>
        <p:nvSpPr>
          <p:cNvPr id="3" name="文本框 2"/>
          <p:cNvSpPr txBox="1"/>
          <p:nvPr/>
        </p:nvSpPr>
        <p:spPr>
          <a:xfrm>
            <a:off x="7584763"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myself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12. </a:t>
            </a:r>
            <a:r>
              <a:rPr lang="en-US" altLang="zh-CN" sz="2410" kern="0" dirty="0">
                <a:solidFill>
                  <a:srgbClr val="000000"/>
                </a:solidFill>
                <a:latin typeface="Times New Roman" panose="02020603050405020304" pitchFamily="65" charset="-122"/>
                <a:ea typeface="楷体_GB2312" pitchFamily="65" charset="-122"/>
              </a:rPr>
              <a:t>Little by little, these different kinds of life got used to one another and formed </a:t>
            </a:r>
            <a:r>
              <a:rPr lang="en-US" altLang="zh-CN" sz="2410" kern="0" dirty="0" smtClean="0">
                <a:solidFill>
                  <a:srgbClr val="000000"/>
                </a:solidFill>
                <a:latin typeface="Times New Roman" panose="02020603050405020304" pitchFamily="65" charset="-122"/>
                <a:ea typeface="楷体_GB2312" pitchFamily="65" charset="-122"/>
              </a:rPr>
              <a:t>______</a:t>
            </a:r>
            <a:br>
              <a:rPr lang="en-US" altLang="zh-CN" sz="2800" dirty="0"/>
            </a:br>
            <a:r>
              <a:rPr lang="en-US" altLang="zh-CN" sz="2410" kern="0" dirty="0" smtClean="0">
                <a:solidFill>
                  <a:srgbClr val="000000"/>
                </a:solidFill>
                <a:latin typeface="Times New Roman" panose="02020603050405020304" pitchFamily="65" charset="-122"/>
                <a:ea typeface="楷体_GB2312" pitchFamily="65" charset="-122"/>
              </a:rPr>
              <a:t>____(</a:t>
            </a:r>
            <a:r>
              <a:rPr lang="en-US" altLang="zh-CN" sz="2410" kern="0" dirty="0">
                <a:solidFill>
                  <a:srgbClr val="000000"/>
                </a:solidFill>
                <a:latin typeface="Times New Roman" panose="02020603050405020304" pitchFamily="65" charset="-122"/>
                <a:ea typeface="楷体_GB2312" pitchFamily="65" charset="-122"/>
              </a:rPr>
              <a:t>they) own ecosystem.</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设空处指代these different kinds of life,与own连用,共同修饰名词ecosystem,表示</a:t>
            </a:r>
            <a:b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强调,故填their。</a:t>
            </a:r>
            <a:endPar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endParaRPr>
          </a:p>
        </p:txBody>
      </p:sp>
      <p:sp>
        <p:nvSpPr>
          <p:cNvPr id="3" name="文本框 2"/>
          <p:cNvSpPr txBox="1"/>
          <p:nvPr/>
        </p:nvSpPr>
        <p:spPr>
          <a:xfrm>
            <a:off x="468000"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endParaRPr lang="zh-CN" altLang="en-US" sz="2400" b="1">
              <a:solidFill>
                <a:srgbClr val="953FA3"/>
              </a:solidFill>
              <a:latin typeface="Times New Roman" panose="02020603050405020304" pitchFamily="18" charset="0"/>
              <a:ea typeface="楷体_GB2312" pitchFamily="65" charset="-122"/>
            </a:endParaRPr>
          </a:p>
        </p:txBody>
      </p:sp>
      <p:sp>
        <p:nvSpPr>
          <p:cNvPr id="4" name="文本框 3"/>
          <p:cNvSpPr txBox="1"/>
          <p:nvPr/>
        </p:nvSpPr>
        <p:spPr>
          <a:xfrm>
            <a:off x="10562913"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their</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13. </a:t>
            </a:r>
            <a:r>
              <a:rPr lang="en-US" altLang="zh-CN" sz="2410" kern="0" dirty="0">
                <a:solidFill>
                  <a:srgbClr val="000000"/>
                </a:solidFill>
                <a:latin typeface="Times New Roman" panose="02020603050405020304" pitchFamily="65" charset="-122"/>
                <a:ea typeface="楷体_GB2312" pitchFamily="65" charset="-122"/>
              </a:rPr>
              <a:t>After a while, she discovered that surfing the Internet could help </a:t>
            </a:r>
            <a:r>
              <a:rPr lang="en-US" altLang="zh-CN" sz="2410" kern="0" dirty="0" smtClean="0">
                <a:solidFill>
                  <a:srgbClr val="000000"/>
                </a:solidFill>
                <a:latin typeface="Times New Roman" panose="02020603050405020304" pitchFamily="65" charset="-122"/>
                <a:ea typeface="楷体_GB2312" pitchFamily="65" charset="-122"/>
              </a:rPr>
              <a:t>________(</a:t>
            </a:r>
            <a:r>
              <a:rPr lang="en-US" altLang="zh-CN" sz="2410" kern="0" dirty="0">
                <a:solidFill>
                  <a:srgbClr val="000000"/>
                </a:solidFill>
                <a:latin typeface="Times New Roman" panose="02020603050405020304" pitchFamily="65" charset="-122"/>
                <a:ea typeface="楷体_GB2312" pitchFamily="65" charset="-122"/>
              </a:rPr>
              <a:t>she) feel less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lonely and bored.</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设空处作help的宾语,应用宾格形式。</a:t>
            </a:r>
            <a:endPar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endParaRPr>
          </a:p>
        </p:txBody>
      </p:sp>
      <p:sp>
        <p:nvSpPr>
          <p:cNvPr id="3" name="文本框 2"/>
          <p:cNvSpPr txBox="1"/>
          <p:nvPr/>
        </p:nvSpPr>
        <p:spPr>
          <a:xfrm>
            <a:off x="889603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her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14. </a:t>
            </a:r>
            <a:r>
              <a:rPr lang="en-US" altLang="zh-CN" sz="2410" kern="0" dirty="0">
                <a:solidFill>
                  <a:srgbClr val="000000"/>
                </a:solidFill>
                <a:latin typeface="Times New Roman" panose="02020603050405020304" pitchFamily="65" charset="-122"/>
                <a:ea typeface="楷体_GB2312" pitchFamily="65" charset="-122"/>
              </a:rPr>
              <a:t>If you want to go to the party with me, you should behave </a:t>
            </a:r>
            <a:r>
              <a:rPr lang="en-US" altLang="zh-CN" sz="2410" kern="0" dirty="0" smtClean="0">
                <a:solidFill>
                  <a:srgbClr val="000000"/>
                </a:solidFill>
                <a:latin typeface="Times New Roman" panose="02020603050405020304" pitchFamily="65" charset="-122"/>
                <a:ea typeface="楷体_GB2312" pitchFamily="65" charset="-122"/>
              </a:rPr>
              <a:t>________________________</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(you) well.</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句意:如果你(们)想和我一起去参加聚会,你(们)应该举止得体。behave oneself</a:t>
            </a:r>
            <a:b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意思是“表现得体,有礼貌”,因此填yourself或yourselves。</a:t>
            </a:r>
            <a:endPar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endParaRPr>
          </a:p>
        </p:txBody>
      </p:sp>
      <p:sp>
        <p:nvSpPr>
          <p:cNvPr id="3" name="文本框 2"/>
          <p:cNvSpPr txBox="1"/>
          <p:nvPr/>
        </p:nvSpPr>
        <p:spPr>
          <a:xfrm>
            <a:off x="808958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yourself/yourselves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15. </a:t>
            </a:r>
            <a:r>
              <a:rPr lang="en-US" altLang="zh-CN" sz="2410" kern="0" dirty="0">
                <a:solidFill>
                  <a:srgbClr val="000000"/>
                </a:solidFill>
                <a:latin typeface="Times New Roman" panose="02020603050405020304" pitchFamily="65" charset="-122"/>
                <a:ea typeface="楷体_GB2312" pitchFamily="65" charset="-122"/>
              </a:rPr>
              <a:t>Andrew Reynolds, a cheerful fellow in </a:t>
            </a:r>
            <a:r>
              <a:rPr lang="en-US" altLang="zh-CN" sz="2410" kern="0" dirty="0" smtClean="0">
                <a:solidFill>
                  <a:srgbClr val="000000"/>
                </a:solidFill>
                <a:latin typeface="Times New Roman" panose="02020603050405020304" pitchFamily="65" charset="-122"/>
                <a:ea typeface="楷体_GB2312" pitchFamily="65" charset="-122"/>
              </a:rPr>
              <a:t>________(</a:t>
            </a:r>
            <a:r>
              <a:rPr lang="en-US" altLang="zh-CN" sz="2410" kern="0" dirty="0">
                <a:solidFill>
                  <a:srgbClr val="000000"/>
                </a:solidFill>
                <a:latin typeface="Times New Roman" panose="02020603050405020304" pitchFamily="65" charset="-122"/>
                <a:ea typeface="楷体_GB2312" pitchFamily="65" charset="-122"/>
              </a:rPr>
              <a:t>he) early 30s, pilots Sydney ferryboats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for a living.</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句意:安德鲁·雷诺兹是一个快乐的小伙子,30岁出头,靠开悉尼的渡轮谋生。in </a:t>
            </a:r>
            <a:b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one's early 30s意为“某人30岁出头”,此处应使用形容词性物主代词。故填his。</a:t>
            </a:r>
            <a:endPar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endParaRPr>
          </a:p>
        </p:txBody>
      </p:sp>
      <p:sp>
        <p:nvSpPr>
          <p:cNvPr id="3" name="文本框 2"/>
          <p:cNvSpPr txBox="1"/>
          <p:nvPr/>
        </p:nvSpPr>
        <p:spPr>
          <a:xfrm>
            <a:off x="575913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his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16. </a:t>
            </a:r>
            <a:r>
              <a:rPr lang="en-US" altLang="zh-CN" sz="2410" kern="0" dirty="0">
                <a:solidFill>
                  <a:srgbClr val="000000"/>
                </a:solidFill>
                <a:latin typeface="Times New Roman" panose="02020603050405020304" pitchFamily="65" charset="-122"/>
                <a:ea typeface="楷体_GB2312" pitchFamily="65" charset="-122"/>
              </a:rPr>
              <a:t>But even this dismissal suggests something: perhaps, just like life </a:t>
            </a:r>
            <a:r>
              <a:rPr lang="en-US" altLang="zh-CN" sz="2410" kern="0" dirty="0" smtClean="0">
                <a:solidFill>
                  <a:srgbClr val="000000"/>
                </a:solidFill>
                <a:latin typeface="Times New Roman" panose="02020603050405020304" pitchFamily="65" charset="-122"/>
                <a:ea typeface="楷体_GB2312" pitchFamily="65" charset="-122"/>
              </a:rPr>
              <a:t>___________(</a:t>
            </a:r>
            <a:r>
              <a:rPr lang="en-US" altLang="zh-CN" sz="2410" kern="0" dirty="0">
                <a:solidFill>
                  <a:srgbClr val="000000"/>
                </a:solidFill>
                <a:latin typeface="Times New Roman" panose="02020603050405020304" pitchFamily="65" charset="-122"/>
                <a:ea typeface="楷体_GB2312" pitchFamily="65" charset="-122"/>
              </a:rPr>
              <a:t>it)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throughout the universe, the rise of </a:t>
            </a:r>
            <a:r>
              <a:rPr lang="en-US" altLang="zh-CN" sz="2410" kern="0" dirty="0" err="1">
                <a:solidFill>
                  <a:srgbClr val="000000"/>
                </a:solidFill>
                <a:latin typeface="Times New Roman" panose="02020603050405020304" pitchFamily="65" charset="-122"/>
                <a:ea typeface="楷体_GB2312" pitchFamily="65" charset="-122"/>
              </a:rPr>
              <a:t>ALife</a:t>
            </a:r>
            <a:r>
              <a:rPr lang="en-US" altLang="zh-CN" sz="2410" kern="0" dirty="0">
                <a:solidFill>
                  <a:srgbClr val="000000"/>
                </a:solidFill>
                <a:latin typeface="Times New Roman" panose="02020603050405020304" pitchFamily="65" charset="-122"/>
                <a:ea typeface="楷体_GB2312" pitchFamily="65" charset="-122"/>
              </a:rPr>
              <a:t> will prove unavoidable.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此处表示“也许,就像宇宙中的生命本身一样,人造生命(ALife)的崛起将会是不</a:t>
            </a:r>
            <a:b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rPr>
              <a:t>可避免的”。设空处作life的同位语,意为“它自己”,表示强调,故填反身代词itself。</a:t>
            </a:r>
            <a:endParaRPr lang="zh-CN" altLang="en-US" sz="2410" kern="0" dirty="0" smtClean="0">
              <a:solidFill>
                <a:srgbClr val="000000"/>
              </a:solidFill>
              <a:latin typeface="Times New Roman" panose="02020603050405020304" pitchFamily="18" charset="0"/>
              <a:ea typeface="楷体" panose="02010609060101010101" charset="-122"/>
              <a:sym typeface="Times New Roman" panose="02020603050405020304" pitchFamily="18" charset="0"/>
            </a:endParaRPr>
          </a:p>
        </p:txBody>
      </p:sp>
      <p:sp>
        <p:nvSpPr>
          <p:cNvPr id="3" name="文本框 2"/>
          <p:cNvSpPr txBox="1"/>
          <p:nvPr/>
        </p:nvSpPr>
        <p:spPr>
          <a:xfrm>
            <a:off x="902938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itself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tags/tag1.xml><?xml version="1.0" encoding="utf-8"?>
<p:tagLst xmlns:p="http://schemas.openxmlformats.org/presentationml/2006/main">
  <p:tag name="TOP" val="205.7761"/>
  <p:tag name="LEFT" val="173.0257"/>
  <p:tag name="WIDTH" val="632.3657"/>
  <p:tag name="HEIGHT" val="116.325"/>
  <p:tag name="FONTSIZE" val="96"/>
  <p:tag name="MARGINBOTTOM" val="0"/>
  <p:tag name="MARGINLEFT" val="0"/>
  <p:tag name="MARGINRIGHT" val="0"/>
  <p:tag name="MARGINTOP" val="0"/>
  <p:tag name="LINERULEAFTER" val="0"/>
</p:tagLst>
</file>

<file path=ppt/theme/theme1.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8.xml"/></Relationships>
</file>

<file path=customXml/item1.xml><?xml version="1.0" encoding="utf-8"?>
<CustomerInfo>
  <UserName>Administrator</UserName>
  <CompanyName>微软中国</CompanyName>
  <MachineID>WS103</MachineID>
  <ToolID>ljRTAAAAKGU=</ToolID>
  <Data><![CDATA[bGpSVEFBQUFLR1U9]]></Data>
</CustomerInfo>
</file>

<file path=customXml/item2.xml><?xml version="1.0" encoding="utf-8"?>
<CustomerInfo>
  <UserName>Administrator</UserName>
  <CompanyName>微软中国</CompanyName>
  <MachineID>WS103</MachineID>
  <ToolID>ljRTAAAAKGU=</ToolID>
  <Data><![CDATA[bGpSVEFBQUFLR1U9]]></Data>
</CustomerInfo>
</file>

<file path=customXml/item3.xml><?xml version="1.0" encoding="utf-8"?>
<CustomerInfo>
  <UserName>Administrator</UserName>
  <CompanyName>微软中国</CompanyName>
  <MachineID>WS103</MachineID>
  <ToolID>ljRTAAAAKGU=</ToolID>
  <Data><![CDATA[bGpSVEFBQUFLR1U9]]></Data>
</CustomerInfo>
</file>

<file path=customXml/item4.xml><?xml version="1.0" encoding="utf-8"?>
<CustomerInfo>
  <UserName>Administrator</UserName>
  <CompanyName>微软中国</CompanyName>
  <MachineID>WS103</MachineID>
  <ToolID>ljRTAAAAKGU=</ToolID>
  <Data><![CDATA[bGpSVEFBQUFLR1U9]]></Data>
</CustomerInfo>
</file>

<file path=customXml/item5.xml><?xml version="1.0" encoding="utf-8"?>
<CustomerInfo>
  <UserName>Administrator</UserName>
  <CompanyName>微软中国</CompanyName>
  <MachineID>WS103</MachineID>
  <ToolID>ljRTAAAAKGU=</ToolID>
  <Data><![CDATA[bGpSVEFBQUFLR1U9]]></Data>
</CustomerInfo>
</file>

<file path=customXml/item6.xml><?xml version="1.0" encoding="utf-8"?>
<CustomerInfo>
  <UserName>Administrator</UserName>
  <CompanyName>微软中国</CompanyName>
  <MachineID>WS103</MachineID>
  <ToolID>ljRTAAAAKGU=</ToolID>
  <Data><![CDATA[bGpSVEFBQUFLR1U9]]></Data>
</CustomerInfo>
</file>

<file path=customXml/item7.xml><?xml version="1.0" encoding="utf-8"?>
<CustomerInfo>
  <UserName>Administrator</UserName>
  <CompanyName>微软中国</CompanyName>
  <MachineID>WS103</MachineID>
  <ToolID>ljRTAAAAKGU=</ToolID>
  <Data><![CDATA[bGpSVEFBQUFLR1U9]]></Data>
</CustomerInfo>
</file>

<file path=customXml/item8.xml><?xml version="1.0" encoding="utf-8"?>
<CustomerInfo>
  <UserName>Administrator</UserName>
  <CompanyName>微软中国</CompanyName>
  <MachineID>WS103</MachineID>
  <ToolID>ljRTAAAAKGU=</ToolID>
  <Data><![CDATA[bGpSVEFBQUFLR1U9]]></Data>
</CustomerInfo>
</file>

<file path=customXml/item9.xml><?xml version="1.0" encoding="utf-8"?>
<CustomerInfo>
  <UserName>Administrator</UserName>
  <CompanyName>微软中国</CompanyName>
  <MachineID>WS103</MachineID>
  <ToolID>ljRTAAAAKGU=</ToolID>
  <Data><![CDATA[bGpSVEFBQUFLR1U9]]></Data>
</CustomerInfo>
</file>

<file path=customXml/item10.xml><?xml version="1.0" encoding="utf-8"?>
<CustomerInfo>
  <UserName>Administrator</UserName>
  <CompanyName>微软中国</CompanyName>
  <MachineID>WS103</MachineID>
  <ToolID>ljRTAAAAKGU=</ToolID>
  <Data><![CDATA[bGpSVEFBQUFLR1U9]]></Data>
</CustomerInfo>
</file>

<file path=customXml/item11.xml><?xml version="1.0" encoding="utf-8"?>
<CustomerInfo>
  <UserName>Administrator</UserName>
  <CompanyName>微软中国</CompanyName>
  <MachineID>WS103</MachineID>
  <ToolID>ljRTAAAAKGU=</ToolID>
  <Data><![CDATA[bGpSVEFBQUFLR1U9]]></Data>
</CustomerInfo>
</file>

<file path=customXml/item12.xml><?xml version="1.0" encoding="utf-8"?>
<CustomerInfo>
  <UserName>Administrator</UserName>
  <CompanyName>微软中国</CompanyName>
  <MachineID>WS103</MachineID>
  <ToolID>ljRTAAAAKGU=</ToolID>
  <Data><![CDATA[bGpSVEFBQUFLR1U9]]></Data>
</CustomerInfo>
</file>

<file path=customXml/item13.xml><?xml version="1.0" encoding="utf-8"?>
<CustomerInfo>
  <UserName>Administrator</UserName>
  <CompanyName>微软中国</CompanyName>
  <MachineID>WS103</MachineID>
  <ToolID>ljRTAAAAKGU=</ToolID>
  <Data><![CDATA[bGpSVEFBQUFLR1U9]]></Data>
</CustomerInfo>
</file>

<file path=customXml/item14.xml><?xml version="1.0" encoding="utf-8"?>
<CustomerInfo>
  <UserName>Administrator</UserName>
  <CompanyName>微软中国</CompanyName>
  <MachineID>WS103</MachineID>
  <ToolID>ljRTAAAAKGU=</ToolID>
  <Data><![CDATA[bGpSVEFBQUFLR1U9]]></Data>
</CustomerInfo>
</file>

<file path=customXml/item15.xml><?xml version="1.0" encoding="utf-8"?>
<CustomerInfo>
  <UserName>Administrator</UserName>
  <CompanyName>微软中国</CompanyName>
  <MachineID>WS103</MachineID>
  <ToolID>ljRTAAAAKGU=</ToolID>
  <Data><![CDATA[bGpSVEFBQUFLR1U9]]></Data>
</CustomerInfo>
</file>

<file path=customXml/item16.xml><?xml version="1.0" encoding="utf-8"?>
<CustomerInfo>
  <UserName>Administrator</UserName>
  <CompanyName>微软中国</CompanyName>
  <MachineID>WS103</MachineID>
  <ToolID>ljRTAAAAKGU=</ToolID>
  <Data><![CDATA[bGpSVEFBQUFLR1U9]]></Data>
</CustomerInfo>
</file>

<file path=customXml/item17.xml><?xml version="1.0" encoding="utf-8"?>
<CustomerInfo>
  <UserName>Administrator</UserName>
  <CompanyName>微软中国</CompanyName>
  <MachineID>WS103</MachineID>
  <ToolID>ljRTAAAAKGU=</ToolID>
  <Data><![CDATA[bGpSVEFBQUFLR1U9]]></Data>
</CustomerInfo>
</file>

<file path=customXml/item18.xml><?xml version="1.0" encoding="utf-8"?>
<CustomerInfo>
  <UserName>Administrator</UserName>
  <CompanyName>微软中国</CompanyName>
  <MachineID>WS103</MachineID>
  <ToolID>ljRTAAAAKGU=</ToolID>
  <Data><![CDATA[bGpSVEFBQUFLR1U9]]></Data>
</CustomerInfo>
</file>

<file path=customXml/item19.xml><?xml version="1.0" encoding="utf-8"?>
<CustomerInfo>
  <UserName>Administrator</UserName>
  <CompanyName>微软中国</CompanyName>
  <MachineID>WS103</MachineID>
  <ToolID>ljRTAAAAKGU=</ToolID>
  <Data><![CDATA[bGpSVEFBQUFLR1U9]]></Data>
</CustomerInfo>
</file>

<file path=customXml/item20.xml><?xml version="1.0" encoding="utf-8"?>
<CustomerInfo>
  <UserName>Administrator</UserName>
  <CompanyName>微软中国</CompanyName>
  <MachineID>WS103</MachineID>
  <ToolID>ljRTAAAAKGU=</ToolID>
  <Data><![CDATA[bGpSVEFBQUFLR1U9]]></Data>
</CustomerInfo>
</file>

<file path=customXml/item21.xml><?xml version="1.0" encoding="utf-8"?>
<CustomerInfo>
  <UserName>Administrator</UserName>
  <CompanyName>微软中国</CompanyName>
  <MachineID>WS103</MachineID>
  <ToolID>ljRTAAAAKGU=</ToolID>
  <Data><![CDATA[bGpSVEFBQUFLR1U9]]></Data>
</CustomerInfo>
</file>

<file path=customXml/item22.xml><?xml version="1.0" encoding="utf-8"?>
<CustomerInfo>
  <UserName>Administrator</UserName>
  <CompanyName>微软中国</CompanyName>
  <MachineID>WS103</MachineID>
  <ToolID>ljRTAAAAKGU=</ToolID>
  <Data><![CDATA[bGpSVEFBQUFLR1U9]]></Data>
</CustomerInfo>
</file>

<file path=customXml/item23.xml><?xml version="1.0" encoding="utf-8"?>
<CustomerInfo>
  <UserName>Administrator</UserName>
  <CompanyName>微软中国</CompanyName>
  <MachineID>WS103</MachineID>
  <ToolID>ljRTAAAAKGU=</ToolID>
  <Data><![CDATA[bGpSVEFBQUFLR1U9]]></Data>
</CustomerInfo>
</file>

<file path=customXml/item24.xml><?xml version="1.0" encoding="utf-8"?>
<CustomerInfo>
  <UserName>Administrator</UserName>
  <CompanyName>微软中国</CompanyName>
  <MachineID>WS103</MachineID>
  <ToolID>ljRTAAAAKGU=</ToolID>
  <Data><![CDATA[bGpSVEFBQUFLR1U9]]></Data>
</CustomerInfo>
</file>

<file path=customXml/item25.xml><?xml version="1.0" encoding="utf-8"?>
<CustomerInfo>
  <UserName>Administrator</UserName>
  <CompanyName>微软中国</CompanyName>
  <MachineID>WS103</MachineID>
  <ToolID>ljRTAAAAKGU=</ToolID>
  <Data><![CDATA[bGpSVEFBQUFLR1U9]]></Data>
</CustomerInfo>
</file>

<file path=customXml/item26.xml><?xml version="1.0" encoding="utf-8"?>
<CustomerInfo>
  <UserName>Administrator</UserName>
  <CompanyName>微软中国</CompanyName>
  <MachineID>WS103</MachineID>
  <ToolID>ljRTAAAAKGU=</ToolID>
  <Data><![CDATA[bGpSVEFBQUFLR1U9]]></Data>
</CustomerInfo>
</file>

<file path=customXml/item27.xml><?xml version="1.0" encoding="utf-8"?>
<CustomerInfo>
  <UserName>Administrator</UserName>
  <CompanyName>微软中国</CompanyName>
  <MachineID>WS103</MachineID>
  <ToolID>ljRTAAAAKGU=</ToolID>
  <Data><![CDATA[bGpSVEFBQUFLR1U9]]></Data>
</CustomerInfo>
</file>

<file path=customXml/item28.xml><?xml version="1.0" encoding="utf-8"?>
<CustomerInfo>
  <UserName>Administrator</UserName>
  <CompanyName>微软中国</CompanyName>
  <MachineID>WS103</MachineID>
  <ToolID>ljRTAAAAKGU=</ToolID>
  <Data><![CDATA[bGpSVEFBQUFLR1U9]]></Data>
</CustomerInfo>
</file>

<file path=customXml/item29.xml><?xml version="1.0" encoding="utf-8"?>
<CustomerInfo>
  <UserName>Administrator</UserName>
  <CompanyName>微软中国</CompanyName>
  <MachineID>WS103</MachineID>
  <ToolID>ljRTAAAAKGU=</ToolID>
  <Data><![CDATA[bGpSVEFBQUFLR1U9]]></Data>
</CustomerInfo>
</file>

<file path=customXml/item30.xml><?xml version="1.0" encoding="utf-8"?>
<CustomerInfo>
  <UserName>Administrator</UserName>
  <CompanyName>微软中国</CompanyName>
  <MachineID>WS103</MachineID>
  <ToolID>ljRTAAAAKGU=</ToolID>
  <Data><![CDATA[bGpSVEFBQUFLR1U9]]></Data>
</CustomerInfo>
</file>

<file path=customXml/item31.xml><?xml version="1.0" encoding="utf-8"?>
<CustomerInfo>
  <UserName>Administrator</UserName>
  <CompanyName>微软中国</CompanyName>
  <MachineID>WS103</MachineID>
  <ToolID>ljRTAAAAKGU=</ToolID>
  <Data><![CDATA[bGpSVEFBQUFLR1U9]]></Data>
</CustomerInfo>
</file>

<file path=customXml/item32.xml><?xml version="1.0" encoding="utf-8"?>
<CustomerInfo>
  <UserName>Administrator</UserName>
  <CompanyName>微软中国</CompanyName>
  <MachineID>WS103</MachineID>
  <ToolID>ljRTAAAAKGU=</ToolID>
  <Data><![CDATA[bGpSVEFBQUFLR1U9]]></Data>
</CustomerInfo>
</file>

<file path=customXml/item33.xml><?xml version="1.0" encoding="utf-8"?>
<CustomerInfo>
  <UserName>Administrator</UserName>
  <CompanyName>微软中国</CompanyName>
  <MachineID>WS103</MachineID>
  <ToolID>ljRTAAAAKGU=</ToolID>
  <Data><![CDATA[bGpSVEFBQUFLR1U9]]></Data>
</CustomerInfo>
</file>

<file path=customXml/item34.xml><?xml version="1.0" encoding="utf-8"?>
<CustomerInfo>
  <UserName>Administrator</UserName>
  <CompanyName>微软中国</CompanyName>
  <MachineID>WS103</MachineID>
  <ToolID>ljRTAAAAKGU=</ToolID>
  <Data><![CDATA[bGpSVEFBQUFLR1U9]]></Data>
</CustomerInfo>
</file>

<file path=customXml/item35.xml><?xml version="1.0" encoding="utf-8"?>
<CustomerInfo>
  <UserName>Administrator</UserName>
  <CompanyName>微软中国</CompanyName>
  <MachineID>WS103</MachineID>
  <ToolID>ljRTAAAAKGU=</ToolID>
  <Data><![CDATA[bGpSVEFBQUFLR1U9]]></Data>
</CustomerInfo>
</file>

<file path=customXml/item36.xml><?xml version="1.0" encoding="utf-8"?>
<CustomerInfo>
  <UserName>Administrator</UserName>
  <CompanyName>微软中国</CompanyName>
  <MachineID>WS103</MachineID>
  <ToolID>ljRTAAAAKGU=</ToolID>
  <Data><![CDATA[bGpSVEFBQUFLR1U9]]></Data>
</CustomerInfo>
</file>

<file path=customXml/item37.xml><?xml version="1.0" encoding="utf-8"?>
<CustomerInfo>
  <UserName>Administrator</UserName>
  <CompanyName>微软中国</CompanyName>
  <MachineID>WS103</MachineID>
  <ToolID>ljRTAAAAKGU=</ToolID>
  <Data><![CDATA[bGpSVEFBQUFLR1U9]]></Data>
</CustomerInfo>
</file>

<file path=customXml/itemProps2.xml><?xml version="1.0" encoding="utf-8"?>
<ds:datastoreItem xmlns:ds="http://schemas.openxmlformats.org/officeDocument/2006/customXml" ds:itemID="{7FA65D7D-46DA-43C0-9617-72AE03FFAAC5}">
  <ds:schemaRefs/>
</ds:datastoreItem>
</file>

<file path=customXml/itemProps3.xml><?xml version="1.0" encoding="utf-8"?>
<ds:datastoreItem xmlns:ds="http://schemas.openxmlformats.org/officeDocument/2006/customXml" ds:itemID="{6753DF64-2DE9-4330-8CBB-8C5C8EC3B03C}">
  <ds:schemaRefs/>
</ds:datastoreItem>
</file>

<file path=customXml/itemProps4.xml><?xml version="1.0" encoding="utf-8"?>
<ds:datastoreItem xmlns:ds="http://schemas.openxmlformats.org/officeDocument/2006/customXml" ds:itemID="{13319EB2-E014-476E-843F-ED108A2AC0CC}">
  <ds:schemaRefs/>
</ds:datastoreItem>
</file>

<file path=customXml/itemProps5.xml><?xml version="1.0" encoding="utf-8"?>
<ds:datastoreItem xmlns:ds="http://schemas.openxmlformats.org/officeDocument/2006/customXml" ds:itemID="{16F1EAD3-66D8-40D2-9273-54E5B1DCF35C}">
  <ds:schemaRefs/>
</ds:datastoreItem>
</file>

<file path=customXml/itemProps6.xml><?xml version="1.0" encoding="utf-8"?>
<ds:datastoreItem xmlns:ds="http://schemas.openxmlformats.org/officeDocument/2006/customXml" ds:itemID="{94A2EAB3-DA22-4998-80C1-E041D2C00DA0}">
  <ds:schemaRefs/>
</ds:datastoreItem>
</file>

<file path=customXml/itemProps7.xml><?xml version="1.0" encoding="utf-8"?>
<ds:datastoreItem xmlns:ds="http://schemas.openxmlformats.org/officeDocument/2006/customXml" ds:itemID="{2FC638E5-9C6F-4D0A-9E9C-617890208E40}">
  <ds:schemaRefs/>
</ds:datastoreItem>
</file>

<file path=customXml/itemProps8.xml><?xml version="1.0" encoding="utf-8"?>
<ds:datastoreItem xmlns:ds="http://schemas.openxmlformats.org/officeDocument/2006/customXml" ds:itemID="{09AF69E1-B8E0-4BF9-BBE4-CDC0CA995713}">
  <ds:schemaRefs/>
</ds:datastoreItem>
</file>

<file path=customXml/itemProps9.xml><?xml version="1.0" encoding="utf-8"?>
<ds:datastoreItem xmlns:ds="http://schemas.openxmlformats.org/officeDocument/2006/customXml" ds:itemID="{52913623-BA87-4704-926E-AC0AEE7F6A27}">
  <ds:schemaRefs/>
</ds:datastoreItem>
</file>

<file path=customXml/itemProps10.xml><?xml version="1.0" encoding="utf-8"?>
<ds:datastoreItem xmlns:ds="http://schemas.openxmlformats.org/officeDocument/2006/customXml" ds:itemID="{5DFF646F-E184-4DE6-A818-FFBCCA78011C}">
  <ds:schemaRefs/>
</ds:datastoreItem>
</file>

<file path=customXml/itemProps11.xml><?xml version="1.0" encoding="utf-8"?>
<ds:datastoreItem xmlns:ds="http://schemas.openxmlformats.org/officeDocument/2006/customXml" ds:itemID="{4FB5D8B2-034C-4269-AAEB-CA2064C6977D}">
  <ds:schemaRefs/>
</ds:datastoreItem>
</file>

<file path=customXml/itemProps12.xml><?xml version="1.0" encoding="utf-8"?>
<ds:datastoreItem xmlns:ds="http://schemas.openxmlformats.org/officeDocument/2006/customXml" ds:itemID="{41DE3CAC-F817-4AF2-ABE0-FCEBDCD35C7B}">
  <ds:schemaRefs/>
</ds:datastoreItem>
</file>

<file path=customXml/itemProps13.xml><?xml version="1.0" encoding="utf-8"?>
<ds:datastoreItem xmlns:ds="http://schemas.openxmlformats.org/officeDocument/2006/customXml" ds:itemID="{34FBB6B2-A096-4EEC-8353-7ACD990DF92C}">
  <ds:schemaRefs/>
</ds:datastoreItem>
</file>

<file path=customXml/itemProps14.xml><?xml version="1.0" encoding="utf-8"?>
<ds:datastoreItem xmlns:ds="http://schemas.openxmlformats.org/officeDocument/2006/customXml" ds:itemID="{3407D86F-72DA-4508-9892-A10F27FC66D2}">
  <ds:schemaRefs/>
</ds:datastoreItem>
</file>

<file path=customXml/itemProps15.xml><?xml version="1.0" encoding="utf-8"?>
<ds:datastoreItem xmlns:ds="http://schemas.openxmlformats.org/officeDocument/2006/customXml" ds:itemID="{F80F0850-9671-4AF4-9EDE-00C73D2745E2}">
  <ds:schemaRefs/>
</ds:datastoreItem>
</file>

<file path=customXml/itemProps16.xml><?xml version="1.0" encoding="utf-8"?>
<ds:datastoreItem xmlns:ds="http://schemas.openxmlformats.org/officeDocument/2006/customXml" ds:itemID="{04344108-04F4-4B68-89D0-097989B1454B}">
  <ds:schemaRefs/>
</ds:datastoreItem>
</file>

<file path=customXml/itemProps17.xml><?xml version="1.0" encoding="utf-8"?>
<ds:datastoreItem xmlns:ds="http://schemas.openxmlformats.org/officeDocument/2006/customXml" ds:itemID="{ACEF07A0-DDCD-4B11-A390-A49F63311302}">
  <ds:schemaRefs/>
</ds:datastoreItem>
</file>

<file path=customXml/itemProps18.xml><?xml version="1.0" encoding="utf-8"?>
<ds:datastoreItem xmlns:ds="http://schemas.openxmlformats.org/officeDocument/2006/customXml" ds:itemID="{EAA96DF0-8C83-4259-9290-488505A049F0}">
  <ds:schemaRefs/>
</ds:datastoreItem>
</file>

<file path=customXml/itemProps19.xml><?xml version="1.0" encoding="utf-8"?>
<ds:datastoreItem xmlns:ds="http://schemas.openxmlformats.org/officeDocument/2006/customXml" ds:itemID="{926497A2-92F6-43CC-A523-26B5182E639A}">
  <ds:schemaRefs/>
</ds:datastoreItem>
</file>

<file path=customXml/itemProps20.xml><?xml version="1.0" encoding="utf-8"?>
<ds:datastoreItem xmlns:ds="http://schemas.openxmlformats.org/officeDocument/2006/customXml" ds:itemID="{37195A7A-80D3-4D68-A542-F03590F67F65}">
  <ds:schemaRefs/>
</ds:datastoreItem>
</file>

<file path=customXml/itemProps21.xml><?xml version="1.0" encoding="utf-8"?>
<ds:datastoreItem xmlns:ds="http://schemas.openxmlformats.org/officeDocument/2006/customXml" ds:itemID="{FBECDA57-BE03-4C32-BFD5-019FD8231056}">
  <ds:schemaRefs/>
</ds:datastoreItem>
</file>

<file path=customXml/itemProps22.xml><?xml version="1.0" encoding="utf-8"?>
<ds:datastoreItem xmlns:ds="http://schemas.openxmlformats.org/officeDocument/2006/customXml" ds:itemID="{08E1E239-F3C3-4610-B5C9-59BF2D47060D}">
  <ds:schemaRefs/>
</ds:datastoreItem>
</file>

<file path=customXml/itemProps23.xml><?xml version="1.0" encoding="utf-8"?>
<ds:datastoreItem xmlns:ds="http://schemas.openxmlformats.org/officeDocument/2006/customXml" ds:itemID="{124F2C07-EB52-46D3-9BC3-4B8307E95B65}">
  <ds:schemaRefs/>
</ds:datastoreItem>
</file>

<file path=customXml/itemProps24.xml><?xml version="1.0" encoding="utf-8"?>
<ds:datastoreItem xmlns:ds="http://schemas.openxmlformats.org/officeDocument/2006/customXml" ds:itemID="{172160A0-1A27-4043-B40E-5D2750A4833F}">
  <ds:schemaRefs/>
</ds:datastoreItem>
</file>

<file path=customXml/itemProps25.xml><?xml version="1.0" encoding="utf-8"?>
<ds:datastoreItem xmlns:ds="http://schemas.openxmlformats.org/officeDocument/2006/customXml" ds:itemID="{CBA25334-83FE-478A-AA89-3D4ED824FA42}">
  <ds:schemaRefs/>
</ds:datastoreItem>
</file>

<file path=customXml/itemProps26.xml><?xml version="1.0" encoding="utf-8"?>
<ds:datastoreItem xmlns:ds="http://schemas.openxmlformats.org/officeDocument/2006/customXml" ds:itemID="{517B0007-0269-43E1-B9DA-3ACB5AD1A3AB}">
  <ds:schemaRefs/>
</ds:datastoreItem>
</file>

<file path=customXml/itemProps27.xml><?xml version="1.0" encoding="utf-8"?>
<ds:datastoreItem xmlns:ds="http://schemas.openxmlformats.org/officeDocument/2006/customXml" ds:itemID="{C9B2D211-1716-432C-A297-8CCC14777A20}">
  <ds:schemaRefs/>
</ds:datastoreItem>
</file>

<file path=customXml/itemProps28.xml><?xml version="1.0" encoding="utf-8"?>
<ds:datastoreItem xmlns:ds="http://schemas.openxmlformats.org/officeDocument/2006/customXml" ds:itemID="{675D1F18-5726-452A-A30D-F2253278673A}">
  <ds:schemaRefs/>
</ds:datastoreItem>
</file>

<file path=customXml/itemProps29.xml><?xml version="1.0" encoding="utf-8"?>
<ds:datastoreItem xmlns:ds="http://schemas.openxmlformats.org/officeDocument/2006/customXml" ds:itemID="{804A04A5-5D5B-42E8-B01D-D897899DE889}">
  <ds:schemaRefs/>
</ds:datastoreItem>
</file>

<file path=customXml/itemProps30.xml><?xml version="1.0" encoding="utf-8"?>
<ds:datastoreItem xmlns:ds="http://schemas.openxmlformats.org/officeDocument/2006/customXml" ds:itemID="{CD22A939-860C-4F60-B3D2-863181AC4553}">
  <ds:schemaRefs/>
</ds:datastoreItem>
</file>

<file path=customXml/itemProps31.xml><?xml version="1.0" encoding="utf-8"?>
<ds:datastoreItem xmlns:ds="http://schemas.openxmlformats.org/officeDocument/2006/customXml" ds:itemID="{72BEC37D-B294-476A-A9CB-082E6E0222CF}">
  <ds:schemaRefs/>
</ds:datastoreItem>
</file>

<file path=customXml/itemProps32.xml><?xml version="1.0" encoding="utf-8"?>
<ds:datastoreItem xmlns:ds="http://schemas.openxmlformats.org/officeDocument/2006/customXml" ds:itemID="{F9560565-8554-453F-9C8B-58A3B8E85262}">
  <ds:schemaRefs/>
</ds:datastoreItem>
</file>

<file path=customXml/itemProps33.xml><?xml version="1.0" encoding="utf-8"?>
<ds:datastoreItem xmlns:ds="http://schemas.openxmlformats.org/officeDocument/2006/customXml" ds:itemID="{4A4A850A-8A7B-4C0D-947C-F10D85161339}">
  <ds:schemaRefs/>
</ds:datastoreItem>
</file>

<file path=customXml/itemProps34.xml><?xml version="1.0" encoding="utf-8"?>
<ds:datastoreItem xmlns:ds="http://schemas.openxmlformats.org/officeDocument/2006/customXml" ds:itemID="{6A1C079E-0769-4E0D-BC0A-8DE0E12BBBC4}">
  <ds:schemaRefs/>
</ds:datastoreItem>
</file>

<file path=customXml/itemProps35.xml><?xml version="1.0" encoding="utf-8"?>
<ds:datastoreItem xmlns:ds="http://schemas.openxmlformats.org/officeDocument/2006/customXml" ds:itemID="{D43A238A-3480-4CCD-876C-B15BC8CB2BF9}">
  <ds:schemaRefs/>
</ds:datastoreItem>
</file>

<file path=customXml/itemProps36.xml><?xml version="1.0" encoding="utf-8"?>
<ds:datastoreItem xmlns:ds="http://schemas.openxmlformats.org/officeDocument/2006/customXml" ds:itemID="{83A6F18C-3824-4EEB-AAE3-E24C3F580E35}">
  <ds:schemaRefs/>
</ds:datastoreItem>
</file>

<file path=customXml/itemProps37.xml><?xml version="1.0" encoding="utf-8"?>
<ds:datastoreItem xmlns:ds="http://schemas.openxmlformats.org/officeDocument/2006/customXml" ds:itemID="{309AC34E-6827-4BF9-9BA4-24D5683C2114}">
  <ds:schemaRefs/>
</ds:datastoreItem>
</file>

<file path=customXml/itemProps38.xml><?xml version="1.0" encoding="utf-8"?>
<ds:datastoreItem xmlns:ds="http://schemas.openxmlformats.org/officeDocument/2006/customXml" ds:itemID="{8CEFE5ED-ECBA-45E1-971E-1F42E0B48F8B}">
  <ds:schemaRefs/>
</ds:datastoreItem>
</file>

<file path=docProps/app.xml><?xml version="1.0" encoding="utf-8"?>
<Properties xmlns="http://schemas.openxmlformats.org/officeDocument/2006/extended-properties" xmlns:vt="http://schemas.openxmlformats.org/officeDocument/2006/docPropsVTypes">
  <Template>专题一　动词</Template>
  <TotalTime>0</TotalTime>
  <Words>7901</Words>
  <Application>WPS 演示</Application>
  <PresentationFormat>自定义</PresentationFormat>
  <Paragraphs>358</Paragraphs>
  <Slides>36</Slides>
  <Notes>37</Notes>
  <HiddenSlides>0</HiddenSlides>
  <MMClips>0</MMClips>
  <ScaleCrop>false</ScaleCrop>
  <HeadingPairs>
    <vt:vector size="8" baseType="variant">
      <vt:variant>
        <vt:lpstr>已用的字体</vt:lpstr>
      </vt:variant>
      <vt:variant>
        <vt:i4>18</vt:i4>
      </vt:variant>
      <vt:variant>
        <vt:lpstr>主题</vt:lpstr>
      </vt:variant>
      <vt:variant>
        <vt:i4>3</vt:i4>
      </vt:variant>
      <vt:variant>
        <vt:lpstr>嵌入 OLE 服务器</vt:lpstr>
      </vt:variant>
      <vt:variant>
        <vt:i4>3</vt:i4>
      </vt:variant>
      <vt:variant>
        <vt:lpstr>幻灯片标题</vt:lpstr>
      </vt:variant>
      <vt:variant>
        <vt:i4>36</vt:i4>
      </vt:variant>
    </vt:vector>
  </HeadingPairs>
  <TitlesOfParts>
    <vt:vector size="60" baseType="lpstr">
      <vt:lpstr>Arial</vt:lpstr>
      <vt:lpstr>宋体</vt:lpstr>
      <vt:lpstr>Wingdings</vt:lpstr>
      <vt:lpstr>微软雅黑</vt:lpstr>
      <vt:lpstr>黑体</vt:lpstr>
      <vt:lpstr>思源宋体 CN</vt:lpstr>
      <vt:lpstr>思源宋体 CN Heavy</vt:lpstr>
      <vt:lpstr>Times New Roman</vt:lpstr>
      <vt:lpstr>庞门正道标题体</vt:lpstr>
      <vt:lpstr>Arial Unicode MS</vt:lpstr>
      <vt:lpstr>Calibri</vt:lpstr>
      <vt:lpstr>Times New Roman</vt:lpstr>
      <vt:lpstr>楷体_GB2312</vt:lpstr>
      <vt:lpstr>新宋体</vt:lpstr>
      <vt:lpstr>NEU-BZ</vt:lpstr>
      <vt:lpstr>楷体</vt:lpstr>
      <vt:lpstr>等线 Light</vt:lpstr>
      <vt:lpstr>等线</vt:lpstr>
      <vt:lpstr>2_自定义设计方案</vt:lpstr>
      <vt:lpstr>自定义设计方案</vt:lpstr>
      <vt:lpstr>1_自定义设计方案</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封面标题</dc:title>
  <dc:creator/>
  <cp:lastModifiedBy>A0885</cp:lastModifiedBy>
  <cp:revision>48</cp:revision>
  <dcterms:created xsi:type="dcterms:W3CDTF">2025-06-07T06:19:30Z</dcterms:created>
  <dcterms:modified xsi:type="dcterms:W3CDTF">2025-06-07T06:47:56Z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8A5BD68722F64D4FB0D6C548C9F9CB12_12</vt:lpwstr>
  </property>
  <property fmtid="{D5CDD505-2E9C-101B-9397-08002B2CF9AE}" pid="3" name="KSOProductBuildVer">
    <vt:lpwstr>2052-12.1.0.21171</vt:lpwstr>
  </property>
</Properties>
</file>