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5" r:id="rId4"/>
  </p:sldMasterIdLst>
  <p:notesMasterIdLst>
    <p:notesMasterId r:id="rId8"/>
  </p:notesMasterIdLst>
  <p:sldIdLst>
    <p:sldId id="286" r:id="rId5"/>
    <p:sldId id="287" r:id="rId6"/>
    <p:sldId id="258" r:id="rId7"/>
    <p:sldId id="259" r:id="rId9"/>
    <p:sldId id="289" r:id="rId10"/>
    <p:sldId id="261" r:id="rId11"/>
    <p:sldId id="262" r:id="rId12"/>
    <p:sldId id="263" r:id="rId13"/>
    <p:sldId id="264" r:id="rId14"/>
    <p:sldId id="265" r:id="rId15"/>
    <p:sldId id="266" r:id="rId16"/>
    <p:sldId id="290" r:id="rId17"/>
    <p:sldId id="288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67870" cy="684022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72" autoAdjust="0"/>
  </p:normalViewPr>
  <p:slideViewPr>
    <p:cSldViewPr showGuides="1">
      <p:cViewPr varScale="1">
        <p:scale>
          <a:sx n="106" d="100"/>
          <a:sy n="106" d="100"/>
        </p:scale>
        <p:origin x="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3" Type="http://schemas.openxmlformats.org/officeDocument/2006/relationships/customXml" Target="../customXml/item27.xml"/><Relationship Id="rId62" Type="http://schemas.openxmlformats.org/officeDocument/2006/relationships/customXml" Target="../customXml/item26.xml"/><Relationship Id="rId61" Type="http://schemas.openxmlformats.org/officeDocument/2006/relationships/customXml" Target="../customXml/item25.xml"/><Relationship Id="rId60" Type="http://schemas.openxmlformats.org/officeDocument/2006/relationships/customXml" Target="../customXml/item24.xml"/><Relationship Id="rId6" Type="http://schemas.openxmlformats.org/officeDocument/2006/relationships/slide" Target="slides/slide2.xml"/><Relationship Id="rId59" Type="http://schemas.openxmlformats.org/officeDocument/2006/relationships/customXml" Target="../customXml/item23.xml"/><Relationship Id="rId58" Type="http://schemas.openxmlformats.org/officeDocument/2006/relationships/customXml" Target="../customXml/item22.xml"/><Relationship Id="rId57" Type="http://schemas.openxmlformats.org/officeDocument/2006/relationships/customXml" Target="../customXml/item21.xml"/><Relationship Id="rId56" Type="http://schemas.openxmlformats.org/officeDocument/2006/relationships/customXml" Target="../customXml/item20.xml"/><Relationship Id="rId55" Type="http://schemas.openxmlformats.org/officeDocument/2006/relationships/customXml" Target="../customXml/item19.xml"/><Relationship Id="rId54" Type="http://schemas.openxmlformats.org/officeDocument/2006/relationships/customXml" Target="../customXml/item18.xml"/><Relationship Id="rId53" Type="http://schemas.openxmlformats.org/officeDocument/2006/relationships/customXml" Target="../customXml/item17.xml"/><Relationship Id="rId52" Type="http://schemas.openxmlformats.org/officeDocument/2006/relationships/customXml" Target="../customXml/item16.xml"/><Relationship Id="rId51" Type="http://schemas.openxmlformats.org/officeDocument/2006/relationships/customXml" Target="../customXml/item15.xml"/><Relationship Id="rId50" Type="http://schemas.openxmlformats.org/officeDocument/2006/relationships/customXml" Target="../customXml/item14.xml"/><Relationship Id="rId5" Type="http://schemas.openxmlformats.org/officeDocument/2006/relationships/slide" Target="slides/slide1.xml"/><Relationship Id="rId49" Type="http://schemas.openxmlformats.org/officeDocument/2006/relationships/customXml" Target="../customXml/item13.xml"/><Relationship Id="rId48" Type="http://schemas.openxmlformats.org/officeDocument/2006/relationships/customXml" Target="../customXml/item12.xml"/><Relationship Id="rId47" Type="http://schemas.openxmlformats.org/officeDocument/2006/relationships/customXml" Target="../customXml/item11.xml"/><Relationship Id="rId46" Type="http://schemas.openxmlformats.org/officeDocument/2006/relationships/customXml" Target="../customXml/item10.xml"/><Relationship Id="rId45" Type="http://schemas.openxmlformats.org/officeDocument/2006/relationships/customXml" Target="../customXml/item9.xml"/><Relationship Id="rId44" Type="http://schemas.openxmlformats.org/officeDocument/2006/relationships/customXml" Target="../customXml/item8.xml"/><Relationship Id="rId43" Type="http://schemas.openxmlformats.org/officeDocument/2006/relationships/customXml" Target="../customXml/item7.xml"/><Relationship Id="rId42" Type="http://schemas.openxmlformats.org/officeDocument/2006/relationships/customXml" Target="../customXml/item6.xml"/><Relationship Id="rId41" Type="http://schemas.openxmlformats.org/officeDocument/2006/relationships/customXml" Target="../customXml/item5.xml"/><Relationship Id="rId40" Type="http://schemas.openxmlformats.org/officeDocument/2006/relationships/customXml" Target="../customXml/item4.xml"/><Relationship Id="rId4" Type="http://schemas.openxmlformats.org/officeDocument/2006/relationships/slideMaster" Target="slideMasters/slideMaster3.xml"/><Relationship Id="rId39" Type="http://schemas.openxmlformats.org/officeDocument/2006/relationships/customXml" Target="../customXml/item3.xml"/><Relationship Id="rId38" Type="http://schemas.openxmlformats.org/officeDocument/2006/relationships/customXml" Target="../customXml/item2.xml"/><Relationship Id="rId37" Type="http://schemas.openxmlformats.org/officeDocument/2006/relationships/customXml" Target="../customXml/item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E16A1-CD54-44AD-AAEF-7C01002677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C518D-AE7E-41F4-BDAF-13DD522B5C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A9AE-DFF2-479B-AF37-FAA367F55B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35AA-09F9-4C1A-89F2-CB34E0111C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终止 1"/>
          <p:cNvSpPr/>
          <p:nvPr userDrawn="1"/>
        </p:nvSpPr>
        <p:spPr>
          <a:xfrm>
            <a:off x="10914711" y="53924"/>
            <a:ext cx="864096" cy="288032"/>
          </a:xfrm>
          <a:prstGeom prst="flowChartTerminator">
            <a:avLst/>
          </a:prstGeom>
          <a:gradFill>
            <a:gsLst>
              <a:gs pos="84000">
                <a:schemeClr val="accent4"/>
              </a:gs>
              <a:gs pos="0">
                <a:srgbClr val="DE21F5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hlinkClick r:id="rId2" action="ppaction://hlinksldjump"/>
          </p:cNvPr>
          <p:cNvSpPr txBox="1"/>
          <p:nvPr userDrawn="1"/>
        </p:nvSpPr>
        <p:spPr>
          <a:xfrm>
            <a:off x="11054096" y="44051"/>
            <a:ext cx="6018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燕尾形 3"/>
          <p:cNvSpPr/>
          <p:nvPr userDrawn="1"/>
        </p:nvSpPr>
        <p:spPr>
          <a:xfrm>
            <a:off x="11634791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燕尾形 4"/>
          <p:cNvSpPr/>
          <p:nvPr userDrawn="1"/>
        </p:nvSpPr>
        <p:spPr>
          <a:xfrm rot="10800000">
            <a:off x="10986719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0" y="-1"/>
            <a:ext cx="12170277" cy="68478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2168188" cy="395878"/>
          </a:xfrm>
          <a:prstGeom prst="rect">
            <a:avLst/>
          </a:prstGeom>
          <a:solidFill>
            <a:srgbClr val="953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iming>
    <p:tnLst>
      <p:par>
        <p:cTn id="1" dur="indefinite" restart="never" nodeType="tmRoot"/>
      </p:par>
    </p:tnLst>
  </p:timing>
  <p:txStyles>
    <p:titleStyle>
      <a:lvl1pPr algn="l" defTabSz="911860" rtl="0" eaLnBrk="1" latinLnBrk="0" hangingPunct="1">
        <a:lnSpc>
          <a:spcPct val="90000"/>
        </a:lnSpc>
        <a:spcBef>
          <a:spcPct val="0"/>
        </a:spcBef>
        <a:buNone/>
        <a:defRPr sz="43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965" indent="-227965" algn="l" defTabSz="9118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389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046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39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32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25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18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74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67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86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42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35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21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14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71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8188" cy="68466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slide" Target="slide13.xml"/><Relationship Id="rId7" Type="http://schemas.openxmlformats.org/officeDocument/2006/relationships/slide" Target="slide11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8.xml"/><Relationship Id="rId3" Type="http://schemas.openxmlformats.org/officeDocument/2006/relationships/slide" Target="slide6.xml"/><Relationship Id="rId2" Type="http://schemas.openxmlformats.org/officeDocument/2006/relationships/slide" Target="slide4.xml"/><Relationship Id="rId11" Type="http://schemas.openxmlformats.org/officeDocument/2006/relationships/slideLayout" Target="../slideLayouts/slideLayout4.xml"/><Relationship Id="rId10" Type="http://schemas.openxmlformats.org/officeDocument/2006/relationships/slide" Target="slide1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211886" y="1835914"/>
            <a:ext cx="7702619" cy="129632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860">
              <a:defRPr/>
            </a:pPr>
            <a:endParaRPr lang="en-US" altLang="zh-CN" sz="4000" b="1" kern="0" noProof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  <a:p>
            <a:pPr defTabSz="911860">
              <a:defRPr/>
            </a:pP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6" name="Rectangle 2"/>
          <p:cNvSpPr txBox="1"/>
          <p:nvPr/>
        </p:nvSpPr>
        <p:spPr>
          <a:xfrm>
            <a:off x="9970770" y="4643755"/>
            <a:ext cx="2041525" cy="71691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高考英语</a:t>
            </a:r>
            <a:endParaRPr lang="zh-CN" altLang="en-US" sz="32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线连接符 2"/>
          <p:cNvCxnSpPr/>
          <p:nvPr/>
        </p:nvCxnSpPr>
        <p:spPr bwMode="auto">
          <a:xfrm>
            <a:off x="10114124" y="5291987"/>
            <a:ext cx="1584325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9970770" y="5360670"/>
            <a:ext cx="1943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北京市专用</a:t>
            </a:r>
            <a:endParaRPr lang="zh-CN" altLang="en-US" sz="2400" b="1" spc="15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76750" y="2425700"/>
            <a:ext cx="716915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4000" b="1" kern="0" noProof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专题七  并列</a:t>
            </a:r>
            <a:r>
              <a:rPr lang="zh-CN" altLang="en-US" sz="40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连词与并列复合</a:t>
            </a:r>
            <a:r>
              <a:rPr lang="zh-CN" altLang="en-US" sz="40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句</a:t>
            </a: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5334" y="1094842"/>
            <a:ext cx="11348051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" action="ppaction://hlinksldjump"/>
              </a:rPr>
              <a:t>体系透视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359" y="1653315"/>
            <a:ext cx="7504039" cy="4236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重难透析</a:t>
            </a:r>
            <a:endParaRPr lang="en-US" altLang="zh-CN" sz="1995" b="1" dirty="0" smtClean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  <a:hlinkClick r:id="rId2" action="ppaction://hlinksldjump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1.and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与</a:t>
            </a:r>
            <a:r>
              <a:rPr lang="en-US" altLang="zh-CN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both...and</a:t>
            </a: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...</a:t>
            </a:r>
            <a:endParaRPr lang="en-US" altLang="zh-CN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  <a:hlinkClick r:id="rId3" action="ppaction://hlinksldjump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2.not only...but also</a:t>
            </a: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...</a:t>
            </a:r>
            <a:endParaRPr lang="en-US" altLang="zh-CN" sz="1995" b="1" dirty="0" smtClean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 3.neither</a:t>
            </a:r>
            <a:r>
              <a:rPr lang="en-US" altLang="zh-CN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...nor</a:t>
            </a: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...</a:t>
            </a:r>
            <a:endParaRPr lang="en-US" altLang="zh-CN" sz="1995" b="1" dirty="0" smtClean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  <a:hlinkClick r:id="rId3" action="ppaction://hlinksldjump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 4.or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与</a:t>
            </a:r>
            <a:r>
              <a:rPr lang="en-US" altLang="zh-CN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either...or</a:t>
            </a: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...</a:t>
            </a:r>
            <a:endParaRPr lang="en-US" altLang="zh-CN" sz="1995" b="1" dirty="0" smtClean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  <a:hlinkClick r:id="rId3" action="ppaction://hlinksldjump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 5.but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与</a:t>
            </a: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yet</a:t>
            </a:r>
            <a:endParaRPr lang="en-US" altLang="zh-CN" sz="1995" b="1" dirty="0" smtClean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  <a:hlinkClick r:id="rId3" action="ppaction://hlinksldjump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7" action="ppaction://hlinksldjump"/>
              </a:rPr>
              <a:t>6.while</a:t>
            </a:r>
            <a:endParaRPr lang="en-US" altLang="zh-CN" sz="1995" b="1" dirty="0" smtClean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  <a:hlinkClick r:id="rId3" action="ppaction://hlinksldjump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7" tooltip="" action="ppaction://hlinksldjump"/>
              </a:rPr>
              <a:t>7.for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7" tooltip="" action="ppaction://hlinksldjump"/>
              </a:rPr>
              <a:t>与</a:t>
            </a: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7" tooltip="" action="ppaction://hlinksldjump"/>
              </a:rPr>
              <a:t>so</a:t>
            </a:r>
            <a:endParaRPr lang="en-US" altLang="zh-CN" sz="1995" b="1" dirty="0" smtClean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  <a:hlinkClick r:id="rId3" action="ppaction://hlinksldjump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8" action="ppaction://hlinksldjump"/>
              </a:rPr>
              <a:t>8.when</a:t>
            </a:r>
            <a:endParaRPr lang="en-US" altLang="zh-CN" sz="1995" b="1" dirty="0" smtClean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  <a:hlinkClick r:id="rId3" action="ppaction://hlinksldjump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1118" y="567385"/>
            <a:ext cx="2207762" cy="521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27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402720" y="1061875"/>
            <a:ext cx="11054641" cy="0"/>
          </a:xfrm>
          <a:prstGeom prst="line">
            <a:avLst/>
          </a:prstGeom>
          <a:ln>
            <a:solidFill>
              <a:srgbClr val="9E27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58" y="1082972"/>
            <a:ext cx="702565" cy="647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7" y="1691950"/>
            <a:ext cx="702565" cy="6471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17734" y="5881383"/>
            <a:ext cx="11348051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0" action="ppaction://hlinksldjump"/>
              </a:rPr>
              <a:t>考点针对练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58" y="5869513"/>
            <a:ext cx="702565" cy="647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3" descr="textimage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000" y="1705352"/>
            <a:ext cx="10144125" cy="143827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820419" y="577507"/>
            <a:ext cx="2574914" cy="461665"/>
            <a:chOff x="251133" y="167422"/>
            <a:chExt cx="3959943" cy="709990"/>
          </a:xfrm>
        </p:grpSpPr>
        <p:grpSp>
          <p:nvGrpSpPr>
            <p:cNvPr id="5" name="组合 4"/>
            <p:cNvGrpSpPr/>
            <p:nvPr/>
          </p:nvGrpSpPr>
          <p:grpSpPr>
            <a:xfrm>
              <a:off x="251133" y="272306"/>
              <a:ext cx="708622" cy="593558"/>
              <a:chOff x="154881" y="272716"/>
              <a:chExt cx="708622" cy="593558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366198" y="272716"/>
                <a:ext cx="497305" cy="497306"/>
                <a:chOff x="366198" y="272716"/>
                <a:chExt cx="497305" cy="497306"/>
              </a:xfrm>
            </p:grpSpPr>
            <p:sp>
              <p:nvSpPr>
                <p:cNvPr id="9" name="椭圆 8"/>
                <p:cNvSpPr/>
                <p:nvPr/>
              </p:nvSpPr>
              <p:spPr>
                <a:xfrm>
                  <a:off x="366198" y="272716"/>
                  <a:ext cx="497305" cy="497306"/>
                </a:xfrm>
                <a:prstGeom prst="ellipse">
                  <a:avLst/>
                </a:prstGeom>
                <a:solidFill>
                  <a:srgbClr val="953FA3">
                    <a:alpha val="53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437002" y="343520"/>
                  <a:ext cx="355696" cy="35569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</p:grpSp>
          <p:sp>
            <p:nvSpPr>
              <p:cNvPr id="8" name="椭圆 7"/>
              <p:cNvSpPr/>
              <p:nvPr/>
            </p:nvSpPr>
            <p:spPr>
              <a:xfrm flipH="1">
                <a:off x="154881" y="640300"/>
                <a:ext cx="225973" cy="225974"/>
              </a:xfrm>
              <a:prstGeom prst="ellipse">
                <a:avLst/>
              </a:prstGeom>
              <a:solidFill>
                <a:srgbClr val="953F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5781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 Heavy" panose="02020900000000000000" pitchFamily="18" charset="-122"/>
                  <a:cs typeface="+mn-cs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015903" y="167422"/>
              <a:ext cx="3195173" cy="709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4400">
                  <a:gradFill flip="none" rotWithShape="1">
                    <a:gsLst>
                      <a:gs pos="0">
                        <a:srgbClr val="F0E4B7"/>
                      </a:gs>
                      <a:gs pos="100000">
                        <a:srgbClr val="E7D48D"/>
                      </a:gs>
                    </a:gsLst>
                    <a:lin ang="54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体系透视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995471"/>
            <a:ext cx="11831400" cy="5761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1.and与both...and...</a:t>
            </a:r>
            <a:endParaRPr lang="zh-CN" altLang="en-US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(1)and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和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both...and...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可用于连接并列成分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表示并列、顺承、递进关系。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I feel more dynamic and stronger than ever, in </a:t>
            </a: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both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body </a:t>
            </a: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and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mind.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我感到身体和精神都</a:t>
            </a:r>
            <a:br>
              <a:rPr lang="zh-CN" altLang="en-US" sz="2800" dirty="0"/>
            </a:b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比以前更富活力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更加强健。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He pushed me away, gathered himself </a:t>
            </a: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and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got up to his feet.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他把我推开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调整了一下自己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br>
              <a:rPr lang="zh-CN" altLang="en-US" sz="2800" dirty="0"/>
            </a:b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然后站了起来。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(2)and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可用于连接并列分句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表示并列、顺承、递进关系。</a:t>
            </a:r>
            <a:endParaRPr lang="zh-CN" altLang="en-US" sz="2800" dirty="0"/>
          </a:p>
          <a:p>
            <a:pPr algn="l"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I've heard that it is an amazing attraction, </a:t>
            </a: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and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I can't wait to go.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我听说那是一个令人惊叹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    </a:t>
            </a: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  <a:sym typeface="+mn-ea"/>
              </a:rPr>
              <a:t>的景点,我迫不及待想去。</a:t>
            </a:r>
            <a:endParaRPr lang="zh-CN" altLang="en-US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endParaRPr lang="zh-CN" altLang="en-US" sz="2800" dirty="0"/>
          </a:p>
        </p:txBody>
      </p:sp>
      <p:grpSp>
        <p:nvGrpSpPr>
          <p:cNvPr id="7" name="组合 6"/>
          <p:cNvGrpSpPr/>
          <p:nvPr/>
        </p:nvGrpSpPr>
        <p:grpSpPr>
          <a:xfrm>
            <a:off x="4715942" y="606139"/>
            <a:ext cx="2088232" cy="430887"/>
            <a:chOff x="263136" y="272072"/>
            <a:chExt cx="3077968" cy="635109"/>
          </a:xfrm>
        </p:grpSpPr>
        <p:grpSp>
          <p:nvGrpSpPr>
            <p:cNvPr id="8" name="组合 7"/>
            <p:cNvGrpSpPr/>
            <p:nvPr/>
          </p:nvGrpSpPr>
          <p:grpSpPr>
            <a:xfrm>
              <a:off x="263136" y="317158"/>
              <a:ext cx="575064" cy="575064"/>
              <a:chOff x="263136" y="244750"/>
              <a:chExt cx="603639" cy="603639"/>
            </a:xfrm>
          </p:grpSpPr>
          <p:sp>
            <p:nvSpPr>
              <p:cNvPr id="10" name="泪滴形 9"/>
              <p:cNvSpPr/>
              <p:nvPr/>
            </p:nvSpPr>
            <p:spPr>
              <a:xfrm rot="10800000" flipH="1" flipV="1">
                <a:off x="263136" y="244750"/>
                <a:ext cx="603639" cy="603639"/>
              </a:xfrm>
              <a:prstGeom prst="teardrop">
                <a:avLst/>
              </a:prstGeom>
              <a:solidFill>
                <a:srgbClr val="953FA3">
                  <a:alpha val="7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 rot="10800000" flipH="1" flipV="1">
                <a:off x="363481" y="345095"/>
                <a:ext cx="402949" cy="402949"/>
              </a:xfrm>
              <a:prstGeom prst="ellipse">
                <a:avLst/>
              </a:prstGeom>
              <a:solidFill>
                <a:srgbClr val="FDBE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 rot="10800000" flipH="1" flipV="1">
                <a:off x="438741" y="420355"/>
                <a:ext cx="252430" cy="252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sp>
          <p:nvSpPr>
            <p:cNvPr id="9" name="文本框 8"/>
            <p:cNvSpPr txBox="1"/>
            <p:nvPr>
              <p:custDataLst>
                <p:tags r:id="rId1"/>
              </p:custDataLst>
            </p:nvPr>
          </p:nvSpPr>
          <p:spPr>
            <a:xfrm>
              <a:off x="1097509" y="272072"/>
              <a:ext cx="2243595" cy="635109"/>
            </a:xfrm>
            <a:prstGeom prst="rect">
              <a:avLst/>
            </a:prstGeom>
            <a:noFill/>
            <a:effectLst>
              <a:glow rad="203200">
                <a:srgbClr val="FF0000">
                  <a:alpha val="69000"/>
                </a:srgbClr>
              </a:glow>
            </a:effectLst>
          </p:spPr>
          <p:txBody>
            <a:bodyPr wrap="square" lIns="0" tIns="0" rIns="0" bIns="0" rtlCol="0">
              <a:spAutoFit/>
            </a:bodyPr>
            <a:lstStyle/>
            <a:p>
              <a:pPr algn="ctr" defTabSz="457200">
                <a:defRPr/>
              </a:pPr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庞门正道标题体" panose="02010600030101010101" pitchFamily="2" charset="-122"/>
                </a:rPr>
                <a:t>重难透析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庞门正道标题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17049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(3)and还可用于“祈使句+and+陈述句”结构,意为“只要</a:t>
            </a:r>
            <a:r>
              <a:rPr lang="zh-CN" altLang="en-US" sz="2410" kern="0" dirty="0" smtClean="0"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就</a:t>
            </a:r>
            <a:r>
              <a:rPr lang="zh-CN" altLang="en-US" sz="2410" kern="0" dirty="0" smtClean="0"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”。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Work efficiently, </a:t>
            </a:r>
            <a:r>
              <a:rPr lang="zh-CN" altLang="en-US" sz="2410" u="sng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and</a:t>
            </a: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 you'll complete the task by the end of the month.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只要高效工作,到月底你就能完成任务。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5130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2.not only...but also...</a:t>
            </a:r>
            <a:endParaRPr lang="en-US" altLang="zh-CN" sz="2800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not only...but also...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意为“不仅</a:t>
            </a:r>
            <a:r>
              <a:rPr lang="en-US" altLang="zh-CN" sz="2410" kern="0" dirty="0"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而且</a:t>
            </a:r>
            <a:r>
              <a:rPr lang="en-US" altLang="zh-CN" sz="2410" kern="0" dirty="0"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”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可用于连接并列成分或并列分句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表示</a:t>
            </a:r>
            <a:br>
              <a:rPr lang="zh-CN" altLang="en-US" sz="2800" dirty="0"/>
            </a:b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并列、顺承、递进关系。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The hutongs </a:t>
            </a: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not only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link Beijing's streets and communities, </a:t>
            </a: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but also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(link) its past and pre-</a:t>
            </a:r>
            <a:br>
              <a:rPr lang="en-US" altLang="zh-CN" sz="2800" dirty="0"/>
            </a:b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sent, showing that Beijing is truly an ancient yet modern city.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胡同不仅连接着北京的街道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和社区,也连接着它的过去和现在,显示出北京是一个真正的古老而现代的城市。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It is said that </a:t>
            </a:r>
            <a:r>
              <a:rPr lang="zh-CN" altLang="en-US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not only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does he sing well, </a:t>
            </a:r>
            <a:r>
              <a:rPr lang="zh-CN" altLang="en-US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but also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he dances well.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据说他不仅唱歌唱得好,跳舞也很棒。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2589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当not only...but also...连接并列分句且not only置于句首时,前一分句部分倒装,后</a:t>
            </a:r>
            <a:br>
              <a:rPr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</a:b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一分句不倒装;当not only...but also...连接并列成分时,句子不倒装。</a:t>
            </a:r>
            <a:endParaRPr lang="zh-CN" altLang="en-US" sz="2000" kern="0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000" u="sng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Not only had the countries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found a path to the future that did not run over the relics of the </a:t>
            </a:r>
            <a:b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past, </a:t>
            </a:r>
            <a:r>
              <a:rPr lang="en-US" altLang="zh-CN" sz="2000" u="sng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but they had also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learnt that it was possible for countries to work together to build a </a:t>
            </a:r>
            <a:br>
              <a:rPr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better tomorrow.(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连接并列分句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这些国家不仅找到了一条不以牺牲古迹为代价的未来</a:t>
            </a:r>
            <a:b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发展之路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而且明白了多个国家合作创造更好的未来的可能性。</a:t>
            </a:r>
            <a:endParaRPr lang="zh-CN" altLang="en-US" sz="20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000" u="sng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Not only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the children </a:t>
            </a:r>
            <a:r>
              <a:rPr lang="en-US" altLang="zh-CN" sz="2000" u="sng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but also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their teacher was wounded in the accident.(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连接并列成分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br>
              <a:rPr lang="zh-CN" altLang="en-US" sz="2000" kern="0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不仅孩子们而且他们的老师也在事故中受了伤。</a:t>
            </a:r>
            <a:endParaRPr lang="zh-CN" altLang="en-US" sz="20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3751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3.neither...nor...</a:t>
            </a:r>
            <a:endParaRPr lang="zh-CN" altLang="en-US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neither...nor...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表示否定意义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意为“既不</a:t>
            </a:r>
            <a:r>
              <a:rPr lang="en-US" altLang="zh-CN" sz="2410" kern="0" dirty="0"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也不</a:t>
            </a:r>
            <a:r>
              <a:rPr lang="en-US" altLang="zh-CN" sz="2410" kern="0" dirty="0"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”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用于连接并列成分或并列分</a:t>
            </a:r>
            <a:br>
              <a:rPr lang="zh-CN" altLang="en-US" sz="2800" dirty="0"/>
            </a:b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句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表示并列、顺承、递进关系。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neither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和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nor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也可以单独使用。当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neither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或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nor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置于句</a:t>
            </a:r>
            <a:br>
              <a:rPr lang="zh-CN" altLang="en-US" sz="2800" dirty="0"/>
            </a:b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首时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句子需使用倒装结构。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Neither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is there pine </a:t>
            </a: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nor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apple in pineapple.</a:t>
            </a:r>
            <a:endParaRPr lang="en-US" altLang="zh-CN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菠萝里既没有松树也没有苹果。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676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4.or与either...or...</a:t>
            </a:r>
            <a:endParaRPr lang="zh-CN" altLang="en-US" sz="2800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(1)or和either...or...可用于连接并列成分或并列分句,表示选择关系。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Cloning is the process of making an exact copy of a plant </a:t>
            </a:r>
            <a:r>
              <a:rPr lang="zh-CN" altLang="en-US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or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animal and developing it </a:t>
            </a:r>
            <a:r>
              <a:rPr lang="zh-CN" altLang="en-US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either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naturally </a:t>
            </a:r>
            <a:r>
              <a:rPr lang="zh-CN" altLang="en-US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or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artificially.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克隆是一种准确复制植物或动物并通过自然或人工方式培育的过程。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Either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he could not come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or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he did not want to.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他要么是不能来,要么就是不想来。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(2)or还可以用于“祈使句+or+陈述句”结构,意为“否则”。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Make up your mind,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or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you'll miss the chance.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拿定主意,否则你就失去这次机会了。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9697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5.but与yet</a:t>
            </a:r>
            <a:endParaRPr lang="zh-CN" altLang="en-US" sz="2800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(1)but和yet可用于连接并列成分或并列分句,表示转折关系。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Fortune often knocks at the door, </a:t>
            </a:r>
            <a:r>
              <a:rPr lang="zh-CN" altLang="en-US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but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the fool does not invite her in.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幸运之神常光顾,痴人不知把门开。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(2)but可与not连用,构成not...but...结构,意为“不是</a:t>
            </a:r>
            <a:r>
              <a:rPr lang="zh-CN" altLang="en-US" sz="2410" kern="0" dirty="0">
                <a:solidFill>
                  <a:srgbClr val="000000"/>
                </a:solidFill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而是</a:t>
            </a:r>
            <a:r>
              <a:rPr lang="zh-CN" altLang="en-US" sz="2410" kern="0" dirty="0">
                <a:solidFill>
                  <a:srgbClr val="000000"/>
                </a:solidFill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”。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 like the job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not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because it is amusing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but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because I love it.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我喜欢这份工作,不是因为它有趣,而是因为我热爱它。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68000" y="648000"/>
            <a:ext cx="11831400" cy="56705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6.while</a:t>
            </a:r>
            <a:endParaRPr lang="en-US" altLang="zh-CN" sz="2410" b="1" kern="0" dirty="0">
              <a:solidFill>
                <a:srgbClr val="953FA3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　　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while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作并列连词意为“而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然而”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表示两种情况的对比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可用于连接并列分句。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Some think graffiti is a crime if done without a property owner's permission, </a:t>
            </a: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while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others </a:t>
            </a:r>
            <a:br>
              <a:rPr lang="en-US" altLang="zh-CN" sz="2800" dirty="0"/>
            </a:b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see this as a rich form of non-traditional cultural expression.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一些人认为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如果没有得到财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产所有者的许可,涂鸦就是一种犯罪,而其他人则认为这是一种丰富的非传统文化表达</a:t>
            </a:r>
            <a:br>
              <a:rPr dirty="0"/>
            </a:b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形式。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7.for与so</a:t>
            </a:r>
            <a:endParaRPr lang="zh-CN" altLang="en-US" sz="2410" b="1" kern="0" dirty="0">
              <a:solidFill>
                <a:srgbClr val="953FA3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(1)for作并列连词意为“因为”,表示原因,可用于连接并列分句,通常需要用逗号与前</a:t>
            </a:r>
            <a:br>
              <a:rPr dirty="0"/>
            </a:b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一分句隔开。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The leaves of the trees are falling, </a:t>
            </a:r>
            <a:r>
              <a:rPr lang="zh-CN" altLang="en-US" sz="2410" u="sng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for</a:t>
            </a: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 it's already autumn. 树叶在飘落,因为秋天已经到了。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1693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(2)so作并列连词意为“所以,因此”,表示结果,可用于连接并列分句。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My sister is expecting me, </a:t>
            </a:r>
            <a:r>
              <a:rPr lang="zh-CN" altLang="en-US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so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I must go now.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我姐姐正在等我,所以我现在必须走了。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467941"/>
            <a:ext cx="11831400" cy="1125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8.when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　　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when可用作并列连词,相当于and at that time,常用于以下三种句式: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692077"/>
          <a:ext cx="11268075" cy="3693160"/>
        </p:xfrm>
        <a:graphic>
          <a:graphicData uri="http://schemas.openxmlformats.org/drawingml/2006/table">
            <a:tbl>
              <a:tblPr/>
              <a:tblGrid>
                <a:gridCol w="2291715"/>
                <a:gridCol w="3301365"/>
                <a:gridCol w="5674920"/>
              </a:tblGrid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用法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例句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7493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sb. be doing...when...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某人正在做某事,这时另一件事突然发生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 </a:t>
                      </a:r>
                      <a:r>
                        <a:rPr lang="zh-CN" altLang="en-US" sz="1815" u="sng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was playing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outside </a:t>
                      </a:r>
                      <a:r>
                        <a:rPr lang="zh-CN" altLang="en-US" sz="1815" u="sng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when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it began to rain.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我正在外面玩,这时突然开始下雨了。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sb. be about to do...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when...或sb. be on the point of doing...when...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某人正要做某事,这时另一件事突然发生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 </a:t>
                      </a:r>
                      <a:r>
                        <a:rPr lang="zh-CN" altLang="en-US" sz="1815" u="sng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was about to turn off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my computer </a:t>
                      </a:r>
                      <a:r>
                        <a:rPr lang="zh-CN" altLang="en-US" sz="1815" u="sng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when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I received an </a:t>
                      </a:r>
                      <a:endParaRPr lang="en-US" altLang="zh-CN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email.我正准备关电脑,这时突然收到了一封电子邮件。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She </a:t>
                      </a:r>
                      <a:r>
                        <a:rPr lang="zh-CN" altLang="en-US" sz="1815" u="sng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was on the point of going out when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the telephone </a:t>
                      </a:r>
                      <a:endParaRPr lang="en-US" altLang="zh-CN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rang.她正要出去,电话铃响了。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sb. had hardly/barely/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scarcely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done...when...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某人刚做完某事,这时另一件事突然发生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 </a:t>
                      </a:r>
                      <a:r>
                        <a:rPr lang="zh-CN" altLang="en-US" sz="1815" u="sng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had hardly got on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the train </a:t>
                      </a:r>
                      <a:r>
                        <a:rPr lang="zh-CN" altLang="en-US" sz="1815" u="sng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when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the train left.我刚一上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去,火车就开了。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4532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 had just finished packing all my belongings for the trip to Paris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suddenly I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received a call from my friend who was already there, informing me that a party was being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organized in my honor.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句意:我刚收拾完去巴黎旅行的所有行李,这时突然接到已经抵达那里的朋友的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电话,告诉我大家正在为我筹备一个聚会。此处为sb. had just done...when...结构,意为</a:t>
            </a:r>
            <a:br>
              <a:rPr kern="0" dirty="0"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“某人刚做完某事,这时另一件事突然发生”,应填when。</a:t>
            </a:r>
            <a:endParaRPr lang="zh-CN" altLang="en-US" kern="0" dirty="0"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9988" y="1332037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lang="en-US" altLang="zh-CN" sz="2400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when    </a:t>
            </a:r>
            <a:endParaRPr lang="zh-CN" altLang="en-US" sz="2400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003800" y="539750"/>
            <a:ext cx="2359025" cy="521970"/>
            <a:chOff x="2031546" y="5566398"/>
            <a:chExt cx="1693545" cy="521970"/>
          </a:xfrm>
        </p:grpSpPr>
        <p:sp>
          <p:nvSpPr>
            <p:cNvPr id="11" name="矩形 10"/>
            <p:cNvSpPr/>
            <p:nvPr/>
          </p:nvSpPr>
          <p:spPr>
            <a:xfrm>
              <a:off x="2102666" y="5566398"/>
              <a:ext cx="1622425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kern="0" dirty="0" smtClean="0">
                  <a:solidFill>
                    <a:srgbClr val="953FA3"/>
                  </a:solidFill>
                  <a:latin typeface="楷体" panose="02010609060101010101" charset="-122"/>
                  <a:ea typeface="楷体" panose="02010609060101010101" charset="-122"/>
                  <a:cs typeface="Times New Roman" panose="02020603050405020304" pitchFamily="18" charset="0"/>
                </a:rPr>
                <a:t>考点针对练</a:t>
              </a:r>
              <a:endParaRPr lang="zh-CN" altLang="en-US" sz="2800" b="1" kern="0" dirty="0" smtClean="0">
                <a:solidFill>
                  <a:srgbClr val="953FA3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 rot="12533546">
              <a:off x="2060935" y="5658963"/>
              <a:ext cx="75274" cy="302276"/>
              <a:chOff x="1835622" y="5914973"/>
              <a:chExt cx="72919" cy="284654"/>
            </a:xfrm>
          </p:grpSpPr>
          <p:sp>
            <p:nvSpPr>
              <p:cNvPr id="14" name="等腰三角形 13"/>
              <p:cNvSpPr/>
              <p:nvPr/>
            </p:nvSpPr>
            <p:spPr>
              <a:xfrm>
                <a:off x="1836533" y="5914973"/>
                <a:ext cx="72008" cy="71957"/>
              </a:xfrm>
              <a:prstGeom prst="triangle">
                <a:avLst>
                  <a:gd name="adj" fmla="val 50113"/>
                </a:avLst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1835622" y="5986199"/>
                <a:ext cx="72008" cy="170374"/>
              </a:xfrm>
              <a:prstGeom prst="rect">
                <a:avLst/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835622" y="6156573"/>
                <a:ext cx="72008" cy="43054"/>
              </a:xfrm>
              <a:prstGeom prst="rect">
                <a:avLst/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" name="任意多边形 12"/>
            <p:cNvSpPr/>
            <p:nvPr/>
          </p:nvSpPr>
          <p:spPr>
            <a:xfrm>
              <a:off x="2031546" y="5983061"/>
              <a:ext cx="1390650" cy="70757"/>
            </a:xfrm>
            <a:custGeom>
              <a:avLst/>
              <a:gdLst>
                <a:gd name="connsiteX0" fmla="*/ 0 w 1390650"/>
                <a:gd name="connsiteY0" fmla="*/ 57150 h 70757"/>
                <a:gd name="connsiteX1" fmla="*/ 360590 w 1390650"/>
                <a:gd name="connsiteY1" fmla="*/ 1360 h 70757"/>
                <a:gd name="connsiteX2" fmla="*/ 853168 w 1390650"/>
                <a:gd name="connsiteY2" fmla="*/ 70757 h 70757"/>
                <a:gd name="connsiteX3" fmla="*/ 1390650 w 1390650"/>
                <a:gd name="connsiteY3" fmla="*/ 0 h 7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0650" h="70757">
                  <a:moveTo>
                    <a:pt x="0" y="57150"/>
                  </a:moveTo>
                  <a:cubicBezTo>
                    <a:pt x="109197" y="28121"/>
                    <a:pt x="218395" y="-908"/>
                    <a:pt x="360590" y="1360"/>
                  </a:cubicBezTo>
                  <a:cubicBezTo>
                    <a:pt x="502785" y="3628"/>
                    <a:pt x="681491" y="70984"/>
                    <a:pt x="853168" y="70757"/>
                  </a:cubicBezTo>
                  <a:cubicBezTo>
                    <a:pt x="1024845" y="70530"/>
                    <a:pt x="1291318" y="14968"/>
                    <a:pt x="1390650" y="0"/>
                  </a:cubicBezTo>
                </a:path>
              </a:pathLst>
            </a:custGeom>
            <a:noFill/>
            <a:ln>
              <a:solidFill>
                <a:srgbClr val="953FA3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2.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In an interview afterwards, she reflected on both preserving traditional skills through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new media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expanding economic opportunities for artisans.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此处为both...and...结构,用于连接preserving...和expanding...,作reflected on的宾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语,故填and。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79288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and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787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3.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To eat one soup dumpling, you have to decide whether to bite a small hole in it first, re-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leasing the steam and risking a spill(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溢出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),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to put the whole dumpling in your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mouth, letting the hot soup explode on your tongue.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句意:要吃一个小笼包,你就必须决定是先咬一小口,让热气散发,同时冒着溢出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汤汁的风险,还是把整个包子都放进嘴里,让热汤汁在你的舌尖上爆开。whether...or...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是固定搭配,表示“是……还是……”,故填or。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0835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or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23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4.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He had planned to go out for dinner with his friends to celebrate his birthday,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</a:t>
            </a:r>
            <a:br>
              <a:rPr lang="en-US" altLang="zh-CN" sz="2800" dirty="0"/>
            </a:b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 sudden emergency at work forced him to cancel his plan.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句意:他原本计划和他的朋友一起出去吃晚餐庆祝生日,但工作上突发的紧急情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况迫使他取消了计划。根据句意可知,设空处前后内容存在转折关系,此处需要填一个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表示转折关系的连词,故填but或yet。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800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302563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but/yet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787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5.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Despite the fact that the new restaurant downtown has received many positive reviews, I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haven't had a chance to try it yet, and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have I been able to explore any of the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other new places that have opened up recently due to my busy schedule.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句意:尽管市中心的新餐厅收到了很多好评,但由于我的日程安排很紧,我还没有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机会去尝试,也没能去探索最近新开的其他任何地方。根据句意可知,设空处需要一个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表示“也不”的连词,故填neither。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95563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neither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787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6.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“First International Tea Day Tea Road Cooperative Initiative” issued(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发布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) at the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ceremony calls for people working in the tea industry to come together to promote </a:t>
            </a: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interna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-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tional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cooperation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cultural exchanges.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此处指这个倡议呼吁从事茶业的人士团结起来,促进国际合作和文化交流。名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词短语international cooperation和cultural exchanges为并列关系,均为动词promote的宾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语,故填and。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63525" y="1749471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and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787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7.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She enjoyed playing tennis and was quite skilled at it, often winning matches,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her sister preferred swimming, finding the rhythmic movements in the water more relaxing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and fulfilling.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句意:她喜欢打网球,并且打得相当好,经常赢得比赛,而她妹妹则更喜欢游泳,觉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得水中那富有节奏的运动更加令人放松和满足。设空处前后内容表示对比,故填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while。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369238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while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8.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In a study of 33 years of trends in Body Mass Index(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体重指数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) across 200 countries, the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scientists found that people worldwide are getting heavier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that most of the rise is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due to gains in BMI in rural areas.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found后是两个由that引导的宾语从句,两个从句构成并列关系,故填and。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26038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and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23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9.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We need to analyze the reasons that lead to the present situation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reflect on mea-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sures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to improve credibility and consumer experiences.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句意:我们有必要分析导致现在这种情况的原因,并且反思提高可信度和消费者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体验的措施。to analyze the reasons...和(to) reflect on measures...构成并列关系,故填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and。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81725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and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23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10.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David had a brain disease which prevented him from walking or running like other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children,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at school his classmates thought of him as a regular kid.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句意:戴维患有脑疾,这使他不能像其他孩子一样走路或跑步,但在学校里,他的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同学认为他是一个正常的孩子。根据语境可知,设空处前后构成转折关系。故填but或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yet。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2370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but/yet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120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11.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Give me a chance,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I'll give you a wonderful surprise.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句意:给我一次机会,我会给你一个惊喜。本题考查特殊句式中的“祈使句+and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+陈述句”句式。故填and。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63588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and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12.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There's no way of knowing why one man makes an important discovery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an-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other man, also intelligent, fails.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句意:没办法知道为什么有人能够有重大发现,而有的人同样聪明,却不能。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while在这里表示两种情况的对比。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10438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while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23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13.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we live in the truth or we live in lies. The truth sets us free and lies leave us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nothing but more troubles.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句意:我们要么生活在真相中,要么生活在谎言中。真相使我们自由,谎言只会给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我们带来更多的麻烦。either...or...意为“要么……要么……”。设空处位于句首,首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字母应大写。故填Either。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5200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Either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120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14.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To everyone's surprise, the fish smelled bad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tasted very good.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句意:令大家吃惊的是,这种鱼很难闻,却很好吃。smelled bad和tasted very good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构成转折关系,故填but。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67150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but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787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15.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It might be the time when you helped a friend with their homework, when you did the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ironing without being asked,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when you baked cookies after the family had had a </a:t>
            </a: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tir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-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ing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day.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句意:这可能是你帮助朋友做家庭作业的时候,也可能是你在没有人要求的情况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下熨衣服的时候,抑或是你在家人度过了疲惫的一天之后烤饼干的时候。三个when引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导定语从句,修饰先行词the time。三个定语从句构成选择关系,故填or。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4305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or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tags/tag1.xml><?xml version="1.0" encoding="utf-8"?>
<p:tagLst xmlns:p="http://schemas.openxmlformats.org/presentationml/2006/main">
  <p:tag name="TOP" val="205.7761"/>
  <p:tag name="LEFT" val="173.0257"/>
  <p:tag name="WIDTH" val="632.3657"/>
  <p:tag name="HEIGHT" val="116.325"/>
  <p:tag name="FONTSIZE" val="96"/>
  <p:tag name="MARGINBOTTOM" val="0"/>
  <p:tag name="MARGINLEFT" val="0"/>
  <p:tag name="MARGINRIGHT" val="0"/>
  <p:tag name="MARGINTOP" val="0"/>
  <p:tag name="LINERULEAFTER" val="0"/>
</p:tagLst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item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Props2.xml><?xml version="1.0" encoding="utf-8"?>
<ds:datastoreItem xmlns:ds="http://schemas.openxmlformats.org/officeDocument/2006/customXml" ds:itemID="{EC2600BD-684B-4445-9B7A-0DFA4F0D1F41}">
  <ds:schemaRefs/>
</ds:datastoreItem>
</file>

<file path=customXml/itemProps3.xml><?xml version="1.0" encoding="utf-8"?>
<ds:datastoreItem xmlns:ds="http://schemas.openxmlformats.org/officeDocument/2006/customXml" ds:itemID="{0F4BC21C-F9E9-468C-BD74-AF1D80349910}">
  <ds:schemaRefs/>
</ds:datastoreItem>
</file>

<file path=customXml/itemProps4.xml><?xml version="1.0" encoding="utf-8"?>
<ds:datastoreItem xmlns:ds="http://schemas.openxmlformats.org/officeDocument/2006/customXml" ds:itemID="{171F5A8A-ADC1-4AEF-8383-0B8B04B05B5E}">
  <ds:schemaRefs/>
</ds:datastoreItem>
</file>

<file path=customXml/itemProps5.xml><?xml version="1.0" encoding="utf-8"?>
<ds:datastoreItem xmlns:ds="http://schemas.openxmlformats.org/officeDocument/2006/customXml" ds:itemID="{2EE64CF4-A553-4ED0-95DD-DB2A57F9B9B6}">
  <ds:schemaRefs/>
</ds:datastoreItem>
</file>

<file path=customXml/itemProps6.xml><?xml version="1.0" encoding="utf-8"?>
<ds:datastoreItem xmlns:ds="http://schemas.openxmlformats.org/officeDocument/2006/customXml" ds:itemID="{F0AA1791-8FAD-4826-892B-530A244BD244}">
  <ds:schemaRefs/>
</ds:datastoreItem>
</file>

<file path=customXml/itemProps7.xml><?xml version="1.0" encoding="utf-8"?>
<ds:datastoreItem xmlns:ds="http://schemas.openxmlformats.org/officeDocument/2006/customXml" ds:itemID="{77DFA039-38A8-4143-9059-663452208DAA}">
  <ds:schemaRefs/>
</ds:datastoreItem>
</file>

<file path=customXml/itemProps8.xml><?xml version="1.0" encoding="utf-8"?>
<ds:datastoreItem xmlns:ds="http://schemas.openxmlformats.org/officeDocument/2006/customXml" ds:itemID="{6C78C3AA-7A2A-4DF4-AE86-CF036D6C6D7E}">
  <ds:schemaRefs/>
</ds:datastoreItem>
</file>

<file path=customXml/itemProps9.xml><?xml version="1.0" encoding="utf-8"?>
<ds:datastoreItem xmlns:ds="http://schemas.openxmlformats.org/officeDocument/2006/customXml" ds:itemID="{BA39C23D-1896-4DCE-906A-88480090E1E2}">
  <ds:schemaRefs/>
</ds:datastoreItem>
</file>

<file path=customXml/itemProps10.xml><?xml version="1.0" encoding="utf-8"?>
<ds:datastoreItem xmlns:ds="http://schemas.openxmlformats.org/officeDocument/2006/customXml" ds:itemID="{CF812B3D-6057-4CD5-B61F-F68763F1D6B8}">
  <ds:schemaRefs/>
</ds:datastoreItem>
</file>

<file path=customXml/itemProps11.xml><?xml version="1.0" encoding="utf-8"?>
<ds:datastoreItem xmlns:ds="http://schemas.openxmlformats.org/officeDocument/2006/customXml" ds:itemID="{CF05E734-9EF9-4A83-95E1-F9238E973619}">
  <ds:schemaRefs/>
</ds:datastoreItem>
</file>

<file path=customXml/itemProps12.xml><?xml version="1.0" encoding="utf-8"?>
<ds:datastoreItem xmlns:ds="http://schemas.openxmlformats.org/officeDocument/2006/customXml" ds:itemID="{0504A45B-A79A-4518-B143-6EE9151E2318}">
  <ds:schemaRefs/>
</ds:datastoreItem>
</file>

<file path=customXml/itemProps13.xml><?xml version="1.0" encoding="utf-8"?>
<ds:datastoreItem xmlns:ds="http://schemas.openxmlformats.org/officeDocument/2006/customXml" ds:itemID="{77D8CA7F-E2BA-44BE-B26D-B6B21531B890}">
  <ds:schemaRefs/>
</ds:datastoreItem>
</file>

<file path=customXml/itemProps14.xml><?xml version="1.0" encoding="utf-8"?>
<ds:datastoreItem xmlns:ds="http://schemas.openxmlformats.org/officeDocument/2006/customXml" ds:itemID="{DBED78A3-6B6A-4C5A-AE80-2A07F99FC392}">
  <ds:schemaRefs/>
</ds:datastoreItem>
</file>

<file path=customXml/itemProps15.xml><?xml version="1.0" encoding="utf-8"?>
<ds:datastoreItem xmlns:ds="http://schemas.openxmlformats.org/officeDocument/2006/customXml" ds:itemID="{4F1827E6-B772-4BB7-8769-4C987C0876D4}">
  <ds:schemaRefs/>
</ds:datastoreItem>
</file>

<file path=customXml/itemProps16.xml><?xml version="1.0" encoding="utf-8"?>
<ds:datastoreItem xmlns:ds="http://schemas.openxmlformats.org/officeDocument/2006/customXml" ds:itemID="{A8E32CA5-C210-4ED5-AF59-43F00949EBD9}">
  <ds:schemaRefs/>
</ds:datastoreItem>
</file>

<file path=customXml/itemProps17.xml><?xml version="1.0" encoding="utf-8"?>
<ds:datastoreItem xmlns:ds="http://schemas.openxmlformats.org/officeDocument/2006/customXml" ds:itemID="{94A3AC75-C826-417A-9442-D0F433DEE82C}">
  <ds:schemaRefs/>
</ds:datastoreItem>
</file>

<file path=customXml/itemProps18.xml><?xml version="1.0" encoding="utf-8"?>
<ds:datastoreItem xmlns:ds="http://schemas.openxmlformats.org/officeDocument/2006/customXml" ds:itemID="{0BF7CCA7-9259-4B06-A8C0-F3CA0C351872}">
  <ds:schemaRefs/>
</ds:datastoreItem>
</file>

<file path=customXml/itemProps19.xml><?xml version="1.0" encoding="utf-8"?>
<ds:datastoreItem xmlns:ds="http://schemas.openxmlformats.org/officeDocument/2006/customXml" ds:itemID="{B2EB3712-7C16-4338-AF1C-ED48E74B9818}">
  <ds:schemaRefs/>
</ds:datastoreItem>
</file>

<file path=customXml/itemProps20.xml><?xml version="1.0" encoding="utf-8"?>
<ds:datastoreItem xmlns:ds="http://schemas.openxmlformats.org/officeDocument/2006/customXml" ds:itemID="{E80551D6-071F-42F5-9DDC-92E0926FB891}">
  <ds:schemaRefs/>
</ds:datastoreItem>
</file>

<file path=customXml/itemProps21.xml><?xml version="1.0" encoding="utf-8"?>
<ds:datastoreItem xmlns:ds="http://schemas.openxmlformats.org/officeDocument/2006/customXml" ds:itemID="{CD8F2B54-08DC-4A05-8E62-9FF90EAC2648}">
  <ds:schemaRefs/>
</ds:datastoreItem>
</file>

<file path=customXml/itemProps22.xml><?xml version="1.0" encoding="utf-8"?>
<ds:datastoreItem xmlns:ds="http://schemas.openxmlformats.org/officeDocument/2006/customXml" ds:itemID="{E84B82DD-2D4D-4092-9CA0-1CAE09552228}">
  <ds:schemaRefs/>
</ds:datastoreItem>
</file>

<file path=customXml/itemProps23.xml><?xml version="1.0" encoding="utf-8"?>
<ds:datastoreItem xmlns:ds="http://schemas.openxmlformats.org/officeDocument/2006/customXml" ds:itemID="{2B464FA5-6943-4571-823E-F7A387EED7C8}">
  <ds:schemaRefs/>
</ds:datastoreItem>
</file>

<file path=customXml/itemProps24.xml><?xml version="1.0" encoding="utf-8"?>
<ds:datastoreItem xmlns:ds="http://schemas.openxmlformats.org/officeDocument/2006/customXml" ds:itemID="{21EB5B5F-EA98-4B23-953E-0EE6E2E23BD7}">
  <ds:schemaRefs/>
</ds:datastoreItem>
</file>

<file path=customXml/itemProps25.xml><?xml version="1.0" encoding="utf-8"?>
<ds:datastoreItem xmlns:ds="http://schemas.openxmlformats.org/officeDocument/2006/customXml" ds:itemID="{4803D168-AA4E-4681-901A-D4A448A765A6}">
  <ds:schemaRefs/>
</ds:datastoreItem>
</file>

<file path=customXml/itemProps26.xml><?xml version="1.0" encoding="utf-8"?>
<ds:datastoreItem xmlns:ds="http://schemas.openxmlformats.org/officeDocument/2006/customXml" ds:itemID="{2EB75159-10BF-4987-9331-348AB98FB517}">
  <ds:schemaRefs/>
</ds:datastoreItem>
</file>

<file path=customXml/itemProps27.xml><?xml version="1.0" encoding="utf-8"?>
<ds:datastoreItem xmlns:ds="http://schemas.openxmlformats.org/officeDocument/2006/customXml" ds:itemID="{A91B8C23-05B9-4E32-84E1-D5F1B195E4F5}">
  <ds:schemaRefs/>
</ds:datastoreItem>
</file>

<file path=customXml/itemProps28.xml><?xml version="1.0" encoding="utf-8"?>
<ds:datastoreItem xmlns:ds="http://schemas.openxmlformats.org/officeDocument/2006/customXml" ds:itemID="{0C724E02-E364-46A1-BEF8-DBF65A1522C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专题一　动词</Template>
  <TotalTime>0</TotalTime>
  <Words>7348</Words>
  <Application>WPS 演示</Application>
  <PresentationFormat>自定义</PresentationFormat>
  <Paragraphs>212</Paragraphs>
  <Slides>28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黑体</vt:lpstr>
      <vt:lpstr>Times New Roman</vt:lpstr>
      <vt:lpstr>思源宋体 CN</vt:lpstr>
      <vt:lpstr>思源宋体 CN Heavy</vt:lpstr>
      <vt:lpstr>Times New Roman</vt:lpstr>
      <vt:lpstr>庞门正道标题体</vt:lpstr>
      <vt:lpstr>Arial Unicode MS</vt:lpstr>
      <vt:lpstr>Calibri</vt:lpstr>
      <vt:lpstr>楷体_GB2312</vt:lpstr>
      <vt:lpstr>新宋体</vt:lpstr>
      <vt:lpstr>楷体</vt:lpstr>
      <vt:lpstr>等线</vt:lpstr>
      <vt:lpstr>等线 Light</vt:lpstr>
      <vt:lpstr>2_自定义设计方案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封面标题</dc:title>
  <dc:creator/>
  <cp:lastModifiedBy>A0885</cp:lastModifiedBy>
  <cp:revision>36</cp:revision>
  <dcterms:created xsi:type="dcterms:W3CDTF">2025-06-07T07:59:06Z</dcterms:created>
  <dcterms:modified xsi:type="dcterms:W3CDTF">2025-06-07T08:07:01Z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EEB410F35A514BF89812251B90FE1454_12</vt:lpwstr>
  </property>
  <property fmtid="{D5CDD505-2E9C-101B-9397-08002B2CF9AE}" pid="3" name="KSOProductBuildVer">
    <vt:lpwstr>2052-12.1.0.21171</vt:lpwstr>
  </property>
</Properties>
</file>