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307" r:id="rId5"/>
    <p:sldId id="308" r:id="rId6"/>
    <p:sldId id="258" r:id="rId7"/>
    <p:sldId id="259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309" r:id="rId21"/>
    <p:sldId id="275" r:id="rId22"/>
    <p:sldId id="310" r:id="rId23"/>
    <p:sldId id="279" r:id="rId24"/>
    <p:sldId id="282" r:id="rId25"/>
    <p:sldId id="284" r:id="rId26"/>
    <p:sldId id="285" r:id="rId27"/>
    <p:sldId id="287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42" autoAdjust="0"/>
  </p:normalViewPr>
  <p:slideViewPr>
    <p:cSldViewPr showGuides="1">
      <p:cViewPr varScale="1">
        <p:scale>
          <a:sx n="90" d="100"/>
          <a:sy n="90" d="100"/>
        </p:scale>
        <p:origin x="13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7" Type="http://schemas.openxmlformats.org/officeDocument/2006/relationships/customXml" Target="../customXml/item40.xml"/><Relationship Id="rId86" Type="http://schemas.openxmlformats.org/officeDocument/2006/relationships/customXml" Target="../customXml/item39.xml"/><Relationship Id="rId85" Type="http://schemas.openxmlformats.org/officeDocument/2006/relationships/customXml" Target="../customXml/item38.xml"/><Relationship Id="rId84" Type="http://schemas.openxmlformats.org/officeDocument/2006/relationships/customXml" Target="../customXml/item37.xml"/><Relationship Id="rId83" Type="http://schemas.openxmlformats.org/officeDocument/2006/relationships/customXml" Target="../customXml/item36.xml"/><Relationship Id="rId82" Type="http://schemas.openxmlformats.org/officeDocument/2006/relationships/customXml" Target="../customXml/item35.xml"/><Relationship Id="rId81" Type="http://schemas.openxmlformats.org/officeDocument/2006/relationships/customXml" Target="../customXml/item34.xml"/><Relationship Id="rId80" Type="http://schemas.openxmlformats.org/officeDocument/2006/relationships/customXml" Target="../customXml/item33.xml"/><Relationship Id="rId8" Type="http://schemas.openxmlformats.org/officeDocument/2006/relationships/notesMaster" Target="notesMasters/notesMaster1.xml"/><Relationship Id="rId79" Type="http://schemas.openxmlformats.org/officeDocument/2006/relationships/customXml" Target="../customXml/item32.xml"/><Relationship Id="rId78" Type="http://schemas.openxmlformats.org/officeDocument/2006/relationships/customXml" Target="../customXml/item31.xml"/><Relationship Id="rId77" Type="http://schemas.openxmlformats.org/officeDocument/2006/relationships/customXml" Target="../customXml/item30.xml"/><Relationship Id="rId76" Type="http://schemas.openxmlformats.org/officeDocument/2006/relationships/customXml" Target="../customXml/item29.xml"/><Relationship Id="rId75" Type="http://schemas.openxmlformats.org/officeDocument/2006/relationships/customXml" Target="../customXml/item28.xml"/><Relationship Id="rId74" Type="http://schemas.openxmlformats.org/officeDocument/2006/relationships/customXml" Target="../customXml/item27.xml"/><Relationship Id="rId73" Type="http://schemas.openxmlformats.org/officeDocument/2006/relationships/customXml" Target="../customXml/item26.xml"/><Relationship Id="rId72" Type="http://schemas.openxmlformats.org/officeDocument/2006/relationships/customXml" Target="../customXml/item25.xml"/><Relationship Id="rId71" Type="http://schemas.openxmlformats.org/officeDocument/2006/relationships/customXml" Target="../customXml/item24.xml"/><Relationship Id="rId70" Type="http://schemas.openxmlformats.org/officeDocument/2006/relationships/customXml" Target="../customXml/item23.xml"/><Relationship Id="rId7" Type="http://schemas.openxmlformats.org/officeDocument/2006/relationships/slide" Target="slides/slide3.xml"/><Relationship Id="rId69" Type="http://schemas.openxmlformats.org/officeDocument/2006/relationships/customXml" Target="../customXml/item22.xml"/><Relationship Id="rId68" Type="http://schemas.openxmlformats.org/officeDocument/2006/relationships/customXml" Target="../customXml/item21.xml"/><Relationship Id="rId67" Type="http://schemas.openxmlformats.org/officeDocument/2006/relationships/customXml" Target="../customXml/item20.xml"/><Relationship Id="rId66" Type="http://schemas.openxmlformats.org/officeDocument/2006/relationships/customXml" Target="../customXml/item19.xml"/><Relationship Id="rId65" Type="http://schemas.openxmlformats.org/officeDocument/2006/relationships/customXml" Target="../customXml/item18.xml"/><Relationship Id="rId64" Type="http://schemas.openxmlformats.org/officeDocument/2006/relationships/customXml" Target="../customXml/item17.xml"/><Relationship Id="rId63" Type="http://schemas.openxmlformats.org/officeDocument/2006/relationships/customXml" Target="../customXml/item16.xml"/><Relationship Id="rId62" Type="http://schemas.openxmlformats.org/officeDocument/2006/relationships/customXml" Target="../customXml/item15.xml"/><Relationship Id="rId61" Type="http://schemas.openxmlformats.org/officeDocument/2006/relationships/customXml" Target="../customXml/item14.xml"/><Relationship Id="rId60" Type="http://schemas.openxmlformats.org/officeDocument/2006/relationships/customXml" Target="../customXml/item13.xml"/><Relationship Id="rId6" Type="http://schemas.openxmlformats.org/officeDocument/2006/relationships/slide" Target="slides/slide2.xml"/><Relationship Id="rId59" Type="http://schemas.openxmlformats.org/officeDocument/2006/relationships/customXml" Target="../customXml/item12.xml"/><Relationship Id="rId58" Type="http://schemas.openxmlformats.org/officeDocument/2006/relationships/customXml" Target="../customXml/item11.xml"/><Relationship Id="rId57" Type="http://schemas.openxmlformats.org/officeDocument/2006/relationships/customXml" Target="../customXml/item10.xml"/><Relationship Id="rId56" Type="http://schemas.openxmlformats.org/officeDocument/2006/relationships/customXml" Target="../customXml/item9.xml"/><Relationship Id="rId55" Type="http://schemas.openxmlformats.org/officeDocument/2006/relationships/customXml" Target="../customXml/item8.xml"/><Relationship Id="rId54" Type="http://schemas.openxmlformats.org/officeDocument/2006/relationships/customXml" Target="../customXml/item7.xml"/><Relationship Id="rId53" Type="http://schemas.openxmlformats.org/officeDocument/2006/relationships/customXml" Target="../customXml/item6.xml"/><Relationship Id="rId52" Type="http://schemas.openxmlformats.org/officeDocument/2006/relationships/customXml" Target="../customXml/item5.xml"/><Relationship Id="rId51" Type="http://schemas.openxmlformats.org/officeDocument/2006/relationships/customXml" Target="../customXml/item4.xml"/><Relationship Id="rId50" Type="http://schemas.openxmlformats.org/officeDocument/2006/relationships/customXml" Target="../customXml/item3.xml"/><Relationship Id="rId5" Type="http://schemas.openxmlformats.org/officeDocument/2006/relationships/slide" Target="slides/slide1.xml"/><Relationship Id="rId49" Type="http://schemas.openxmlformats.org/officeDocument/2006/relationships/customXml" Target="../customXml/item2.xml"/><Relationship Id="rId48" Type="http://schemas.openxmlformats.org/officeDocument/2006/relationships/customXml" Target="../customXml/item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3.xml"/><Relationship Id="rId8" Type="http://schemas.openxmlformats.org/officeDocument/2006/relationships/image" Target="../media/image3.png"/><Relationship Id="rId7" Type="http://schemas.openxmlformats.org/officeDocument/2006/relationships/slide" Target="slide12.xml"/><Relationship Id="rId6" Type="http://schemas.openxmlformats.org/officeDocument/2006/relationships/slide" Target="slide10.xml"/><Relationship Id="rId5" Type="http://schemas.openxmlformats.org/officeDocument/2006/relationships/slide" Target="slide8.xml"/><Relationship Id="rId4" Type="http://schemas.openxmlformats.org/officeDocument/2006/relationships/slide" Target="slide7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9" Type="http://schemas.openxmlformats.org/officeDocument/2006/relationships/slideLayout" Target="../slideLayouts/slideLayout4.xml"/><Relationship Id="rId18" Type="http://schemas.openxmlformats.org/officeDocument/2006/relationships/slide" Target="slide24.xml"/><Relationship Id="rId17" Type="http://schemas.openxmlformats.org/officeDocument/2006/relationships/slide" Target="slide23.xml"/><Relationship Id="rId16" Type="http://schemas.openxmlformats.org/officeDocument/2006/relationships/slide" Target="slide22.xml"/><Relationship Id="rId15" Type="http://schemas.openxmlformats.org/officeDocument/2006/relationships/slide" Target="slide20.xml"/><Relationship Id="rId14" Type="http://schemas.openxmlformats.org/officeDocument/2006/relationships/slide" Target="slide19.xml"/><Relationship Id="rId13" Type="http://schemas.openxmlformats.org/officeDocument/2006/relationships/slide" Target="slide18.xml"/><Relationship Id="rId12" Type="http://schemas.openxmlformats.org/officeDocument/2006/relationships/slide" Target="slide17.xml"/><Relationship Id="rId11" Type="http://schemas.openxmlformats.org/officeDocument/2006/relationships/slide" Target="slide15.xml"/><Relationship Id="rId10" Type="http://schemas.openxmlformats.org/officeDocument/2006/relationships/slide" Target="slide1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b="1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0460" y="2425700"/>
            <a:ext cx="622554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4000" b="1" kern="0" noProof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专题三  形容词、副词</a:t>
            </a: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65335" y="1094842"/>
            <a:ext cx="196920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体系透视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359" y="1653315"/>
            <a:ext cx="2808439" cy="4236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重难透析</a:t>
            </a:r>
            <a:endParaRPr lang="en-US" altLang="zh-CN" sz="1995" b="1" dirty="0" smtClean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  <a:hlinkClick r:id="rId2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比较等级的变化规则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1.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规则变化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2.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不规则变化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比较等级的用法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1.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原级比较的用法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2.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比较级的用法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3.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最高级的用法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4.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倍数表达</a:t>
            </a: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7" action="ppaction://hlinksldjump"/>
              </a:rPr>
              <a:t>法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58" y="1082972"/>
            <a:ext cx="702565" cy="6471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7" y="1691950"/>
            <a:ext cx="702565" cy="6471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851846" y="1620069"/>
            <a:ext cx="3528392" cy="5157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9" action="ppaction://hlinksldjump"/>
              </a:rPr>
              <a:t>形容词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9" action="ppaction://hlinksldjump"/>
              </a:rPr>
              <a:t>的句法功能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9" action="ppaction://hlinksldjump"/>
              </a:rPr>
              <a:t>1.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9" action="ppaction://hlinksldjump"/>
              </a:rPr>
              <a:t>作定语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0" action="ppaction://hlinksldjump"/>
              </a:rPr>
              <a:t>2.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0" action="ppaction://hlinksldjump"/>
              </a:rPr>
              <a:t>作状语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1" action="ppaction://hlinksldjump"/>
              </a:rPr>
              <a:t>3.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1" action="ppaction://hlinksldjump"/>
              </a:rPr>
              <a:t>表语形容词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2" action="ppaction://hlinksldjump"/>
              </a:rPr>
              <a:t>副词的句法功能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3" action="ppaction://hlinksldjump"/>
              </a:rPr>
              <a:t>常见的连接性副词和同根副词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3" action="ppaction://hlinksldjump"/>
              </a:rPr>
              <a:t>1.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3" action="ppaction://hlinksldjump"/>
              </a:rPr>
              <a:t>常见的连接性副词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4" action="ppaction://hlinksldjump"/>
              </a:rPr>
              <a:t>2.</a:t>
            </a: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4" action="ppaction://hlinksldjump"/>
              </a:rPr>
              <a:t>具有两种形式的同根副词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5" action="ppaction://hlinksldjump"/>
              </a:rPr>
              <a:t>名词变为形容词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6" action="ppaction://hlinksldjump"/>
              </a:rPr>
              <a:t>动词变为形容词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7" action="ppaction://hlinksldjump"/>
              </a:rPr>
              <a:t>形容词变为副词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147336" y="1055875"/>
            <a:ext cx="1969206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49" charset="-122"/>
                <a:hlinkClick r:id="rId18" action="ppaction://hlinksldjump"/>
              </a:rPr>
              <a:t>考点针对练</a:t>
            </a:r>
            <a:endParaRPr lang="zh-CN" altLang="en-US" sz="19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pitchFamily="49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459" y="1044005"/>
            <a:ext cx="702565" cy="64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5" name="组合 4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8" name="椭圆 7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体系透视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556"/>
          <a:stretch>
            <a:fillRect/>
          </a:stretch>
        </p:blipFill>
        <p:spPr>
          <a:xfrm>
            <a:off x="2254885" y="1403350"/>
            <a:ext cx="7658100" cy="4097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553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比较等级的变化规则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1.规则变化</a:t>
            </a:r>
            <a:endParaRPr lang="zh-CN" altLang="en-US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4" name="组合 3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8" name="椭圆 7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7" name="椭圆 6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重难透析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10" name="表格 2"/>
          <p:cNvGraphicFramePr>
            <a:graphicFrameLocks noGrp="1"/>
          </p:cNvGraphicFramePr>
          <p:nvPr/>
        </p:nvGraphicFramePr>
        <p:xfrm>
          <a:off x="468000" y="2268141"/>
          <a:ext cx="11268000" cy="3451672"/>
        </p:xfrm>
        <a:graphic>
          <a:graphicData uri="http://schemas.openxmlformats.org/drawingml/2006/table">
            <a:tbl>
              <a:tblPr/>
              <a:tblGrid>
                <a:gridCol w="3743886"/>
                <a:gridCol w="2952328"/>
                <a:gridCol w="1224136"/>
                <a:gridCol w="1584176"/>
                <a:gridCol w="1763474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变化规则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比较级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最高级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单音节词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加-er/-est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high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higher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highest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以字母e结尾的词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加-r/-st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large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larger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largest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以一个辅音字母结尾</a:t>
                      </a:r>
                      <a:br>
                        <a:rPr dirty="0"/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的重读闭音节词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先双写这个辅音字</a:t>
                      </a:r>
                      <a:br>
                        <a:rPr dirty="0"/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母,再加-er/-est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hot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hotter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hottest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以“辅音字母+y”结尾的词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变y为i再加-er/-est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happy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happier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happiest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多音节词和部分双音节词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词前加more/most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beautiful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more beautiful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most beautiful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2.不规则变化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260029"/>
          <a:ext cx="11268000" cy="4970149"/>
        </p:xfrm>
        <a:graphic>
          <a:graphicData uri="http://schemas.openxmlformats.org/drawingml/2006/table">
            <a:tbl>
              <a:tblPr/>
              <a:tblGrid>
                <a:gridCol w="1799670"/>
                <a:gridCol w="4536504"/>
                <a:gridCol w="4931826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原级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比较级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最高级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good/well 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better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best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bad/badly/ill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worse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worst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many/much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more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most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little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least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 rowSpan="2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farther(指距离)更远的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farthest(指距离)最远的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further(指距离或程度)更远的,更进一步的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furthest(指距离或程度)最远的,最深入的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 rowSpan="2"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old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older(指血缘、年龄、新旧)较年长</a:t>
                      </a:r>
                      <a:br>
                        <a:rPr dirty="0"/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的,较老的,较旧的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oldest(指血缘、年龄、新旧)最年长</a:t>
                      </a:r>
                      <a:b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的,最老的,最旧的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 vMerge="1"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elder(指血缘)较年长的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eldest(指血缘)最年长的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815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有些形容词、副词没有比较级和最高级:</a:t>
            </a:r>
            <a:endParaRPr lang="zh-CN" altLang="en-US" sz="1400" kern="0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①表示最高程度、独一无二或绝对意义的词,如excellent(ly)、extreme(ly)、perfect</a:t>
            </a:r>
            <a:br>
              <a:rPr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(ly)、absolute(ly)、entire (ly)、total(ly)、wonderful(ly)、only、single 等。</a:t>
            </a:r>
            <a:endParaRPr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②本身就有比较含义的词,如senior(年长的,级别高的)、junior(年少的,级别低的)、superior(更好的)、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inferior(较差的)、prior(较早的)等。这类词要用介词to引出比较对象。</a:t>
            </a:r>
            <a:endParaRPr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We have a relationship infinitely </a:t>
            </a:r>
            <a:r>
              <a:rPr lang="en-US" altLang="zh-CN" sz="2000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superior</a:t>
            </a:r>
            <a:r>
              <a:rPr lang="en-US" altLang="zh-CN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to those of many of our friends. </a:t>
            </a: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我们的关系要比</a:t>
            </a:r>
            <a:b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我们其他许多朋友的关系好得多。</a:t>
            </a:r>
            <a:endParaRPr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9697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比较等级的用法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1.原级比较的用法</a:t>
            </a:r>
            <a:endParaRPr lang="zh-CN" altLang="en-US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　　as+原级形容词/副词+as...(和</a:t>
            </a:r>
            <a:r>
              <a:rPr lang="zh-CN" altLang="en-US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一样</a:t>
            </a:r>
            <a:r>
              <a:rPr lang="zh-CN" altLang="en-US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She is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as tall as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my mother.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她和我的妈妈一样高。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My brother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doesn't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study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as hard as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me.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我的弟弟学习不如我努力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76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2.比较级的用法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(1)(not+)比较级+than(不)比……更……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他的弟弟比我年轻。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runs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faster than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me. 他比我跑得快。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(2)比较级+and+比较级(越来越</a:t>
            </a:r>
            <a:r>
              <a:rPr lang="zh-CN" altLang="en-US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有时也用“more and more+原级”或“less and less+原级”表示。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Holiday flight tickets are getting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less and less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expensive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假期的机票越来越便宜了。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(3)the+比较级...,the+比较级...(越</a:t>
            </a:r>
            <a:r>
              <a:rPr lang="zh-CN" altLang="en-US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,越</a:t>
            </a:r>
            <a:r>
              <a:rPr lang="zh-CN" altLang="en-US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more learned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a man is,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more modest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 usually is. 一个人越有学问,往往越谦虚。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harder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you work,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greater progress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you will make. 你越努力,取得的进步就越大。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47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(4)the+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比较级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+of the two(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两个中较</a:t>
            </a:r>
            <a:r>
              <a:rPr lang="en-US" altLang="zh-CN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的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is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better of the two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他是两人中较好的一个。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(5)Which+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动词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+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比较级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,A or B?(A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和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哪一个较</a:t>
            </a:r>
            <a:r>
              <a:rPr lang="en-US" altLang="zh-CN" sz="2410" kern="0" dirty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?)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Which is more popular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newspapers or magazines?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哪个更受欢迎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报纸还是杂志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?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(6)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可修饰比较级的词语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比较级常见的修饰词语包括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far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even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much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still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slightly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lot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bit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great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deal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 little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twice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three times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等。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6247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book is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far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more interesting than the books I have ever read.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这本书比我以前读的书有趣多了。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3.最高级的用法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(1)one of the+形容词最高级+复数名词(最</a:t>
            </a:r>
            <a:r>
              <a:rPr lang="zh-CN" altLang="en-US" sz="2410" kern="0" dirty="0"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之一)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English is </a:t>
            </a:r>
            <a:r>
              <a:rPr lang="zh-CN" altLang="en-US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one of the most important languages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.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英语是最重要的语言之一。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(2)可修饰最高级的词语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最高级常见的修饰词语包括序数词、(by) far、nearly、almost等。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bridge being built now is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by far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longest across the Yellow River. 目前正在建的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那</a:t>
            </a:r>
            <a:endParaRPr lang="en-US" altLang="zh-CN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座桥是横跨黄河之上的桥当中最长的。 </a:t>
            </a:r>
            <a:endParaRPr lang="zh-CN" altLang="en-US" sz="241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sz="24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62484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(3)比较级形式表达最高级意义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比较级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+than+</a:t>
            </a:r>
            <a:r>
              <a:rPr lang="zh-CN" altLang="en-US" sz="7790" kern="0" spc="26108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 </a:t>
            </a:r>
            <a:endParaRPr lang="zh-CN" altLang="en-US" dirty="0"/>
          </a:p>
          <a:p>
            <a:pPr eaLnBrk="0" latinLnBrk="1" hangingPunct="0">
              <a:lnSpc>
                <a:spcPct val="150000"/>
              </a:lnSpc>
              <a:spcBef>
                <a:spcPts val="1890"/>
              </a:spcBef>
            </a:pPr>
            <a:endParaRPr lang="en-US" altLang="zh-CN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890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has certainly made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more successful films than any other director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in the West.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他拍的成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功电影当然比西方的其他任何导演都多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en-US" altLang="zh-CN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②比较级与否定词连用可表达最高级意义。</a:t>
            </a:r>
            <a:endParaRPr lang="zh-CN" altLang="en-US" sz="241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couldn't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be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worse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他的情况再坏不过了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zh-CN" altLang="en-US" sz="2410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195419" y="2123366"/>
          <a:ext cx="4149510" cy="1955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1" imgW="4340860" imgH="2042795" progId="Equation.DSMT4">
                  <p:embed/>
                </p:oleObj>
              </mc:Choice>
              <mc:Fallback>
                <p:oleObj name="Equation" r:id="rId1" imgW="4340860" imgH="2042795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419" y="2123366"/>
                        <a:ext cx="4149510" cy="19554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39949"/>
            <a:ext cx="11831400" cy="49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4.倍数表达法</a:t>
            </a:r>
            <a:endParaRPr lang="zh-CN" altLang="en-US" b="1" dirty="0"/>
          </a:p>
        </p:txBody>
      </p:sp>
      <p:graphicFrame>
        <p:nvGraphicFramePr>
          <p:cNvPr id="5" name="表格 2"/>
          <p:cNvGraphicFramePr>
            <a:graphicFrameLocks noGrp="1"/>
          </p:cNvGraphicFramePr>
          <p:nvPr/>
        </p:nvGraphicFramePr>
        <p:xfrm>
          <a:off x="468000" y="1260000"/>
          <a:ext cx="11268000" cy="3379967"/>
        </p:xfrm>
        <a:graphic>
          <a:graphicData uri="http://schemas.openxmlformats.org/drawingml/2006/table">
            <a:tbl>
              <a:tblPr/>
              <a:tblGrid>
                <a:gridCol w="5634000"/>
                <a:gridCol w="563400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句型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倍数+as+原级+as...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This table is three times as big as that one.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倍数+比较级+than...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This table is three times bigger than that one.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倍数+the+名词+of...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This table is three times the size of that one.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7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倍数+that/those of...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output of this year is three times that of 2021.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3328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倍数+what从句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 output of this year is three times what it was in 2021.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81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形容词的句法功能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1.作定语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单个形容词作定语一般置于被修饰词前,但在下列情况下,形容词要置于被修饰词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后。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(1)修饰复合不定代词时</a:t>
            </a:r>
            <a:endParaRPr lang="zh-CN" altLang="en-US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Is there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anything wrong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with your car?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你的汽车出什么故障了吗?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(2)当名词前有最高级或all、only、every等词修饰时,一般要把以-able或-ible结尾的形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容词置于名词后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77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That is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best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book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available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那是能找到的最好的一本书。 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(3)当形容词后有不定式或“介词+名词”构成的短语时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teacher asked me a question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difficult to answer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老师问了我一个难以回答的问题。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2.作状语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形容词作状语表示伴随、原因、方式等,主要说明主语的状态。 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lay in bed, wide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awake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.他躺在床上,丝毫没有睡意。</a:t>
            </a:r>
            <a:endParaRPr lang="zh-CN" altLang="en-US" sz="2800" dirty="0"/>
          </a:p>
          <a:p>
            <a:pPr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returned home, </a:t>
            </a: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safe and sound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.他回到家,安然无恙。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252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3.表语形容词</a:t>
            </a:r>
            <a:endParaRPr lang="zh-CN" altLang="en-US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(1)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表语形容词指的是通常与系动词一起构成系表结构的形容词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常见的有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afraid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br>
              <a:rPr lang="en-US" altLang="zh-CN" sz="2800" dirty="0"/>
            </a:b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alone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awake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asleep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alive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alike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ashamed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well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unable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worth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等。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To my </a:t>
            </a:r>
            <a:r>
              <a:rPr lang="en-US" altLang="zh-CN" sz="2410" kern="0" dirty="0" err="1">
                <a:latin typeface="Times New Roman" panose="02020603050405020304" pitchFamily="65" charset="-122"/>
                <a:ea typeface="微软雅黑" panose="020B0503020204020204" pitchFamily="34" charset="-122"/>
              </a:rPr>
              <a:t>surprise,the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driver is still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alive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after the traffic accident. 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令我惊讶的是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交通事故发</a:t>
            </a:r>
            <a:br>
              <a:rPr lang="zh-CN" altLang="en-US" sz="2800" dirty="0"/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生后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司机还活着。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(2)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表语形容词并非只能作表语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它们还可以作补语和后置定语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但一般不作前置定语。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 err="1">
                <a:latin typeface="Times New Roman" panose="02020603050405020304" pitchFamily="65" charset="-122"/>
                <a:ea typeface="微软雅黑" panose="020B0503020204020204" pitchFamily="34" charset="-122"/>
              </a:rPr>
              <a:t>Jiuzhaigou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Valley is home to mighty snow-capped mountains, thick forests </a:t>
            </a:r>
            <a:r>
              <a:rPr lang="en-US" altLang="zh-CN" sz="2410" u="sng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alive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 with </a:t>
            </a:r>
            <a:br>
              <a:rPr lang="en-US" altLang="zh-CN" sz="2800" dirty="0"/>
            </a:b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wildlife, impressive waterfalls and lakes so blue that they take our breath away. 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九寨沟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拥</a:t>
            </a:r>
            <a:endParaRPr lang="en-US" altLang="zh-CN" sz="2410" kern="0" dirty="0" smtClean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有雄伟的雪山、充满野生动植物的茂密森林、令人印象深刻的瀑布以及令人叫绝的</a:t>
            </a:r>
            <a:b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</a:b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蓝色湖泊</a:t>
            </a:r>
            <a:r>
              <a:rPr lang="zh-CN" altLang="en-US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831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 smtClean="0">
                <a:latin typeface="Times New Roman" panose="02020603050405020304" pitchFamily="65" charset="-122"/>
                <a:ea typeface="微软雅黑" panose="020B0503020204020204" pitchFamily="34" charset="-122"/>
              </a:rPr>
              <a:t>(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3)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以字母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a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开头的表语形容词一般不可直接用</a:t>
            </a: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very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修饰。</a:t>
            </a: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very much alone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非常孤单的</a:t>
            </a: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fast asleep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熟睡的</a:t>
            </a: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greatly ashamed</a:t>
            </a:r>
            <a:r>
              <a:rPr lang="zh-CN" altLang="en-US" sz="2410" kern="0" dirty="0">
                <a:latin typeface="Times New Roman" panose="02020603050405020304" pitchFamily="65" charset="-122"/>
                <a:ea typeface="微软雅黑" panose="020B0503020204020204" pitchFamily="34" charset="-122"/>
              </a:rPr>
              <a:t>非常羞愧的</a:t>
            </a: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410" kern="0" dirty="0"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070" y="323215"/>
            <a:ext cx="11958955" cy="6278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副词的句法功能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副词主要用来修饰动词、形容词、副词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有时也修饰整个句子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此时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副词在句中作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状语。除此之外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副词在句中也可作定语、表语和宾语补足语等。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Hold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tight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to the rope, and I will pull you up.(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作状语</a:t>
            </a:r>
            <a:r>
              <a:rPr lang="en-US" altLang="zh-CN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修饰动词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抓紧绳子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我把你拉上来。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Luckily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John was in when I called.(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作状语,修饰整个句子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幸运的是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我打电话时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John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在家。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villagers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there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are very friendly.(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作定语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那里的村民都很友好。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is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out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.(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作表语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他出去了。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saw him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off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with my friend two days ago.(</a:t>
            </a:r>
            <a:r>
              <a:rPr lang="zh-CN" altLang="en-US" sz="2410" kern="0" dirty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作宾语补足语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两天前我和我的朋友为他送行。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常作表语的副词有apart、back、down、in、out、through、up等。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pPr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Time is up. 时间到了。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125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常见的连接性副词和同根副词</a:t>
            </a: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1.常见的连接性副词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764085"/>
          <a:ext cx="11268075" cy="4058920"/>
        </p:xfrm>
        <a:graphic>
          <a:graphicData uri="http://schemas.openxmlformats.org/drawingml/2006/table">
            <a:tbl>
              <a:tblPr/>
              <a:tblGrid>
                <a:gridCol w="4483735"/>
                <a:gridCol w="6784265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连接性副词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用法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though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一般用于句末,意为“然而,可是”,表示转折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meanwhile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意为“与此同时;在此期间”,表示两个动作同时发生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therefore/thus/consequently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意为“因此,所以”,表示结果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moreover/furthermore/additionally/besides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意为“此外”,表示并列、递进或顺承关系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owever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意为“然而”,表示让步、转折关系,常用逗号与句子其他成分隔开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instead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意为“相反”,表示相反的情况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anyway/anyhow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意为“尽管,至少”,表示让步关系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9120" y="467660"/>
            <a:ext cx="11831400" cy="5561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2.具有两种形式的同根副词</a:t>
            </a:r>
            <a:endParaRPr lang="zh-CN" altLang="en-US" b="1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65150" y="1181735"/>
          <a:ext cx="10953750" cy="4638040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3676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不以-ly结尾的副词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以-ly结尾的副词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46609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clear远离,不接触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clearly清晰地,明显地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4259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close不远地,接近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closely密切地,接近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3591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deep(空间上)深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deeply(情感上)深刻地,强烈地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3591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easy小心,慢点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easily容易地,不费力地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76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free不固定地;免费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freely不受限制地;无拘无束地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4671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hard努力地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hardly几乎不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76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high(空间上)高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highly(程度上)高度地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1021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late迟,晚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lately最近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7782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near近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nearly几乎,差不多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25120">
                <a:tc>
                  <a:txBody>
                    <a:bodyPr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right恰好;径直;立即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rightly公正合理地;正确地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494665">
                <a:tc>
                  <a:txBody>
                    <a:bodyPr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wide充分地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widely广泛地,范围广地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97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名词变为形容词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268767"/>
          <a:ext cx="11268000" cy="3957831"/>
        </p:xfrm>
        <a:graphic>
          <a:graphicData uri="http://schemas.openxmlformats.org/drawingml/2006/table">
            <a:tbl>
              <a:tblPr/>
              <a:tblGrid>
                <a:gridCol w="1151598"/>
                <a:gridCol w="3456384"/>
                <a:gridCol w="6660018"/>
              </a:tblGrid>
              <a:tr h="360000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充满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的;有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特征/倾向的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dirt→dirty</a:t>
                      </a:r>
                      <a:r>
                        <a:rPr lang="zh-CN" altLang="en-US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en-US" altLang="zh-CN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fog→foggy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-ful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充满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的;有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性质/倾向的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meaning→meaningful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-less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无;没有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fear→fearless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-able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具有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knowledge→knowledgeable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-ous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性质的;充满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courage→courageous</a:t>
                      </a:r>
                      <a:r>
                        <a:rPr lang="zh-CN" altLang="en-US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mystery→mysterious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36000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-al/ial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特性的;与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有关的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addition→additional</a:t>
                      </a:r>
                      <a:r>
                        <a:rPr lang="zh-CN" altLang="en-US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en-US" altLang="zh-CN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globe→global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logic→logical</a:t>
                      </a:r>
                      <a:r>
                        <a:rPr lang="zh-CN" altLang="en-US" sz="1815" kern="0" baseline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finance→financial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89585" y="804545"/>
          <a:ext cx="11268075" cy="3560445"/>
        </p:xfrm>
        <a:graphic>
          <a:graphicData uri="http://schemas.openxmlformats.org/drawingml/2006/table">
            <a:tbl>
              <a:tblPr/>
              <a:tblGrid>
                <a:gridCol w="979805"/>
                <a:gridCol w="3929380"/>
                <a:gridCol w="6358890"/>
              </a:tblGrid>
              <a:tr h="507365"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60706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特征的;每隔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时间一次的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friend→friendly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love→lovely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day→daily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由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制成的;像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一样的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wood→wooden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gold→golden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6197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-ant/-ent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的;处于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状态的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ignorance→ignorant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significance→significant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-ic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相关的;动作或行为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strategy→strategic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energy→energetic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86931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-ish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性质的;有点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self→selfish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child→childish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977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动词变为形容词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1256030"/>
          <a:ext cx="11268075" cy="3801110"/>
        </p:xfrm>
        <a:graphic>
          <a:graphicData uri="http://schemas.openxmlformats.org/drawingml/2006/table">
            <a:tbl>
              <a:tblPr/>
              <a:tblGrid>
                <a:gridCol w="1088390"/>
                <a:gridCol w="3853815"/>
                <a:gridCol w="6325870"/>
              </a:tblGrid>
              <a:tr h="5073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后缀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意义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92329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-able/-ible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可(能,应)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的;具有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性质的;处</a:t>
                      </a:r>
                      <a:b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</a:b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状态的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accept→acceptable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imagine→imaginable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access→accessible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倾向的;有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性质的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explode→explosive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impress→impressive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-some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引起或易于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tire→tiresome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令人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encourage→encouraging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fascinate→fascinating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84836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-ed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具有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黑体" panose="02010609060101010101" pitchFamily="49" charset="-122"/>
                          <a:ea typeface="宋体" panose="02010600030101010101" pitchFamily="2" charset="-122"/>
                        </a:rPr>
                        <a:t>……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特征的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advance→advanced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qualify→qualified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39949"/>
            <a:ext cx="11831400" cy="11250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ctr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形容词变为副词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大部分副词可由相应的形容词加上后缀-ly构成,但注意有以下几种情况: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7995" y="1792605"/>
          <a:ext cx="11268075" cy="4241165"/>
        </p:xfrm>
        <a:graphic>
          <a:graphicData uri="http://schemas.openxmlformats.org/drawingml/2006/table">
            <a:tbl>
              <a:tblPr/>
              <a:tblGrid>
                <a:gridCol w="1554480"/>
                <a:gridCol w="1706245"/>
                <a:gridCol w="8007350"/>
              </a:tblGrid>
              <a:tr h="507365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变化规则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一般情况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直接加-ly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certain→certainly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definite→definitely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eventual→eventually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以-y结尾的词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变y为i,再加-ly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angry→angrily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clumsy→clumsily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necessary→necessarily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23290"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以-le结尾的词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去e,再加-y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comfortable→comfortably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gentle→gently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terrible→terribly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(特殊情况)whole→wholly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以-ue结尾的词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去e,再加-ly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true→truly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507365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以-ic结尾的词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加-ally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basic→basically</a:t>
                      </a:r>
                      <a:r>
                        <a:rPr lang="en-US" altLang="zh-CN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                   </a:t>
                      </a: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scientific→scientifically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781050"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以-ll结尾的词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只加-y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full→fully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785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Although it is a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relative) new discipline, sports psychology is now widely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accepted as offering an important advantage over opponents.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设空处使用relatively作状语,修饰形容词new,意为“相对地”。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44475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　</a:t>
            </a:r>
            <a:r>
              <a:rPr lang="en-US" altLang="zh-CN" sz="2400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relatively    </a:t>
            </a:r>
            <a:endParaRPr lang="zh-CN" altLang="en-US" sz="2400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003800" y="539750"/>
            <a:ext cx="2359025" cy="521970"/>
            <a:chOff x="2031546" y="5566398"/>
            <a:chExt cx="1693545" cy="521970"/>
          </a:xfrm>
        </p:grpSpPr>
        <p:sp>
          <p:nvSpPr>
            <p:cNvPr id="11" name="矩形 10"/>
            <p:cNvSpPr/>
            <p:nvPr/>
          </p:nvSpPr>
          <p:spPr>
            <a:xfrm>
              <a:off x="2102666" y="5566398"/>
              <a:ext cx="1622425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kern="0" dirty="0" smtClean="0">
                  <a:solidFill>
                    <a:srgbClr val="953FA3"/>
                  </a:solidFill>
                  <a:latin typeface="楷体" panose="02010609060101010101" charset="-122"/>
                  <a:ea typeface="楷体" panose="02010609060101010101" charset="-122"/>
                  <a:cs typeface="Times New Roman" panose="02020603050405020304" pitchFamily="18" charset="0"/>
                </a:rPr>
                <a:t>考点针对练</a:t>
              </a:r>
              <a:endParaRPr lang="zh-CN" altLang="en-US" sz="2800" b="1" kern="0" dirty="0" smtClean="0">
                <a:solidFill>
                  <a:srgbClr val="953FA3"/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 rot="12533546">
              <a:off x="2060935" y="5658963"/>
              <a:ext cx="75274" cy="302276"/>
              <a:chOff x="1835622" y="5914973"/>
              <a:chExt cx="72919" cy="284654"/>
            </a:xfrm>
          </p:grpSpPr>
          <p:sp>
            <p:nvSpPr>
              <p:cNvPr id="14" name="等腰三角形 13"/>
              <p:cNvSpPr/>
              <p:nvPr/>
            </p:nvSpPr>
            <p:spPr>
              <a:xfrm>
                <a:off x="1836533" y="5914973"/>
                <a:ext cx="72008" cy="71957"/>
              </a:xfrm>
              <a:prstGeom prst="triangle">
                <a:avLst>
                  <a:gd name="adj" fmla="val 50113"/>
                </a:avLst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1835622" y="5986199"/>
                <a:ext cx="72008" cy="17037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1835622" y="6156573"/>
                <a:ext cx="72008" cy="43054"/>
              </a:xfrm>
              <a:prstGeom prst="rect">
                <a:avLst/>
              </a:prstGeom>
              <a:noFill/>
              <a:ln>
                <a:solidFill>
                  <a:srgbClr val="953FA3">
                    <a:alpha val="67000"/>
                  </a:srgb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" name="任意多边形 12"/>
            <p:cNvSpPr/>
            <p:nvPr/>
          </p:nvSpPr>
          <p:spPr>
            <a:xfrm>
              <a:off x="2031546" y="5983061"/>
              <a:ext cx="1390650" cy="70757"/>
            </a:xfrm>
            <a:custGeom>
              <a:avLst/>
              <a:gdLst>
                <a:gd name="connsiteX0" fmla="*/ 0 w 1390650"/>
                <a:gd name="connsiteY0" fmla="*/ 57150 h 70757"/>
                <a:gd name="connsiteX1" fmla="*/ 360590 w 1390650"/>
                <a:gd name="connsiteY1" fmla="*/ 1360 h 70757"/>
                <a:gd name="connsiteX2" fmla="*/ 853168 w 1390650"/>
                <a:gd name="connsiteY2" fmla="*/ 70757 h 70757"/>
                <a:gd name="connsiteX3" fmla="*/ 1390650 w 1390650"/>
                <a:gd name="connsiteY3" fmla="*/ 0 h 7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0650" h="70757">
                  <a:moveTo>
                    <a:pt x="0" y="57150"/>
                  </a:moveTo>
                  <a:cubicBezTo>
                    <a:pt x="109197" y="28121"/>
                    <a:pt x="218395" y="-908"/>
                    <a:pt x="360590" y="1360"/>
                  </a:cubicBezTo>
                  <a:cubicBezTo>
                    <a:pt x="502785" y="3628"/>
                    <a:pt x="681491" y="70984"/>
                    <a:pt x="853168" y="70757"/>
                  </a:cubicBezTo>
                  <a:cubicBezTo>
                    <a:pt x="1024845" y="70530"/>
                    <a:pt x="1291318" y="14968"/>
                    <a:pt x="1390650" y="0"/>
                  </a:cubicBezTo>
                </a:path>
              </a:pathLst>
            </a:custGeom>
            <a:noFill/>
            <a:ln>
              <a:solidFill>
                <a:srgbClr val="953FA3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Due to the lack of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science) proof concerning their impacts, no one has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succeeded in winning a lawsuit against cloud-seeding companies.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设空处作定语,修饰名词proof,应使用形容词形式,意为“科学的”,故填scientific。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133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scientific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3.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remark) development of this city, which is consciously designed to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protect the past while stepping into the modern world, means there is always something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new to discover here, and I could be photographing Beijing for the next 50 years.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句意:这座城市的显著发展是有意设计的,目的是在步入现代世界的同时保护过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去,这意味着这里总是有新的东西等待被发现,我可能会在接下来的50年里一直拍摄北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京。形容词修饰名词development,故填remarkable,意为“非凡的,显著的”。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525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remarkable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3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4.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Putting electric fencing around chicken houses and other farm animal quarters is also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highly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effect) at getting grizzlies away.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设空处位于be动词后作表语,且有副词highly修饰,应使用形容词形式,意为“有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效的”,故填effective。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525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effective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term “hutong”,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original) meaning “water well” in Mongolian,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appeared first during the Yuan Dynasty.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空格处修饰meaning,需用副词形式。故填originally。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660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originally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3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6.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Younger plants are often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cheap) than fully grown ones, and you get to care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for them as they mature—which is part of the joy of owning plants.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此处表示“植物幼苗通常比完全长成的植物便宜”。根据空后的than可知,此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处应使用比较级形式,故填cheaper。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11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cheaper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18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7.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When he looked down, 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accidental) slipped and fell over the edge.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提示词accidental为形容词,设空处应用副词形式来修饰动词slipped,表示“意外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地”。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4781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accidentally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8.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Students should have a proper attitude towards college before thinking about which col-</a:t>
            </a:r>
            <a:br>
              <a:rPr lang="en-US" altLang="zh-CN" sz="2800" dirty="0"/>
            </a:br>
            <a:r>
              <a:rPr lang="en-US" altLang="zh-CN" sz="2410" kern="0" dirty="0" err="1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lege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to attend, and it's never too early to make necessary preparations for a healthy and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</a:t>
            </a:r>
            <a:br>
              <a:rPr lang="en-US" altLang="zh-CN" sz="2800" dirty="0"/>
            </a:b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meaning) college experience.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为健康且有意义的大学经历做必要的准备,越早越好。college experience 是名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词短语,应该用形容词来修饰,且设空处所填词和healthy并列,故设空处应用形容词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meaningful。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749471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meaningful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72513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3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9.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hot spring at the foot of the mountain is something you must try after the climb. It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will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undoubted) help you get refreshed!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句意:爬完山,你一定要试试山脚下的温泉。毫无疑问,它会帮助你恢复精力!设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空处作状语,所以要将形容词变为副词形式。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22038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undoubtedly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3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10.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The amazing thing about the spring is that the colder the temperature gets, 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</a:t>
            </a:r>
            <a:br>
              <a:rPr lang="en-US" altLang="zh-CN" sz="2800" dirty="0"/>
            </a:b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hot) the spring!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根据the colder the temperature gets可知此处为“the+比较级...,the+比较级...”结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构,因此设空处填hot的比较级。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8000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540688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hotter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302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11.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Yellowstone was the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large) United States national park—2.2 million acres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—until Wrangell-Saint Elias in southern Alaska, which became a national monument in 19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78,took the honors as a national park in 1980 with 12.3 million acres.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此处表示黄石公园是美国最大的国家公园。large为形容词,空前有定冠词the,此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处用形容词的最高级。故填largest。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251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largest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1202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12.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Today, sentences from Confucianism are heard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frequent) in speeches or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talks given by famous foreign people.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此处应用副词修饰are heard,故填frequently。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7990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frequently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6739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13.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A true eco-friendly trip must meet the principle of providing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(finance) aid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 and other benefits for local peoples.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句意:真正的环保旅行必须符合为当地人提供财政援助和其他益处的原则。根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据设空后的名词aid可知,设空处应该填形容词作定语,修饰aid,因此填financial。</a:t>
            </a:r>
            <a:endParaRPr lang="zh-CN" altLang="en-US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02325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financial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15640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14.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Landing on the moon's far side is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extreme) challenging. 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设空处作状语,修饰形容词challenging,所以应填extreme的副词形式。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65400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extremely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228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15.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One day the emperor wanted to get his portrait(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画像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)done so he called all great artists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come and present their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(fine) work, so that he could choose the best.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句意:一天,皇帝想让人给他画像,于是他把所有优秀的画家都召集来展示他们最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好的作品,以便他挑选最好的。结合句意可知,此处应用fine的最高级形式finest,表示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“最好的”。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38238" y="1198736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finest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7839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16. 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For one thing, quite a few business runners rely so 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______________(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primary) on good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scores to attract consumers that they manipulate(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操纵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) ratings by buying positive reviews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楷体_GB2312" pitchFamily="65" charset="-122"/>
              </a:rPr>
              <a:t>to increase traffic.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/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解析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65" charset="-122"/>
                <a:sym typeface="Times New Roman" panose="02020603050405020304" pitchFamily="18" charset="0"/>
              </a:rPr>
              <a:t>　</a:t>
            </a: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句意:一方面,相当多的商家主要依靠高评分来吸引消费者,因此他们通过购买好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评来操纵评级以增加客流。设空处修饰动词短语rely on,应使用副词形式,意为“主要</a:t>
            </a:r>
            <a:b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</a:br>
            <a:r>
              <a:rPr lang="zh-CN" altLang="en-US" sz="2400" kern="0" dirty="0" smtClean="0"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楷体" panose="02010609060101010101" charset="-122"/>
                <a:sym typeface="Times New Roman" panose="02020603050405020304" pitchFamily="18" charset="0"/>
              </a:rPr>
              <a:t>地”,故填primarily。</a:t>
            </a:r>
            <a:endParaRPr lang="zh-CN" altLang="en-US" sz="2400" kern="0" dirty="0" smtClean="0">
              <a:solidFill>
                <a:srgbClr val="000000"/>
              </a:solidFill>
              <a:uFillTx/>
              <a:latin typeface="Times New Roman" panose="02020603050405020304" pitchFamily="18" charset="0"/>
              <a:ea typeface="楷体" panose="02010609060101010101" charset="-122"/>
              <a:sym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5663" y="648000"/>
            <a:ext cx="1183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　</a:t>
            </a:r>
            <a:r>
              <a:rPr lang="en-US" altLang="zh-CN" sz="2400" b="1" smtClean="0">
                <a:solidFill>
                  <a:srgbClr val="953FA3"/>
                </a:solidFill>
                <a:latin typeface="Times New Roman" panose="02020603050405020304" pitchFamily="18" charset="0"/>
                <a:ea typeface="楷体_GB2312" pitchFamily="65" charset="-122"/>
              </a:rPr>
              <a:t>primarily    </a:t>
            </a:r>
            <a:endParaRPr lang="zh-CN" altLang="en-US" sz="2400" b="1">
              <a:solidFill>
                <a:srgbClr val="953FA3"/>
              </a:solidFill>
              <a:latin typeface="Times New Roman" panose="02020603050405020304" pitchFamily="18" charset="0"/>
              <a:ea typeface="楷体_GB2312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tags/tag1.xml><?xml version="1.0" encoding="utf-8"?>
<p:tagLst xmlns:p="http://schemas.openxmlformats.org/presentationml/2006/main">
  <p:tag name="TABLE_ENDDRAG_ORIGIN_RECT" val="862*350"/>
  <p:tag name="TABLE_ENDDRAG_RECT" val="44*70*862*350"/>
</p:tagLst>
</file>

<file path=ppt/tags/tag2.xml><?xml version="1.0" encoding="utf-8"?>
<p:tagLst xmlns:p="http://schemas.openxmlformats.org/presentationml/2006/main">
  <p:tag name="TABLE_ENDDRAG_ORIGIN_RECT" val="887*267"/>
  <p:tag name="TABLE_ENDDRAG_RECT" val="38*63*887*267"/>
</p:tagLst>
</file>

<file path=ppt/tags/tag3.xml><?xml version="1.0" encoding="utf-8"?>
<p:tagLst xmlns:p="http://schemas.openxmlformats.org/presentationml/2006/main">
  <p:tag name="TABLE_ENDDRAG_ORIGIN_RECT" val="887*285"/>
  <p:tag name="TABLE_ENDDRAG_RECT" val="36*98*887*285"/>
</p:tagLst>
</file>

<file path=ppt/tags/tag4.xml><?xml version="1.0" encoding="utf-8"?>
<p:tagLst xmlns:p="http://schemas.openxmlformats.org/presentationml/2006/main">
  <p:tag name="TABLE_ENDDRAG_ORIGIN_RECT" val="887*316"/>
  <p:tag name="TABLE_ENDDRAG_RECT" val="36*141*887*316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5.xml><?xml version="1.0" encoding="utf-8"?>
<ds:datastoreItem xmlns:ds="http://schemas.openxmlformats.org/officeDocument/2006/customXml" ds:itemID="{1F47804A-C2AF-4243-9280-135F65A7BC1B}">
  <ds:schemaRefs/>
</ds:datastoreItem>
</file>

<file path=customXml/itemProps6.xml><?xml version="1.0" encoding="utf-8"?>
<ds:datastoreItem xmlns:ds="http://schemas.openxmlformats.org/officeDocument/2006/customXml" ds:itemID="{82754220-C06D-44FF-A013-1852CE92E55E}">
  <ds:schemaRefs/>
</ds:datastoreItem>
</file>

<file path=customXml/itemProps7.xml><?xml version="1.0" encoding="utf-8"?>
<ds:datastoreItem xmlns:ds="http://schemas.openxmlformats.org/officeDocument/2006/customXml" ds:itemID="{BBB9B5BB-95C0-40CA-B221-6872206BAE02}">
  <ds:schemaRefs/>
</ds:datastoreItem>
</file>

<file path=customXml/itemProps8.xml><?xml version="1.0" encoding="utf-8"?>
<ds:datastoreItem xmlns:ds="http://schemas.openxmlformats.org/officeDocument/2006/customXml" ds:itemID="{AD56BEB9-B9FC-492D-8472-1B2A261CB524}">
  <ds:schemaRefs/>
</ds:datastoreItem>
</file>

<file path=customXml/itemProps9.xml><?xml version="1.0" encoding="utf-8"?>
<ds:datastoreItem xmlns:ds="http://schemas.openxmlformats.org/officeDocument/2006/customXml" ds:itemID="{9EE2F164-BDAA-490B-BA3D-B7CC1AF760FA}">
  <ds:schemaRefs/>
</ds:datastoreItem>
</file>

<file path=customXml/itemProps10.xml><?xml version="1.0" encoding="utf-8"?>
<ds:datastoreItem xmlns:ds="http://schemas.openxmlformats.org/officeDocument/2006/customXml" ds:itemID="{DF8BDF11-4F23-43F6-8B70-42AF3A378100}">
  <ds:schemaRefs/>
</ds:datastoreItem>
</file>

<file path=customXml/itemProps11.xml><?xml version="1.0" encoding="utf-8"?>
<ds:datastoreItem xmlns:ds="http://schemas.openxmlformats.org/officeDocument/2006/customXml" ds:itemID="{BC1BCE2F-7A23-4BF4-B0DB-24AEA74D6209}">
  <ds:schemaRefs/>
</ds:datastoreItem>
</file>

<file path=customXml/itemProps12.xml><?xml version="1.0" encoding="utf-8"?>
<ds:datastoreItem xmlns:ds="http://schemas.openxmlformats.org/officeDocument/2006/customXml" ds:itemID="{5A98B79B-BC1E-47AE-870D-E803F4911404}">
  <ds:schemaRefs/>
</ds:datastoreItem>
</file>

<file path=customXml/itemProps13.xml><?xml version="1.0" encoding="utf-8"?>
<ds:datastoreItem xmlns:ds="http://schemas.openxmlformats.org/officeDocument/2006/customXml" ds:itemID="{4FA15884-D25E-4E40-8622-1448265DB96F}">
  <ds:schemaRefs/>
</ds:datastoreItem>
</file>

<file path=customXml/itemProps14.xml><?xml version="1.0" encoding="utf-8"?>
<ds:datastoreItem xmlns:ds="http://schemas.openxmlformats.org/officeDocument/2006/customXml" ds:itemID="{933C0486-08CB-482D-BAC2-FD188A56AAA1}">
  <ds:schemaRefs/>
</ds:datastoreItem>
</file>

<file path=customXml/itemProps15.xml><?xml version="1.0" encoding="utf-8"?>
<ds:datastoreItem xmlns:ds="http://schemas.openxmlformats.org/officeDocument/2006/customXml" ds:itemID="{7F8EE97A-FB2A-4C03-B436-7F5542590DD4}">
  <ds:schemaRefs/>
</ds:datastoreItem>
</file>

<file path=customXml/itemProps16.xml><?xml version="1.0" encoding="utf-8"?>
<ds:datastoreItem xmlns:ds="http://schemas.openxmlformats.org/officeDocument/2006/customXml" ds:itemID="{1D58BD4F-9DB2-463E-B9CD-B9CC051723AC}">
  <ds:schemaRefs/>
</ds:datastoreItem>
</file>

<file path=customXml/itemProps17.xml><?xml version="1.0" encoding="utf-8"?>
<ds:datastoreItem xmlns:ds="http://schemas.openxmlformats.org/officeDocument/2006/customXml" ds:itemID="{6DC0724D-2EB3-4059-8615-25F4B7F12CDE}">
  <ds:schemaRefs/>
</ds:datastoreItem>
</file>

<file path=customXml/itemProps18.xml><?xml version="1.0" encoding="utf-8"?>
<ds:datastoreItem xmlns:ds="http://schemas.openxmlformats.org/officeDocument/2006/customXml" ds:itemID="{3BCEE342-A3D4-4535-9EC6-B3086F19D6EF}">
  <ds:schemaRefs/>
</ds:datastoreItem>
</file>

<file path=customXml/itemProps19.xml><?xml version="1.0" encoding="utf-8"?>
<ds:datastoreItem xmlns:ds="http://schemas.openxmlformats.org/officeDocument/2006/customXml" ds:itemID="{7AD50C41-A315-4D9C-96DC-69DDDF38932C}">
  <ds:schemaRefs/>
</ds:datastoreItem>
</file>

<file path=customXml/itemProps20.xml><?xml version="1.0" encoding="utf-8"?>
<ds:datastoreItem xmlns:ds="http://schemas.openxmlformats.org/officeDocument/2006/customXml" ds:itemID="{CA618924-BC76-469E-A4A8-16F7D0A397DA}">
  <ds:schemaRefs/>
</ds:datastoreItem>
</file>

<file path=customXml/itemProps21.xml><?xml version="1.0" encoding="utf-8"?>
<ds:datastoreItem xmlns:ds="http://schemas.openxmlformats.org/officeDocument/2006/customXml" ds:itemID="{AC192471-1030-436D-B014-6FB4D173BC11}">
  <ds:schemaRefs/>
</ds:datastoreItem>
</file>

<file path=customXml/itemProps22.xml><?xml version="1.0" encoding="utf-8"?>
<ds:datastoreItem xmlns:ds="http://schemas.openxmlformats.org/officeDocument/2006/customXml" ds:itemID="{2CA05BA9-75B8-4D5C-8D05-9121F08FC6EB}">
  <ds:schemaRefs/>
</ds:datastoreItem>
</file>

<file path=customXml/itemProps23.xml><?xml version="1.0" encoding="utf-8"?>
<ds:datastoreItem xmlns:ds="http://schemas.openxmlformats.org/officeDocument/2006/customXml" ds:itemID="{C7F1BFB7-A104-4D23-BA6F-A5CD7B43BD00}">
  <ds:schemaRefs/>
</ds:datastoreItem>
</file>

<file path=customXml/itemProps24.xml><?xml version="1.0" encoding="utf-8"?>
<ds:datastoreItem xmlns:ds="http://schemas.openxmlformats.org/officeDocument/2006/customXml" ds:itemID="{E5DE16A5-36E4-4BD1-ACE6-9CF03EF55AA3}">
  <ds:schemaRefs/>
</ds:datastoreItem>
</file>

<file path=customXml/itemProps25.xml><?xml version="1.0" encoding="utf-8"?>
<ds:datastoreItem xmlns:ds="http://schemas.openxmlformats.org/officeDocument/2006/customXml" ds:itemID="{7920C42A-D675-4BE1-A114-B00724F1156C}">
  <ds:schemaRefs/>
</ds:datastoreItem>
</file>

<file path=customXml/itemProps26.xml><?xml version="1.0" encoding="utf-8"?>
<ds:datastoreItem xmlns:ds="http://schemas.openxmlformats.org/officeDocument/2006/customXml" ds:itemID="{509154BC-05E6-42EC-9A85-865F68BBAC90}">
  <ds:schemaRefs/>
</ds:datastoreItem>
</file>

<file path=customXml/itemProps27.xml><?xml version="1.0" encoding="utf-8"?>
<ds:datastoreItem xmlns:ds="http://schemas.openxmlformats.org/officeDocument/2006/customXml" ds:itemID="{13920261-4963-4251-9EEF-43E7DD70BFC2}">
  <ds:schemaRefs/>
</ds:datastoreItem>
</file>

<file path=customXml/itemProps28.xml><?xml version="1.0" encoding="utf-8"?>
<ds:datastoreItem xmlns:ds="http://schemas.openxmlformats.org/officeDocument/2006/customXml" ds:itemID="{A1A784A5-6C50-4822-B087-A028BBC68B03}">
  <ds:schemaRefs/>
</ds:datastoreItem>
</file>

<file path=customXml/itemProps29.xml><?xml version="1.0" encoding="utf-8"?>
<ds:datastoreItem xmlns:ds="http://schemas.openxmlformats.org/officeDocument/2006/customXml" ds:itemID="{AC565D57-88AD-41CC-90B7-B614D92E7777}">
  <ds:schemaRefs/>
</ds:datastoreItem>
</file>

<file path=customXml/itemProps30.xml><?xml version="1.0" encoding="utf-8"?>
<ds:datastoreItem xmlns:ds="http://schemas.openxmlformats.org/officeDocument/2006/customXml" ds:itemID="{5A9C6E16-E312-484F-8B5A-5C14B5DD901B}">
  <ds:schemaRefs/>
</ds:datastoreItem>
</file>

<file path=customXml/itemProps31.xml><?xml version="1.0" encoding="utf-8"?>
<ds:datastoreItem xmlns:ds="http://schemas.openxmlformats.org/officeDocument/2006/customXml" ds:itemID="{18DE0C3B-7153-42D2-9D82-4973368DCBD8}">
  <ds:schemaRefs/>
</ds:datastoreItem>
</file>

<file path=customXml/itemProps32.xml><?xml version="1.0" encoding="utf-8"?>
<ds:datastoreItem xmlns:ds="http://schemas.openxmlformats.org/officeDocument/2006/customXml" ds:itemID="{9FBBCD91-63DE-4513-9C1B-2BFD8B4094FF}">
  <ds:schemaRefs/>
</ds:datastoreItem>
</file>

<file path=customXml/itemProps33.xml><?xml version="1.0" encoding="utf-8"?>
<ds:datastoreItem xmlns:ds="http://schemas.openxmlformats.org/officeDocument/2006/customXml" ds:itemID="{AC91C9F8-63DC-480C-8B4E-194A35F5B646}">
  <ds:schemaRefs/>
</ds:datastoreItem>
</file>

<file path=customXml/itemProps34.xml><?xml version="1.0" encoding="utf-8"?>
<ds:datastoreItem xmlns:ds="http://schemas.openxmlformats.org/officeDocument/2006/customXml" ds:itemID="{ADEEA548-1318-461E-AABF-C1C76F5A6E32}">
  <ds:schemaRefs/>
</ds:datastoreItem>
</file>

<file path=customXml/itemProps35.xml><?xml version="1.0" encoding="utf-8"?>
<ds:datastoreItem xmlns:ds="http://schemas.openxmlformats.org/officeDocument/2006/customXml" ds:itemID="{E2D9A99D-1746-42EA-9313-75A7F1420895}">
  <ds:schemaRefs/>
</ds:datastoreItem>
</file>

<file path=customXml/itemProps36.xml><?xml version="1.0" encoding="utf-8"?>
<ds:datastoreItem xmlns:ds="http://schemas.openxmlformats.org/officeDocument/2006/customXml" ds:itemID="{8C9AE22C-2054-4E53-97AF-CBDA97FA170D}">
  <ds:schemaRefs/>
</ds:datastoreItem>
</file>

<file path=customXml/itemProps37.xml><?xml version="1.0" encoding="utf-8"?>
<ds:datastoreItem xmlns:ds="http://schemas.openxmlformats.org/officeDocument/2006/customXml" ds:itemID="{5E7B4DA4-476C-426C-A7C5-88E40A17E48B}">
  <ds:schemaRefs/>
</ds:datastoreItem>
</file>

<file path=customXml/itemProps38.xml><?xml version="1.0" encoding="utf-8"?>
<ds:datastoreItem xmlns:ds="http://schemas.openxmlformats.org/officeDocument/2006/customXml" ds:itemID="{714CA3BC-D27C-4667-AC53-F16FF28FE548}">
  <ds:schemaRefs/>
</ds:datastoreItem>
</file>

<file path=customXml/itemProps39.xml><?xml version="1.0" encoding="utf-8"?>
<ds:datastoreItem xmlns:ds="http://schemas.openxmlformats.org/officeDocument/2006/customXml" ds:itemID="{95396A30-341D-4D5A-9B29-5BD23C0B6285}">
  <ds:schemaRefs/>
</ds:datastoreItem>
</file>

<file path=customXml/itemProps40.xml><?xml version="1.0" encoding="utf-8"?>
<ds:datastoreItem xmlns:ds="http://schemas.openxmlformats.org/officeDocument/2006/customXml" ds:itemID="{9AA1F500-C4DD-411F-8510-C7FE92E8F7D9}">
  <ds:schemaRefs/>
</ds:datastoreItem>
</file>

<file path=customXml/itemProps41.xml><?xml version="1.0" encoding="utf-8"?>
<ds:datastoreItem xmlns:ds="http://schemas.openxmlformats.org/officeDocument/2006/customXml" ds:itemID="{3F1997E7-D75F-41BF-8639-A4470EECFE36}">
  <ds:schemaRefs/>
</ds:datastoreItem>
</file>

<file path=customXml/itemProps42.xml><?xml version="1.0" encoding="utf-8"?>
<ds:datastoreItem xmlns:ds="http://schemas.openxmlformats.org/officeDocument/2006/customXml" ds:itemID="{2B29CD7B-008C-4FF4-90BB-15779D095317}">
  <ds:schemaRefs/>
</ds:datastoreItem>
</file>

<file path=customXml/itemProps43.xml><?xml version="1.0" encoding="utf-8"?>
<ds:datastoreItem xmlns:ds="http://schemas.openxmlformats.org/officeDocument/2006/customXml" ds:itemID="{2D5193E7-0864-4F4C-A16C-F347CE113B88}">
  <ds:schemaRefs/>
</ds:datastoreItem>
</file>

<file path=customXml/itemProps44.xml><?xml version="1.0" encoding="utf-8"?>
<ds:datastoreItem xmlns:ds="http://schemas.openxmlformats.org/officeDocument/2006/customXml" ds:itemID="{8F65761B-8515-415F-B23B-23C4D48E5FB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10017</Words>
  <Application>WPS 演示</Application>
  <PresentationFormat>自定义</PresentationFormat>
  <Paragraphs>632</Paragraphs>
  <Slides>39</Slides>
  <Notes>40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9" baseType="lpstr">
      <vt:lpstr>Arial</vt:lpstr>
      <vt:lpstr>宋体</vt:lpstr>
      <vt:lpstr>Wingdings</vt:lpstr>
      <vt:lpstr>微软雅黑</vt:lpstr>
      <vt:lpstr>黑体</vt:lpstr>
      <vt:lpstr>思源宋体 CN</vt:lpstr>
      <vt:lpstr>思源宋体 CN Heavy</vt:lpstr>
      <vt:lpstr>Times New Roman</vt:lpstr>
      <vt:lpstr>Times New Roman</vt:lpstr>
      <vt:lpstr>Arial Unicode MS</vt:lpstr>
      <vt:lpstr>Calibri</vt:lpstr>
      <vt:lpstr>楷体</vt:lpstr>
      <vt:lpstr>楷体_GB2312</vt:lpstr>
      <vt:lpstr>新宋体</vt:lpstr>
      <vt:lpstr>等线 Light</vt:lpstr>
      <vt:lpstr>等线</vt:lpstr>
      <vt:lpstr>2_自定义设计方案</vt:lpstr>
      <vt:lpstr>自定义设计方案</vt:lpstr>
      <vt:lpstr>1_自定义设计方案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59</cp:revision>
  <dcterms:created xsi:type="dcterms:W3CDTF">2025-06-07T05:54:00Z</dcterms:created>
  <dcterms:modified xsi:type="dcterms:W3CDTF">2025-06-07T06:27:22Z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4811C6CCC352440BB21EC6DE37D67E03_12</vt:lpwstr>
  </property>
  <property fmtid="{D5CDD505-2E9C-101B-9397-08002B2CF9AE}" pid="3" name="KSOProductBuildVer">
    <vt:lpwstr>2052-12.1.0.21171</vt:lpwstr>
  </property>
</Properties>
</file>