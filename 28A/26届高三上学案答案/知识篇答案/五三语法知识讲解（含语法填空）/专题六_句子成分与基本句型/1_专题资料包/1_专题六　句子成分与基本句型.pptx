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55" r:id="rId4"/>
  </p:sldMasterIdLst>
  <p:notesMasterIdLst>
    <p:notesMasterId r:id="rId8"/>
  </p:notesMasterIdLst>
  <p:sldIdLst>
    <p:sldId id="277" r:id="rId5"/>
    <p:sldId id="278" r:id="rId6"/>
    <p:sldId id="258" r:id="rId7"/>
    <p:sldId id="259" r:id="rId9"/>
    <p:sldId id="261" r:id="rId10"/>
    <p:sldId id="262" r:id="rId11"/>
    <p:sldId id="263" r:id="rId12"/>
    <p:sldId id="264" r:id="rId13"/>
    <p:sldId id="265" r:id="rId14"/>
    <p:sldId id="266" r:id="rId15"/>
    <p:sldId id="269" r:id="rId16"/>
    <p:sldId id="270" r:id="rId17"/>
    <p:sldId id="271" r:id="rId18"/>
    <p:sldId id="272" r:id="rId19"/>
    <p:sldId id="274" r:id="rId20"/>
    <p:sldId id="275" r:id="rId21"/>
    <p:sldId id="276" r:id="rId22"/>
  </p:sldIdLst>
  <p:sldSz cx="12167870" cy="684022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87" autoAdjust="0"/>
  </p:normalViewPr>
  <p:slideViewPr>
    <p:cSldViewPr showGuides="1">
      <p:cViewPr varScale="1">
        <p:scale>
          <a:sx n="115" d="100"/>
          <a:sy n="115" d="100"/>
        </p:scale>
        <p:origin x="402"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notesMaster" Target="notesMasters/notesMaster1.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2" Type="http://schemas.openxmlformats.org/officeDocument/2006/relationships/customXml" Target="../customXml/item17.xml"/><Relationship Id="rId41" Type="http://schemas.openxmlformats.org/officeDocument/2006/relationships/customXml" Target="../customXml/item16.xml"/><Relationship Id="rId40" Type="http://schemas.openxmlformats.org/officeDocument/2006/relationships/customXml" Target="../customXml/item15.xml"/><Relationship Id="rId4" Type="http://schemas.openxmlformats.org/officeDocument/2006/relationships/slideMaster" Target="slideMasters/slideMaster3.xml"/><Relationship Id="rId39" Type="http://schemas.openxmlformats.org/officeDocument/2006/relationships/customXml" Target="../customXml/item14.xml"/><Relationship Id="rId38" Type="http://schemas.openxmlformats.org/officeDocument/2006/relationships/customXml" Target="../customXml/item13.xml"/><Relationship Id="rId37" Type="http://schemas.openxmlformats.org/officeDocument/2006/relationships/customXml" Target="../customXml/item12.xml"/><Relationship Id="rId36" Type="http://schemas.openxmlformats.org/officeDocument/2006/relationships/customXml" Target="../customXml/item11.xml"/><Relationship Id="rId35" Type="http://schemas.openxmlformats.org/officeDocument/2006/relationships/customXml" Target="../customXml/item10.xml"/><Relationship Id="rId34" Type="http://schemas.openxmlformats.org/officeDocument/2006/relationships/customXml" Target="../customXml/item9.xml"/><Relationship Id="rId33" Type="http://schemas.openxmlformats.org/officeDocument/2006/relationships/customXml" Target="../customXml/item8.xml"/><Relationship Id="rId32" Type="http://schemas.openxmlformats.org/officeDocument/2006/relationships/customXml" Target="../customXml/item7.xml"/><Relationship Id="rId31" Type="http://schemas.openxmlformats.org/officeDocument/2006/relationships/customXml" Target="../customXml/item6.xml"/><Relationship Id="rId30" Type="http://schemas.openxmlformats.org/officeDocument/2006/relationships/customXml" Target="../customXml/item5.xml"/><Relationship Id="rId3" Type="http://schemas.openxmlformats.org/officeDocument/2006/relationships/slideMaster" Target="slideMasters/slideMaster2.xml"/><Relationship Id="rId29" Type="http://schemas.openxmlformats.org/officeDocument/2006/relationships/customXml" Target="../customXml/item4.xml"/><Relationship Id="rId28" Type="http://schemas.openxmlformats.org/officeDocument/2006/relationships/customXml" Target="../customXml/item3.xml"/><Relationship Id="rId27" Type="http://schemas.openxmlformats.org/officeDocument/2006/relationships/customXml" Target="../customXml/item2.xml"/><Relationship Id="rId26" Type="http://schemas.openxmlformats.org/officeDocument/2006/relationships/customXml" Target="../customXml/item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2E16A1-CD54-44AD-AAEF-7C010026770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FC518D-AE7E-41F4-BDAF-13DD522B5C6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819A9AE-DFF2-479B-AF37-FAA367F55B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F8935AA-09F9-4C1A-89F2-CB34E0111C4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2" name="流程图: 终止 1"/>
          <p:cNvSpPr/>
          <p:nvPr userDrawn="1"/>
        </p:nvSpPr>
        <p:spPr>
          <a:xfrm>
            <a:off x="10914711" y="53924"/>
            <a:ext cx="864096" cy="288032"/>
          </a:xfrm>
          <a:prstGeom prst="flowChartTerminator">
            <a:avLst/>
          </a:prstGeom>
          <a:gradFill>
            <a:gsLst>
              <a:gs pos="84000">
                <a:schemeClr val="accent4"/>
              </a:gs>
              <a:gs pos="0">
                <a:srgbClr val="DE21F5"/>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hlinkClick r:id="rId2" action="ppaction://hlinksldjump"/>
          </p:cNvPr>
          <p:cNvSpPr txBox="1"/>
          <p:nvPr userDrawn="1"/>
        </p:nvSpPr>
        <p:spPr>
          <a:xfrm>
            <a:off x="11054096" y="44051"/>
            <a:ext cx="601804" cy="307777"/>
          </a:xfrm>
          <a:prstGeom prst="rect">
            <a:avLst/>
          </a:prstGeom>
          <a:noFill/>
        </p:spPr>
        <p:txBody>
          <a:bodyPr wrap="square" rtlCol="0" anchor="ctr">
            <a:spAutoFit/>
          </a:bodyPr>
          <a:lstStyle/>
          <a:p>
            <a:pPr algn="ctr"/>
            <a:r>
              <a:rPr lang="zh-CN" altLang="en-US" sz="1400" b="1" dirty="0" smtClean="0">
                <a:solidFill>
                  <a:schemeClr val="bg1"/>
                </a:solidFill>
                <a:latin typeface="微软雅黑" panose="020B0503020204020204" pitchFamily="34" charset="-122"/>
                <a:ea typeface="微软雅黑" panose="020B0503020204020204" pitchFamily="34" charset="-122"/>
              </a:rPr>
              <a:t>目 录</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4" name="燕尾形 3"/>
          <p:cNvSpPr/>
          <p:nvPr userDrawn="1"/>
        </p:nvSpPr>
        <p:spPr>
          <a:xfrm>
            <a:off x="11634791" y="161935"/>
            <a:ext cx="67377" cy="7200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燕尾形 4"/>
          <p:cNvSpPr/>
          <p:nvPr userDrawn="1"/>
        </p:nvSpPr>
        <p:spPr>
          <a:xfrm rot="10800000">
            <a:off x="10986719" y="161935"/>
            <a:ext cx="67377" cy="7200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2.jpeg"/><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90" y="-1"/>
            <a:ext cx="12170277" cy="684780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矩形 1"/>
          <p:cNvSpPr/>
          <p:nvPr/>
        </p:nvSpPr>
        <p:spPr>
          <a:xfrm>
            <a:off x="0" y="1"/>
            <a:ext cx="12168188" cy="395878"/>
          </a:xfrm>
          <a:prstGeom prst="rect">
            <a:avLst/>
          </a:prstGeom>
          <a:solidFill>
            <a:srgbClr val="953F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a:solidFill>
                <a:srgbClr val="C00000"/>
              </a:solidFill>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Lst>
  <p:timing>
    <p:tnLst>
      <p:par>
        <p:cTn id="1" dur="indefinite" restart="never" nodeType="tmRoot"/>
      </p:par>
    </p:tnLst>
  </p:timing>
  <p:txStyles>
    <p:titleStyle>
      <a:lvl1pPr algn="l" defTabSz="911860" rtl="0" eaLnBrk="1" latinLnBrk="0" hangingPunct="1">
        <a:lnSpc>
          <a:spcPct val="90000"/>
        </a:lnSpc>
        <a:spcBef>
          <a:spcPct val="0"/>
        </a:spcBef>
        <a:buNone/>
        <a:defRPr sz="4390" kern="1200">
          <a:solidFill>
            <a:schemeClr val="tx1"/>
          </a:solidFill>
          <a:latin typeface="+mj-lt"/>
          <a:ea typeface="+mj-ea"/>
          <a:cs typeface="+mj-cs"/>
        </a:defRPr>
      </a:lvl1pPr>
    </p:titleStyle>
    <p:bodyStyle>
      <a:lvl1pPr marL="227965" indent="-227965" algn="l" defTabSz="911860" rtl="0" eaLnBrk="1" latinLnBrk="0" hangingPunct="1">
        <a:lnSpc>
          <a:spcPct val="90000"/>
        </a:lnSpc>
        <a:spcBef>
          <a:spcPts val="1000"/>
        </a:spcBef>
        <a:buFont typeface="Arial" panose="020B0604020202020204" pitchFamily="34" charset="0"/>
        <a:buChar char="•"/>
        <a:defRPr sz="2795" kern="1200">
          <a:solidFill>
            <a:schemeClr val="tx1"/>
          </a:solidFill>
          <a:latin typeface="+mn-lt"/>
          <a:ea typeface="+mn-ea"/>
          <a:cs typeface="+mn-cs"/>
        </a:defRPr>
      </a:lvl1pPr>
      <a:lvl2pPr marL="683895" indent="-227965" algn="l" defTabSz="911860" rtl="0" eaLnBrk="1" latinLnBrk="0" hangingPunct="1">
        <a:lnSpc>
          <a:spcPct val="90000"/>
        </a:lnSpc>
        <a:spcBef>
          <a:spcPts val="500"/>
        </a:spcBef>
        <a:buFont typeface="Arial" panose="020B0604020202020204" pitchFamily="34" charset="0"/>
        <a:buChar char="•"/>
        <a:defRPr sz="2395" kern="1200">
          <a:solidFill>
            <a:schemeClr val="tx1"/>
          </a:solidFill>
          <a:latin typeface="+mn-lt"/>
          <a:ea typeface="+mn-ea"/>
          <a:cs typeface="+mn-cs"/>
        </a:defRPr>
      </a:lvl2pPr>
      <a:lvl3pPr marL="1140460" indent="-227965" algn="l" defTabSz="911860" rtl="0" eaLnBrk="1" latinLnBrk="0" hangingPunct="1">
        <a:lnSpc>
          <a:spcPct val="90000"/>
        </a:lnSpc>
        <a:spcBef>
          <a:spcPts val="500"/>
        </a:spcBef>
        <a:buFont typeface="Arial" panose="020B0604020202020204" pitchFamily="34" charset="0"/>
        <a:buChar char="•"/>
        <a:defRPr sz="1995" kern="1200">
          <a:solidFill>
            <a:schemeClr val="tx1"/>
          </a:solidFill>
          <a:latin typeface="+mn-lt"/>
          <a:ea typeface="+mn-ea"/>
          <a:cs typeface="+mn-cs"/>
        </a:defRPr>
      </a:lvl3pPr>
      <a:lvl4pPr marL="159639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4pPr>
      <a:lvl5pPr marL="205232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5pPr>
      <a:lvl6pPr marL="250825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6pPr>
      <a:lvl7pPr marL="296418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7pPr>
      <a:lvl8pPr marL="3420745"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8pPr>
      <a:lvl9pPr marL="3876675"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9pPr>
    </p:bodyStyle>
    <p:otherStyle>
      <a:defPPr>
        <a:defRPr lang="zh-CN"/>
      </a:defPPr>
      <a:lvl1pPr marL="0" algn="l" defTabSz="911860" rtl="0" eaLnBrk="1" latinLnBrk="0" hangingPunct="1">
        <a:defRPr sz="1795" kern="1200">
          <a:solidFill>
            <a:schemeClr val="tx1"/>
          </a:solidFill>
          <a:latin typeface="+mn-lt"/>
          <a:ea typeface="+mn-ea"/>
          <a:cs typeface="+mn-cs"/>
        </a:defRPr>
      </a:lvl1pPr>
      <a:lvl2pPr marL="455930" algn="l" defTabSz="911860" rtl="0" eaLnBrk="1" latinLnBrk="0" hangingPunct="1">
        <a:defRPr sz="1795" kern="1200">
          <a:solidFill>
            <a:schemeClr val="tx1"/>
          </a:solidFill>
          <a:latin typeface="+mn-lt"/>
          <a:ea typeface="+mn-ea"/>
          <a:cs typeface="+mn-cs"/>
        </a:defRPr>
      </a:lvl2pPr>
      <a:lvl3pPr marL="911860" algn="l" defTabSz="911860" rtl="0" eaLnBrk="1" latinLnBrk="0" hangingPunct="1">
        <a:defRPr sz="1795" kern="1200">
          <a:solidFill>
            <a:schemeClr val="tx1"/>
          </a:solidFill>
          <a:latin typeface="+mn-lt"/>
          <a:ea typeface="+mn-ea"/>
          <a:cs typeface="+mn-cs"/>
        </a:defRPr>
      </a:lvl3pPr>
      <a:lvl4pPr marL="1368425" algn="l" defTabSz="911860" rtl="0" eaLnBrk="1" latinLnBrk="0" hangingPunct="1">
        <a:defRPr sz="1795" kern="1200">
          <a:solidFill>
            <a:schemeClr val="tx1"/>
          </a:solidFill>
          <a:latin typeface="+mn-lt"/>
          <a:ea typeface="+mn-ea"/>
          <a:cs typeface="+mn-cs"/>
        </a:defRPr>
      </a:lvl4pPr>
      <a:lvl5pPr marL="1824355" algn="l" defTabSz="911860" rtl="0" eaLnBrk="1" latinLnBrk="0" hangingPunct="1">
        <a:defRPr sz="1795" kern="1200">
          <a:solidFill>
            <a:schemeClr val="tx1"/>
          </a:solidFill>
          <a:latin typeface="+mn-lt"/>
          <a:ea typeface="+mn-ea"/>
          <a:cs typeface="+mn-cs"/>
        </a:defRPr>
      </a:lvl5pPr>
      <a:lvl6pPr marL="2280285" algn="l" defTabSz="911860" rtl="0" eaLnBrk="1" latinLnBrk="0" hangingPunct="1">
        <a:defRPr sz="1795" kern="1200">
          <a:solidFill>
            <a:schemeClr val="tx1"/>
          </a:solidFill>
          <a:latin typeface="+mn-lt"/>
          <a:ea typeface="+mn-ea"/>
          <a:cs typeface="+mn-cs"/>
        </a:defRPr>
      </a:lvl6pPr>
      <a:lvl7pPr marL="2736215" algn="l" defTabSz="911860" rtl="0" eaLnBrk="1" latinLnBrk="0" hangingPunct="1">
        <a:defRPr sz="1795" kern="1200">
          <a:solidFill>
            <a:schemeClr val="tx1"/>
          </a:solidFill>
          <a:latin typeface="+mn-lt"/>
          <a:ea typeface="+mn-ea"/>
          <a:cs typeface="+mn-cs"/>
        </a:defRPr>
      </a:lvl7pPr>
      <a:lvl8pPr marL="3192145" algn="l" defTabSz="911860" rtl="0" eaLnBrk="1" latinLnBrk="0" hangingPunct="1">
        <a:defRPr sz="1795" kern="1200">
          <a:solidFill>
            <a:schemeClr val="tx1"/>
          </a:solidFill>
          <a:latin typeface="+mn-lt"/>
          <a:ea typeface="+mn-ea"/>
          <a:cs typeface="+mn-cs"/>
        </a:defRPr>
      </a:lvl8pPr>
      <a:lvl9pPr marL="3648710" algn="l" defTabSz="911860" rtl="0" eaLnBrk="1" latinLnBrk="0" hangingPunct="1">
        <a:defRPr sz="179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68188" cy="6846634"/>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3.png"/><Relationship Id="rId3" Type="http://schemas.openxmlformats.org/officeDocument/2006/relationships/slide" Target="slide14.xml"/><Relationship Id="rId2" Type="http://schemas.openxmlformats.org/officeDocument/2006/relationships/slide" Target="slide5.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p:cNvSpPr txBox="1">
            <a:spLocks noChangeArrowheads="1"/>
          </p:cNvSpPr>
          <p:nvPr/>
        </p:nvSpPr>
        <p:spPr>
          <a:xfrm>
            <a:off x="4211886" y="1835914"/>
            <a:ext cx="7702619" cy="129632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1860">
              <a:defRPr/>
            </a:pPr>
            <a:endParaRPr lang="en-US" altLang="zh-CN" sz="4000" b="1" kern="0" noProof="0" dirty="0" smtClean="0">
              <a:solidFill>
                <a:schemeClr val="bg1"/>
              </a:solidFill>
              <a:latin typeface="微软雅黑" panose="020B0503020204020204" pitchFamily="34" charset="-122"/>
              <a:ea typeface="微软雅黑" panose="020B0503020204020204" pitchFamily="34" charset="-122"/>
              <a:cs typeface="+mj-cs"/>
              <a:sym typeface="+mn-ea"/>
            </a:endParaRPr>
          </a:p>
          <a:p>
            <a:pPr defTabSz="911860">
              <a:defRPr/>
            </a:pPr>
            <a:endParaRPr lang="zh-CN" altLang="en-US" sz="4000" b="1" kern="0" noProof="0" dirty="0">
              <a:solidFill>
                <a:schemeClr val="bg1"/>
              </a:solidFill>
              <a:latin typeface="微软雅黑" panose="020B0503020204020204" pitchFamily="34" charset="-122"/>
              <a:ea typeface="微软雅黑" panose="020B0503020204020204" pitchFamily="34" charset="-122"/>
              <a:cs typeface="+mj-cs"/>
              <a:sym typeface="+mn-ea"/>
            </a:endParaRPr>
          </a:p>
        </p:txBody>
      </p:sp>
      <p:sp>
        <p:nvSpPr>
          <p:cNvPr id="6" name="Rectangle 2"/>
          <p:cNvSpPr txBox="1"/>
          <p:nvPr/>
        </p:nvSpPr>
        <p:spPr>
          <a:xfrm>
            <a:off x="9970770" y="4643755"/>
            <a:ext cx="2041525" cy="716915"/>
          </a:xfrm>
          <a:prstGeom prst="rect">
            <a:avLst/>
          </a:prstGeom>
          <a:no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kern="0" dirty="0" smtClean="0">
                <a:solidFill>
                  <a:schemeClr val="bg1"/>
                </a:solidFill>
                <a:latin typeface="微软雅黑" panose="020B0503020204020204" pitchFamily="34" charset="-122"/>
                <a:ea typeface="微软雅黑" panose="020B0503020204020204" pitchFamily="34" charset="-122"/>
              </a:rPr>
              <a:t>高考英语</a:t>
            </a:r>
            <a:endParaRPr lang="zh-CN" altLang="en-US" sz="3200" kern="0" dirty="0">
              <a:solidFill>
                <a:schemeClr val="bg1"/>
              </a:solidFill>
              <a:latin typeface="微软雅黑" panose="020B0503020204020204" pitchFamily="34" charset="-122"/>
              <a:ea typeface="微软雅黑" panose="020B0503020204020204" pitchFamily="34" charset="-122"/>
            </a:endParaRPr>
          </a:p>
        </p:txBody>
      </p:sp>
      <p:cxnSp>
        <p:nvCxnSpPr>
          <p:cNvPr id="7" name="直线连接符 2"/>
          <p:cNvCxnSpPr/>
          <p:nvPr/>
        </p:nvCxnSpPr>
        <p:spPr bwMode="auto">
          <a:xfrm>
            <a:off x="10114124" y="5291987"/>
            <a:ext cx="1584325" cy="0"/>
          </a:xfrm>
          <a:prstGeom prst="line">
            <a:avLst/>
          </a:prstGeom>
          <a:solidFill>
            <a:schemeClr val="accent1"/>
          </a:solidFill>
          <a:ln w="3175" cap="flat" cmpd="sng" algn="ctr">
            <a:solidFill>
              <a:srgbClr val="FFFF00"/>
            </a:solidFill>
            <a:prstDash val="solid"/>
            <a:round/>
            <a:headEnd type="none" w="med" len="med"/>
            <a:tailEnd type="none" w="med" len="med"/>
          </a:ln>
        </p:spPr>
      </p:cxnSp>
      <p:sp>
        <p:nvSpPr>
          <p:cNvPr id="8" name="文本框 7"/>
          <p:cNvSpPr txBox="1"/>
          <p:nvPr/>
        </p:nvSpPr>
        <p:spPr>
          <a:xfrm>
            <a:off x="9970770" y="5360670"/>
            <a:ext cx="1943735" cy="460375"/>
          </a:xfrm>
          <a:prstGeom prst="rect">
            <a:avLst/>
          </a:prstGeom>
          <a:noFill/>
        </p:spPr>
        <p:txBody>
          <a:bodyPr wrap="square" rtlCol="0">
            <a:spAutoFit/>
          </a:bodyPr>
          <a:lstStyle/>
          <a:p>
            <a:pPr algn="ctr"/>
            <a:r>
              <a:rPr lang="zh-CN" altLang="en-US" sz="2400" spc="150" dirty="0">
                <a:solidFill>
                  <a:srgbClr val="FFFF00"/>
                </a:solidFill>
                <a:latin typeface="微软雅黑" panose="020B0503020204020204" pitchFamily="34" charset="-122"/>
                <a:ea typeface="微软雅黑" panose="020B0503020204020204" pitchFamily="34" charset="-122"/>
              </a:rPr>
              <a:t>北京市专用</a:t>
            </a:r>
            <a:endParaRPr lang="zh-CN" altLang="en-US" sz="2400" spc="150" dirty="0">
              <a:solidFill>
                <a:srgbClr val="FFFF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950459" y="2425700"/>
            <a:ext cx="6747989" cy="707886"/>
          </a:xfrm>
          <a:prstGeom prst="rect">
            <a:avLst/>
          </a:prstGeom>
          <a:noFill/>
        </p:spPr>
        <p:txBody>
          <a:bodyPr wrap="square" rtlCol="0" anchor="t">
            <a:spAutoFit/>
          </a:bodyPr>
          <a:lstStyle/>
          <a:p>
            <a:r>
              <a:rPr lang="zh-CN" altLang="en-US" sz="4000" kern="0" noProof="0" smtClean="0">
                <a:solidFill>
                  <a:schemeClr val="bg1"/>
                </a:solidFill>
                <a:latin typeface="微软雅黑" panose="020B0503020204020204" pitchFamily="34" charset="-122"/>
                <a:ea typeface="微软雅黑" panose="020B0503020204020204" pitchFamily="34" charset="-122"/>
                <a:cs typeface="+mj-cs"/>
                <a:sym typeface="+mn-ea"/>
              </a:rPr>
              <a:t>专题六  句子成分与基本句型</a:t>
            </a:r>
            <a:endParaRPr lang="zh-CN" altLang="en-US" sz="4000" kern="0" noProof="0" dirty="0">
              <a:solidFill>
                <a:schemeClr val="bg1"/>
              </a:solidFill>
              <a:latin typeface="微软雅黑" panose="020B0503020204020204" pitchFamily="34" charset="-122"/>
              <a:ea typeface="微软雅黑" panose="020B0503020204020204" pitchFamily="34" charset="-122"/>
              <a:cs typeface="+mj-cs"/>
              <a:sym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11359" y="1176224"/>
            <a:ext cx="7504039" cy="1473865"/>
          </a:xfrm>
          <a:prstGeom prst="rect">
            <a:avLst/>
          </a:prstGeom>
          <a:noFill/>
        </p:spPr>
        <p:txBody>
          <a:bodyPr wrap="square" rtlCol="0">
            <a:spAutoFit/>
          </a:bodyPr>
          <a:lstStyle/>
          <a:p>
            <a:pPr algn="l">
              <a:lnSpc>
                <a:spcPct val="150000"/>
              </a:lnSpc>
              <a:buClrTx/>
              <a:buSzTx/>
              <a:buFontTx/>
              <a:defRPr/>
            </a:pPr>
            <a:r>
              <a:rPr lang="zh-CN" altLang="en-US" sz="1995" b="1" dirty="0" smtClean="0">
                <a:solidFill>
                  <a:srgbClr val="953FA3"/>
                </a:solidFill>
                <a:latin typeface="Times New Roman" panose="02020603050405020304" pitchFamily="18" charset="0"/>
                <a:ea typeface="微软雅黑" panose="020B0503020204020204" pitchFamily="34" charset="-122"/>
                <a:cs typeface="黑体" panose="02010609060101010101" pitchFamily="49" charset="-122"/>
                <a:hlinkClick r:id="rId1" action="ppaction://hlinksldjump"/>
              </a:rPr>
              <a:t>重难透析</a:t>
            </a:r>
            <a:endParaRPr lang="en-US" altLang="zh-CN" sz="1995" b="1" dirty="0" smtClean="0">
              <a:solidFill>
                <a:srgbClr val="953FA3"/>
              </a:solidFill>
              <a:latin typeface="Times New Roman" panose="02020603050405020304" pitchFamily="18" charset="0"/>
              <a:ea typeface="微软雅黑" panose="020B0503020204020204" pitchFamily="34" charset="-122"/>
              <a:cs typeface="黑体" panose="02010609060101010101" pitchFamily="49" charset="-122"/>
              <a:hlinkClick r:id="rId1" action="ppaction://hlinksldjump"/>
            </a:endParaRPr>
          </a:p>
          <a:p>
            <a:pPr algn="l">
              <a:lnSpc>
                <a:spcPct val="150000"/>
              </a:lnSpc>
              <a:buClrTx/>
              <a:buSzTx/>
              <a:buFontTx/>
              <a:defRPr/>
            </a:pPr>
            <a:r>
              <a:rPr lang="zh-CN" altLang="en-US" sz="1995" b="1" dirty="0" smtClean="0">
                <a:solidFill>
                  <a:srgbClr val="953FA3"/>
                </a:solidFill>
                <a:latin typeface="Times New Roman" panose="02020603050405020304" pitchFamily="18" charset="0"/>
                <a:ea typeface="微软雅黑" panose="020B0503020204020204" pitchFamily="34" charset="-122"/>
                <a:cs typeface="黑体" panose="02010609060101010101" pitchFamily="49" charset="-122"/>
                <a:hlinkClick r:id="rId1" action="ppaction://hlinksldjump"/>
              </a:rPr>
              <a:t>句子成分</a:t>
            </a:r>
            <a:endParaRPr lang="en-US" altLang="zh-CN" sz="1995" b="1" dirty="0" smtClean="0">
              <a:solidFill>
                <a:srgbClr val="953FA3"/>
              </a:solidFill>
              <a:latin typeface="Times New Roman" panose="02020603050405020304" pitchFamily="18" charset="0"/>
              <a:ea typeface="微软雅黑" panose="020B0503020204020204" pitchFamily="34" charset="-122"/>
              <a:cs typeface="黑体" panose="02010609060101010101" pitchFamily="49" charset="-122"/>
              <a:hlinkClick r:id="rId2" action="ppaction://hlinksldjump"/>
            </a:endParaRPr>
          </a:p>
          <a:p>
            <a:pPr algn="l">
              <a:lnSpc>
                <a:spcPct val="150000"/>
              </a:lnSpc>
              <a:buClrTx/>
              <a:buSzTx/>
              <a:buFontTx/>
              <a:defRPr/>
            </a:pPr>
            <a:r>
              <a:rPr lang="zh-CN" altLang="en-US" sz="1995" b="1" dirty="0" smtClean="0">
                <a:solidFill>
                  <a:srgbClr val="953FA3"/>
                </a:solidFill>
                <a:latin typeface="Times New Roman" panose="02020603050405020304" pitchFamily="18" charset="0"/>
                <a:ea typeface="微软雅黑" panose="020B0503020204020204" pitchFamily="34" charset="-122"/>
                <a:cs typeface="黑体" panose="02010609060101010101" pitchFamily="49" charset="-122"/>
                <a:hlinkClick r:id="rId3" action="ppaction://hlinksldjump"/>
              </a:rPr>
              <a:t>基本句</a:t>
            </a:r>
            <a:r>
              <a:rPr lang="zh-CN" altLang="en-US" sz="1995" b="1" dirty="0">
                <a:solidFill>
                  <a:srgbClr val="953FA3"/>
                </a:solidFill>
                <a:latin typeface="Times New Roman" panose="02020603050405020304" pitchFamily="18" charset="0"/>
                <a:ea typeface="微软雅黑" panose="020B0503020204020204" pitchFamily="34" charset="-122"/>
                <a:cs typeface="黑体" panose="02010609060101010101" pitchFamily="49" charset="-122"/>
                <a:hlinkClick r:id="rId3" action="ppaction://hlinksldjump"/>
              </a:rPr>
              <a:t>型</a:t>
            </a:r>
            <a:endParaRPr lang="en-US" altLang="zh-CN" sz="1995" b="1" dirty="0" smtClean="0">
              <a:solidFill>
                <a:srgbClr val="953FA3"/>
              </a:solidFill>
              <a:latin typeface="Times New Roman" panose="02020603050405020304" pitchFamily="18" charset="0"/>
              <a:ea typeface="微软雅黑" panose="020B0503020204020204" pitchFamily="34" charset="-122"/>
              <a:cs typeface="黑体" panose="02010609060101010101" pitchFamily="49" charset="-122"/>
              <a:hlinkClick r:id="rId2" action="ppaction://hlinksldjump"/>
            </a:endParaRPr>
          </a:p>
        </p:txBody>
      </p:sp>
      <p:sp>
        <p:nvSpPr>
          <p:cNvPr id="15" name="文本框 14"/>
          <p:cNvSpPr txBox="1"/>
          <p:nvPr/>
        </p:nvSpPr>
        <p:spPr>
          <a:xfrm>
            <a:off x="301118" y="567385"/>
            <a:ext cx="2207762" cy="521888"/>
          </a:xfrm>
          <a:prstGeom prst="rect">
            <a:avLst/>
          </a:prstGeom>
          <a:noFill/>
        </p:spPr>
        <p:txBody>
          <a:bodyPr wrap="square" rtlCol="0">
            <a:spAutoFit/>
          </a:bodyPr>
          <a:lstStyle/>
          <a:p>
            <a:r>
              <a:rPr lang="zh-CN" altLang="en-US" sz="2795" b="1" dirty="0">
                <a:solidFill>
                  <a:srgbClr val="953FA3"/>
                </a:solidFill>
                <a:latin typeface="微软雅黑" panose="020B0503020204020204" pitchFamily="34" charset="-122"/>
                <a:ea typeface="微软雅黑" panose="020B0503020204020204" pitchFamily="34" charset="-122"/>
              </a:rPr>
              <a:t>目 录</a:t>
            </a:r>
            <a:endParaRPr lang="zh-CN" altLang="en-US" sz="2795" b="1" dirty="0">
              <a:solidFill>
                <a:srgbClr val="953FA3"/>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402720" y="1061875"/>
            <a:ext cx="11054641" cy="0"/>
          </a:xfrm>
          <a:prstGeom prst="line">
            <a:avLst/>
          </a:prstGeom>
          <a:ln>
            <a:solidFill>
              <a:srgbClr val="9E27B5"/>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537" y="1214859"/>
            <a:ext cx="702565" cy="6471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1110982"/>
            <a:ext cx="11831400" cy="2237279"/>
          </a:xfrm>
          <a:prstGeom prst="rect">
            <a:avLst/>
          </a:prstGeom>
          <a:noFill/>
        </p:spPr>
        <p:txBody>
          <a:bodyPr wrap="square" lIns="0" tIns="0" rIns="0" bIns="0" rtlCol="0">
            <a:spAutoFit/>
          </a:bodyPr>
          <a:lstStyle/>
          <a:p>
            <a:pPr marL="0" indent="0" algn="ctr" eaLnBrk="0" latinLnBrk="1" hangingPunct="0">
              <a:lnSpc>
                <a:spcPct val="150000"/>
              </a:lnSpc>
              <a:spcBef>
                <a:spcPts val="145"/>
              </a:spcBef>
              <a:buNone/>
            </a:pPr>
            <a:r>
              <a:rPr lang="zh-CN" altLang="en-US" sz="2500" b="1" dirty="0">
                <a:solidFill>
                  <a:srgbClr val="953FA3"/>
                </a:solidFill>
                <a:latin typeface="微软雅黑" panose="020B0503020204020204" pitchFamily="34" charset="-122"/>
                <a:ea typeface="微软雅黑" panose="020B0503020204020204" pitchFamily="34" charset="-122"/>
              </a:rPr>
              <a:t>句子成分</a:t>
            </a:r>
            <a:endParaRPr lang="zh-CN" altLang="en-US" sz="2500" b="1" dirty="0">
              <a:solidFill>
                <a:srgbClr val="953FA3"/>
              </a:solidFill>
              <a:latin typeface="微软雅黑" panose="020B0503020204020204" pitchFamily="34"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句子的组成成分叫作句子成分。句子有主要成分和次要成分。主要成分是主语</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和谓语。次要成分是宾语、补足语、表语、定语、状语和同位语,它们对主语和谓语</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动词起补足、说明或修饰的作用。</a:t>
            </a:r>
            <a:endParaRPr lang="zh-CN" altLang="en-US" dirty="0"/>
          </a:p>
        </p:txBody>
      </p:sp>
      <p:grpSp>
        <p:nvGrpSpPr>
          <p:cNvPr id="3" name="组合 2"/>
          <p:cNvGrpSpPr/>
          <p:nvPr/>
        </p:nvGrpSpPr>
        <p:grpSpPr>
          <a:xfrm>
            <a:off x="4715942" y="606139"/>
            <a:ext cx="2088232" cy="430887"/>
            <a:chOff x="263136" y="272072"/>
            <a:chExt cx="3077968" cy="635109"/>
          </a:xfrm>
        </p:grpSpPr>
        <p:grpSp>
          <p:nvGrpSpPr>
            <p:cNvPr id="4" name="组合 3"/>
            <p:cNvGrpSpPr/>
            <p:nvPr/>
          </p:nvGrpSpPr>
          <p:grpSpPr>
            <a:xfrm>
              <a:off x="263136" y="317158"/>
              <a:ext cx="575064" cy="575064"/>
              <a:chOff x="263136" y="244750"/>
              <a:chExt cx="603639" cy="603639"/>
            </a:xfrm>
          </p:grpSpPr>
          <p:sp>
            <p:nvSpPr>
              <p:cNvPr id="6" name="泪滴形 5"/>
              <p:cNvSpPr/>
              <p:nvPr/>
            </p:nvSpPr>
            <p:spPr>
              <a:xfrm rot="10800000" flipH="1" flipV="1">
                <a:off x="263136" y="244750"/>
                <a:ext cx="603639" cy="603639"/>
              </a:xfrm>
              <a:prstGeom prst="teardrop">
                <a:avLst/>
              </a:prstGeom>
              <a:solidFill>
                <a:srgbClr val="953FA3">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7" name="椭圆 6"/>
              <p:cNvSpPr/>
              <p:nvPr/>
            </p:nvSpPr>
            <p:spPr>
              <a:xfrm rot="10800000" flipH="1" flipV="1">
                <a:off x="363481" y="345095"/>
                <a:ext cx="402949" cy="402949"/>
              </a:xfrm>
              <a:prstGeom prst="ellipse">
                <a:avLst/>
              </a:prstGeom>
              <a:solidFill>
                <a:srgbClr val="FDB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8" name="椭圆 7"/>
              <p:cNvSpPr/>
              <p:nvPr/>
            </p:nvSpPr>
            <p:spPr>
              <a:xfrm rot="10800000" flipH="1" flipV="1">
                <a:off x="438741" y="420355"/>
                <a:ext cx="252430" cy="2524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grpSp>
        <p:sp>
          <p:nvSpPr>
            <p:cNvPr id="5" name="文本框 4"/>
            <p:cNvSpPr txBox="1"/>
            <p:nvPr>
              <p:custDataLst>
                <p:tags r:id="rId1"/>
              </p:custDataLst>
            </p:nvPr>
          </p:nvSpPr>
          <p:spPr>
            <a:xfrm>
              <a:off x="1097509" y="272072"/>
              <a:ext cx="2243595" cy="635109"/>
            </a:xfrm>
            <a:prstGeom prst="rect">
              <a:avLst/>
            </a:prstGeom>
            <a:noFill/>
            <a:effectLst>
              <a:glow rad="203200">
                <a:srgbClr val="FF0000">
                  <a:alpha val="69000"/>
                </a:srgbClr>
              </a:glow>
            </a:effectLst>
          </p:spPr>
          <p:txBody>
            <a:bodyPr wrap="square" lIns="0" tIns="0" rIns="0" bIns="0" rtlCol="0">
              <a:spAutoFit/>
            </a:bodyPr>
            <a:lstStyle/>
            <a:p>
              <a:pPr algn="ctr" defTabSz="457200">
                <a:defRPr/>
              </a:pPr>
              <a:r>
                <a:rPr lang="zh-CN" altLang="en-US" sz="2800" b="1" dirty="0" smtClean="0">
                  <a:latin typeface="微软雅黑" panose="020B0503020204020204" pitchFamily="34" charset="-122"/>
                  <a:ea typeface="微软雅黑" panose="020B0503020204020204" pitchFamily="34" charset="-122"/>
                  <a:sym typeface="庞门正道标题体" panose="02010600030101010101" pitchFamily="2" charset="-122"/>
                </a:rPr>
                <a:t>重点透析</a:t>
              </a:r>
              <a:endParaRPr lang="zh-CN" altLang="en-US" sz="2800" b="1" dirty="0">
                <a:latin typeface="微软雅黑" panose="020B0503020204020204" pitchFamily="34" charset="-122"/>
                <a:ea typeface="微软雅黑" panose="020B0503020204020204" pitchFamily="34" charset="-122"/>
                <a:sym typeface="庞门正道标题体" panose="02010600030101010101" pitchFamily="2"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468000" y="1260000"/>
          <a:ext cx="11268000" cy="4387235"/>
        </p:xfrm>
        <a:graphic>
          <a:graphicData uri="http://schemas.openxmlformats.org/drawingml/2006/table">
            <a:tbl>
              <a:tblPr/>
              <a:tblGrid>
                <a:gridCol w="1295614"/>
                <a:gridCol w="2808312"/>
                <a:gridCol w="7164074"/>
              </a:tblGrid>
              <a:tr h="563328">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成分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示例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8">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主语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subject)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l"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主语是一个句子所叙述的主体,一般在句首。</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l"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主语主要由名词、代词、数词、不定式(短语)、动名词(短语)、从句等充当。</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The sun</a:t>
                      </a:r>
                      <a:r>
                        <a:rPr lang="zh-CN" altLang="en-US" sz="1815" kern="0" dirty="0" smtClean="0">
                          <a:solidFill>
                            <a:srgbClr val="000000"/>
                          </a:solidFill>
                          <a:latin typeface="Times New Roman" panose="02020603050405020304" pitchFamily="65" charset="-122"/>
                          <a:ea typeface="宋体" panose="02010600030101010101" pitchFamily="2" charset="-122"/>
                        </a:rPr>
                        <a:t> rises in the east.太阳从东方升起。(名词)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He</a:t>
                      </a:r>
                      <a:r>
                        <a:rPr lang="zh-CN" altLang="en-US" sz="1815" kern="0" dirty="0" smtClean="0">
                          <a:solidFill>
                            <a:srgbClr val="000000"/>
                          </a:solidFill>
                          <a:latin typeface="Times New Roman" panose="02020603050405020304" pitchFamily="65" charset="-122"/>
                          <a:ea typeface="宋体" panose="02010600030101010101" pitchFamily="2" charset="-122"/>
                        </a:rPr>
                        <a:t> likes dancing.他喜欢跳舞。(代词)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Four</a:t>
                      </a:r>
                      <a:r>
                        <a:rPr lang="zh-CN" altLang="en-US" sz="1815" kern="0" dirty="0" smtClean="0">
                          <a:solidFill>
                            <a:srgbClr val="000000"/>
                          </a:solidFill>
                          <a:latin typeface="Times New Roman" panose="02020603050405020304" pitchFamily="65" charset="-122"/>
                          <a:ea typeface="宋体" panose="02010600030101010101" pitchFamily="2" charset="-122"/>
                        </a:rPr>
                        <a:t> times four is 16.4乘4等于16。(数词)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To know oneself</a:t>
                      </a:r>
                      <a:r>
                        <a:rPr lang="zh-CN" altLang="en-US" sz="1815" kern="0" dirty="0" smtClean="0">
                          <a:solidFill>
                            <a:srgbClr val="000000"/>
                          </a:solidFill>
                          <a:latin typeface="Times New Roman" panose="02020603050405020304" pitchFamily="65" charset="-122"/>
                          <a:ea typeface="宋体" panose="02010600030101010101" pitchFamily="2" charset="-122"/>
                        </a:rPr>
                        <a:t> is valuable.人贵有自知之明。(不定式短语)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Listening to the radio</a:t>
                      </a:r>
                      <a:r>
                        <a:rPr lang="zh-CN" altLang="en-US" sz="1815" kern="0" dirty="0" smtClean="0">
                          <a:solidFill>
                            <a:srgbClr val="000000"/>
                          </a:solidFill>
                          <a:latin typeface="Times New Roman" panose="02020603050405020304" pitchFamily="65" charset="-122"/>
                          <a:ea typeface="宋体" panose="02010600030101010101" pitchFamily="2" charset="-122"/>
                        </a:rPr>
                        <a:t> is good practice in learning English.听广播是学习英</a:t>
                      </a:r>
                      <a:br>
                        <a:rPr dirty="0"/>
                      </a:br>
                      <a:r>
                        <a:rPr lang="zh-CN" altLang="en-US" sz="1815" kern="0" dirty="0" smtClean="0">
                          <a:solidFill>
                            <a:srgbClr val="000000"/>
                          </a:solidFill>
                          <a:latin typeface="Times New Roman" panose="02020603050405020304" pitchFamily="65" charset="-122"/>
                          <a:ea typeface="宋体" panose="02010600030101010101" pitchFamily="2" charset="-122"/>
                        </a:rPr>
                        <a:t>语的好方法。(动名词短语)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What he needs</a:t>
                      </a:r>
                      <a:r>
                        <a:rPr lang="zh-CN" altLang="en-US" sz="1815" kern="0" dirty="0" smtClean="0">
                          <a:solidFill>
                            <a:srgbClr val="000000"/>
                          </a:solidFill>
                          <a:latin typeface="Times New Roman" panose="02020603050405020304" pitchFamily="65" charset="-122"/>
                          <a:ea typeface="宋体" panose="02010600030101010101" pitchFamily="2" charset="-122"/>
                        </a:rPr>
                        <a:t> is a book.他需要的是一本书。(主语从句)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It</a:t>
                      </a:r>
                      <a:r>
                        <a:rPr lang="zh-CN" altLang="en-US" sz="1815" kern="0" dirty="0" smtClean="0">
                          <a:solidFill>
                            <a:srgbClr val="000000"/>
                          </a:solidFill>
                          <a:latin typeface="Times New Roman" panose="02020603050405020304" pitchFamily="65" charset="-122"/>
                          <a:ea typeface="宋体" panose="02010600030101010101" pitchFamily="2" charset="-122"/>
                        </a:rPr>
                        <a:t> was his duty to attend to the matter.处理这个问题是他的责任。(it作形</a:t>
                      </a:r>
                      <a:br>
                        <a:rPr dirty="0"/>
                      </a:br>
                      <a:r>
                        <a:rPr lang="zh-CN" altLang="en-US" sz="1815" kern="0" dirty="0" smtClean="0">
                          <a:solidFill>
                            <a:srgbClr val="000000"/>
                          </a:solidFill>
                          <a:latin typeface="Times New Roman" panose="02020603050405020304" pitchFamily="65" charset="-122"/>
                          <a:ea typeface="宋体" panose="02010600030101010101" pitchFamily="2" charset="-122"/>
                        </a:rPr>
                        <a:t>式主语)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435615" y="1250255"/>
          <a:ext cx="11300460" cy="4758055"/>
        </p:xfrm>
        <a:graphic>
          <a:graphicData uri="http://schemas.openxmlformats.org/drawingml/2006/table">
            <a:tbl>
              <a:tblPr/>
              <a:tblGrid>
                <a:gridCol w="1616075"/>
                <a:gridCol w="3600400"/>
                <a:gridCol w="6083954"/>
              </a:tblGrid>
              <a:tr h="360000">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成分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示例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谓语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predicate)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谓语表示主语的行为动作或所处的</a:t>
                      </a:r>
                      <a:br>
                        <a:rPr dirty="0"/>
                      </a:br>
                      <a:r>
                        <a:rPr lang="zh-CN" altLang="en-US" sz="1815" kern="0" dirty="0" smtClean="0">
                          <a:solidFill>
                            <a:srgbClr val="000000"/>
                          </a:solidFill>
                          <a:latin typeface="Times New Roman" panose="02020603050405020304" pitchFamily="65" charset="-122"/>
                          <a:ea typeface="宋体" panose="02010600030101010101" pitchFamily="2" charset="-122"/>
                        </a:rPr>
                        <a:t>状态,一般在主语之后。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谓语通常可分为简单谓语和复合谓</a:t>
                      </a:r>
                      <a:br>
                        <a:rPr dirty="0"/>
                      </a:br>
                      <a:r>
                        <a:rPr lang="zh-CN" altLang="en-US" sz="1815" kern="0" dirty="0" smtClean="0">
                          <a:solidFill>
                            <a:srgbClr val="000000"/>
                          </a:solidFill>
                          <a:latin typeface="Times New Roman" panose="02020603050405020304" pitchFamily="65" charset="-122"/>
                          <a:ea typeface="宋体" panose="02010600030101010101" pitchFamily="2" charset="-122"/>
                        </a:rPr>
                        <a:t>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1.简单谓语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We </a:t>
                      </a:r>
                      <a:r>
                        <a:rPr lang="zh-CN" altLang="en-US" sz="1815" u="sng" kern="0" dirty="0" smtClean="0">
                          <a:solidFill>
                            <a:srgbClr val="000000"/>
                          </a:solidFill>
                          <a:latin typeface="Times New Roman" panose="02020603050405020304" pitchFamily="65" charset="-122"/>
                          <a:ea typeface="宋体" panose="02010600030101010101" pitchFamily="2" charset="-122"/>
                        </a:rPr>
                        <a:t>study</a:t>
                      </a:r>
                      <a:r>
                        <a:rPr lang="zh-CN" altLang="en-US" sz="1815" kern="0" dirty="0" smtClean="0">
                          <a:solidFill>
                            <a:srgbClr val="000000"/>
                          </a:solidFill>
                          <a:latin typeface="Times New Roman" panose="02020603050405020304" pitchFamily="65" charset="-122"/>
                          <a:ea typeface="宋体" panose="02010600030101010101" pitchFamily="2" charset="-122"/>
                        </a:rPr>
                        <a:t> English.我们学习英语。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Physics is the science that </a:t>
                      </a:r>
                      <a:r>
                        <a:rPr lang="zh-CN" altLang="en-US" sz="1815" u="sng" kern="0" dirty="0" smtClean="0">
                          <a:solidFill>
                            <a:srgbClr val="000000"/>
                          </a:solidFill>
                          <a:latin typeface="Times New Roman" panose="02020603050405020304" pitchFamily="65" charset="-122"/>
                          <a:ea typeface="宋体" panose="02010600030101010101" pitchFamily="2" charset="-122"/>
                        </a:rPr>
                        <a:t>deals with</a:t>
                      </a:r>
                      <a:r>
                        <a:rPr lang="zh-CN" altLang="en-US" sz="1815" kern="0" dirty="0" smtClean="0">
                          <a:solidFill>
                            <a:srgbClr val="000000"/>
                          </a:solidFill>
                          <a:latin typeface="Times New Roman" panose="02020603050405020304" pitchFamily="65" charset="-122"/>
                          <a:ea typeface="宋体" panose="02010600030101010101" pitchFamily="2" charset="-122"/>
                        </a:rPr>
                        <a:t> matter.</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物理学是论及物质的科学。</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Fruit </a:t>
                      </a:r>
                      <a:r>
                        <a:rPr lang="zh-CN" altLang="en-US" sz="1815" u="sng" kern="0" dirty="0" smtClean="0">
                          <a:solidFill>
                            <a:srgbClr val="000000"/>
                          </a:solidFill>
                          <a:latin typeface="Times New Roman" panose="02020603050405020304" pitchFamily="65" charset="-122"/>
                          <a:ea typeface="宋体" panose="02010600030101010101" pitchFamily="2" charset="-122"/>
                        </a:rPr>
                        <a:t>is rich in</a:t>
                      </a:r>
                      <a:r>
                        <a:rPr lang="zh-CN" altLang="en-US" sz="1815" kern="0" dirty="0" smtClean="0">
                          <a:solidFill>
                            <a:srgbClr val="000000"/>
                          </a:solidFill>
                          <a:latin typeface="Times New Roman" panose="02020603050405020304" pitchFamily="65" charset="-122"/>
                          <a:ea typeface="宋体" panose="02010600030101010101" pitchFamily="2" charset="-122"/>
                        </a:rPr>
                        <a:t> vitamins.水果富含维生素。</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2.复合谓语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You </a:t>
                      </a:r>
                      <a:r>
                        <a:rPr lang="zh-CN" altLang="en-US" sz="1815" u="sng" kern="0" dirty="0" smtClean="0">
                          <a:solidFill>
                            <a:srgbClr val="000000"/>
                          </a:solidFill>
                          <a:latin typeface="Times New Roman" panose="02020603050405020304" pitchFamily="65" charset="-122"/>
                          <a:ea typeface="宋体" panose="02010600030101010101" pitchFamily="2" charset="-122"/>
                        </a:rPr>
                        <a:t>may leave</a:t>
                      </a:r>
                      <a:r>
                        <a:rPr lang="zh-CN" altLang="en-US" sz="1815" kern="0" dirty="0" smtClean="0">
                          <a:solidFill>
                            <a:srgbClr val="000000"/>
                          </a:solidFill>
                          <a:latin typeface="Times New Roman" panose="02020603050405020304" pitchFamily="65" charset="-122"/>
                          <a:ea typeface="宋体" panose="02010600030101010101" pitchFamily="2" charset="-122"/>
                        </a:rPr>
                        <a:t> the work to me.你可以把这工作交给我做。</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 </a:t>
                      </a:r>
                      <a:r>
                        <a:rPr lang="zh-CN" altLang="en-US" sz="1815" u="sng" kern="0" dirty="0" smtClean="0">
                          <a:solidFill>
                            <a:srgbClr val="000000"/>
                          </a:solidFill>
                          <a:latin typeface="Times New Roman" panose="02020603050405020304" pitchFamily="65" charset="-122"/>
                          <a:ea typeface="宋体" panose="02010600030101010101" pitchFamily="2" charset="-122"/>
                        </a:rPr>
                        <a:t>seem to remember</a:t>
                      </a:r>
                      <a:r>
                        <a:rPr lang="zh-CN" altLang="en-US" sz="1815" kern="0" dirty="0" smtClean="0">
                          <a:solidFill>
                            <a:srgbClr val="000000"/>
                          </a:solidFill>
                          <a:latin typeface="Times New Roman" panose="02020603050405020304" pitchFamily="65" charset="-122"/>
                          <a:ea typeface="宋体" panose="02010600030101010101" pitchFamily="2" charset="-122"/>
                        </a:rPr>
                        <a:t> meeting him somewhere.我似乎记得在哪里见过他。</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We </a:t>
                      </a:r>
                      <a:r>
                        <a:rPr lang="zh-CN" altLang="en-US" sz="1815" u="sng" kern="0" dirty="0" smtClean="0">
                          <a:solidFill>
                            <a:srgbClr val="000000"/>
                          </a:solidFill>
                          <a:latin typeface="Times New Roman" panose="02020603050405020304" pitchFamily="65" charset="-122"/>
                          <a:ea typeface="宋体" panose="02010600030101010101" pitchFamily="2" charset="-122"/>
                        </a:rPr>
                        <a:t>are certain to succeed</a:t>
                      </a:r>
                      <a:r>
                        <a:rPr lang="zh-CN" altLang="en-US" sz="1815" kern="0" dirty="0" smtClean="0">
                          <a:solidFill>
                            <a:srgbClr val="000000"/>
                          </a:solidFill>
                          <a:latin typeface="Times New Roman" panose="02020603050405020304" pitchFamily="65" charset="-122"/>
                          <a:ea typeface="宋体" panose="02010600030101010101" pitchFamily="2" charset="-122"/>
                        </a:rPr>
                        <a:t>.我们一定会成功。</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468000" y="1116013"/>
          <a:ext cx="11268075" cy="4342130"/>
        </p:xfrm>
        <a:graphic>
          <a:graphicData uri="http://schemas.openxmlformats.org/drawingml/2006/table">
            <a:tbl>
              <a:tblPr/>
              <a:tblGrid>
                <a:gridCol w="1367622"/>
                <a:gridCol w="3422650"/>
                <a:gridCol w="6477728"/>
              </a:tblGrid>
              <a:tr h="360000">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成分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示例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宾语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object)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在动词后,表示动作的对象、行为的承受者或动作的结果。</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 love </a:t>
                      </a:r>
                      <a:r>
                        <a:rPr lang="zh-CN" altLang="en-US" sz="1815" u="sng" kern="0" dirty="0" smtClean="0">
                          <a:solidFill>
                            <a:srgbClr val="000000"/>
                          </a:solidFill>
                          <a:latin typeface="Times New Roman" panose="02020603050405020304" pitchFamily="65" charset="-122"/>
                          <a:ea typeface="宋体" panose="02010600030101010101" pitchFamily="2" charset="-122"/>
                        </a:rPr>
                        <a:t>China</a:t>
                      </a:r>
                      <a:r>
                        <a:rPr lang="zh-CN" altLang="en-US" sz="1815" kern="0" dirty="0" smtClean="0">
                          <a:solidFill>
                            <a:srgbClr val="000000"/>
                          </a:solidFill>
                          <a:latin typeface="Times New Roman" panose="02020603050405020304" pitchFamily="65" charset="-122"/>
                          <a:ea typeface="宋体" panose="02010600030101010101" pitchFamily="2" charset="-122"/>
                        </a:rPr>
                        <a:t>.我爱中国。(名词)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hates </a:t>
                      </a:r>
                      <a:r>
                        <a:rPr lang="zh-CN" altLang="en-US" sz="1815" u="sng" kern="0" dirty="0" smtClean="0">
                          <a:solidFill>
                            <a:srgbClr val="000000"/>
                          </a:solidFill>
                          <a:latin typeface="Times New Roman" panose="02020603050405020304" pitchFamily="65" charset="-122"/>
                          <a:ea typeface="宋体" panose="02010600030101010101" pitchFamily="2" charset="-122"/>
                        </a:rPr>
                        <a:t>you</a:t>
                      </a:r>
                      <a:r>
                        <a:rPr lang="zh-CN" altLang="en-US" sz="1815" kern="0" dirty="0" smtClean="0">
                          <a:solidFill>
                            <a:srgbClr val="000000"/>
                          </a:solidFill>
                          <a:latin typeface="Times New Roman" panose="02020603050405020304" pitchFamily="65" charset="-122"/>
                          <a:ea typeface="宋体" panose="02010600030101010101" pitchFamily="2" charset="-122"/>
                        </a:rPr>
                        <a:t>.他讨厌你。(代词)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17 minus 5 leaves </a:t>
                      </a:r>
                      <a:r>
                        <a:rPr lang="zh-CN" altLang="en-US" sz="1815" u="sng" kern="0" dirty="0" smtClean="0">
                          <a:solidFill>
                            <a:srgbClr val="000000"/>
                          </a:solidFill>
                          <a:latin typeface="Times New Roman" panose="02020603050405020304" pitchFamily="65" charset="-122"/>
                          <a:ea typeface="宋体" panose="02010600030101010101" pitchFamily="2" charset="-122"/>
                        </a:rPr>
                        <a:t>12</a:t>
                      </a:r>
                      <a:r>
                        <a:rPr lang="zh-CN" altLang="en-US" sz="1815" kern="0" dirty="0" smtClean="0">
                          <a:solidFill>
                            <a:srgbClr val="000000"/>
                          </a:solidFill>
                          <a:latin typeface="Times New Roman" panose="02020603050405020304" pitchFamily="65" charset="-122"/>
                          <a:ea typeface="宋体" panose="02010600030101010101" pitchFamily="2" charset="-122"/>
                        </a:rPr>
                        <a:t>.17减5等于12。(数词)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We should help </a:t>
                      </a:r>
                      <a:r>
                        <a:rPr lang="zh-CN" altLang="en-US" sz="1815" u="sng" kern="0" dirty="0" smtClean="0">
                          <a:solidFill>
                            <a:srgbClr val="000000"/>
                          </a:solidFill>
                          <a:latin typeface="Times New Roman" panose="02020603050405020304" pitchFamily="65" charset="-122"/>
                          <a:ea typeface="宋体" panose="02010600030101010101" pitchFamily="2" charset="-122"/>
                        </a:rPr>
                        <a:t>the old</a:t>
                      </a:r>
                      <a:r>
                        <a:rPr lang="zh-CN" altLang="en-US" sz="1815" kern="0" dirty="0" smtClean="0">
                          <a:solidFill>
                            <a:srgbClr val="000000"/>
                          </a:solidFill>
                          <a:latin typeface="Times New Roman" panose="02020603050405020304" pitchFamily="65" charset="-122"/>
                          <a:ea typeface="宋体" panose="02010600030101010101" pitchFamily="2" charset="-122"/>
                        </a:rPr>
                        <a:t>.我们应该帮助老年人。(名词化的形容词)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 enjoy </a:t>
                      </a:r>
                      <a:r>
                        <a:rPr lang="zh-CN" altLang="en-US" sz="1815" u="sng" kern="0" dirty="0" smtClean="0">
                          <a:solidFill>
                            <a:srgbClr val="000000"/>
                          </a:solidFill>
                          <a:latin typeface="Times New Roman" panose="02020603050405020304" pitchFamily="65" charset="-122"/>
                          <a:ea typeface="宋体" panose="02010600030101010101" pitchFamily="2" charset="-122"/>
                        </a:rPr>
                        <a:t>working</a:t>
                      </a:r>
                      <a:r>
                        <a:rPr lang="zh-CN" altLang="en-US" sz="1815" kern="0" dirty="0" smtClean="0">
                          <a:solidFill>
                            <a:srgbClr val="000000"/>
                          </a:solidFill>
                          <a:latin typeface="Times New Roman" panose="02020603050405020304" pitchFamily="65" charset="-122"/>
                          <a:ea typeface="宋体" panose="02010600030101010101" pitchFamily="2" charset="-122"/>
                        </a:rPr>
                        <a:t> with you.我喜欢和你一起工作。(动名词)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 hope </a:t>
                      </a:r>
                      <a:r>
                        <a:rPr lang="zh-CN" altLang="en-US" sz="1815" u="sng" kern="0" dirty="0" smtClean="0">
                          <a:solidFill>
                            <a:srgbClr val="000000"/>
                          </a:solidFill>
                          <a:latin typeface="Times New Roman" panose="02020603050405020304" pitchFamily="65" charset="-122"/>
                          <a:ea typeface="宋体" panose="02010600030101010101" pitchFamily="2" charset="-122"/>
                        </a:rPr>
                        <a:t>to see you</a:t>
                      </a:r>
                      <a:r>
                        <a:rPr lang="zh-CN" altLang="en-US" sz="1815" kern="0" dirty="0" smtClean="0">
                          <a:solidFill>
                            <a:srgbClr val="000000"/>
                          </a:solidFill>
                          <a:latin typeface="Times New Roman" panose="02020603050405020304" pitchFamily="65" charset="-122"/>
                          <a:ea typeface="宋体" panose="02010600030101010101" pitchFamily="2" charset="-122"/>
                        </a:rPr>
                        <a:t> again.我希望再次见到你。(不定式短语)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 trust </a:t>
                      </a:r>
                      <a:r>
                        <a:rPr lang="zh-CN" altLang="en-US" sz="1815" u="sng" kern="0" dirty="0" smtClean="0">
                          <a:solidFill>
                            <a:srgbClr val="000000"/>
                          </a:solidFill>
                          <a:latin typeface="Times New Roman" panose="02020603050405020304" pitchFamily="65" charset="-122"/>
                          <a:ea typeface="宋体" panose="02010600030101010101" pitchFamily="2" charset="-122"/>
                        </a:rPr>
                        <a:t>you will succeed</a:t>
                      </a:r>
                      <a:r>
                        <a:rPr lang="zh-CN" altLang="en-US" sz="1815" kern="0" dirty="0" smtClean="0">
                          <a:solidFill>
                            <a:srgbClr val="000000"/>
                          </a:solidFill>
                          <a:latin typeface="Times New Roman" panose="02020603050405020304" pitchFamily="65" charset="-122"/>
                          <a:ea typeface="宋体" panose="02010600030101010101" pitchFamily="2" charset="-122"/>
                        </a:rPr>
                        <a:t>.我确信你会成功。(从句)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She found </a:t>
                      </a:r>
                      <a:r>
                        <a:rPr lang="zh-CN" altLang="en-US" sz="1815" u="sng" kern="0" dirty="0" smtClean="0">
                          <a:solidFill>
                            <a:srgbClr val="000000"/>
                          </a:solidFill>
                          <a:latin typeface="Times New Roman" panose="02020603050405020304" pitchFamily="65" charset="-122"/>
                          <a:ea typeface="宋体" panose="02010600030101010101" pitchFamily="2" charset="-122"/>
                        </a:rPr>
                        <a:t>it</a:t>
                      </a:r>
                      <a:r>
                        <a:rPr lang="zh-CN" altLang="en-US" sz="1815" kern="0" dirty="0" smtClean="0">
                          <a:solidFill>
                            <a:srgbClr val="000000"/>
                          </a:solidFill>
                          <a:latin typeface="Times New Roman" panose="02020603050405020304" pitchFamily="65" charset="-122"/>
                          <a:ea typeface="宋体" panose="02010600030101010101" pitchFamily="2" charset="-122"/>
                        </a:rPr>
                        <a:t> hard to hear what he said.她发现很难听到他说的话。(it作形式宾语)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468000" y="1260000"/>
          <a:ext cx="11268075" cy="3399790"/>
        </p:xfrm>
        <a:graphic>
          <a:graphicData uri="http://schemas.openxmlformats.org/drawingml/2006/table">
            <a:tbl>
              <a:tblPr/>
              <a:tblGrid>
                <a:gridCol w="1240155"/>
                <a:gridCol w="4330700"/>
                <a:gridCol w="5697145"/>
              </a:tblGrid>
              <a:tr h="595630">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成分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示例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821311">
                <a:tc rowSpan="2">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宾语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object)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动词后接直接宾语和间接宾语。直</a:t>
                      </a:r>
                      <a:br/>
                      <a:r>
                        <a:rPr lang="zh-CN" altLang="en-US" sz="1815" kern="0" dirty="0" smtClean="0">
                          <a:solidFill>
                            <a:srgbClr val="000000"/>
                          </a:solidFill>
                          <a:latin typeface="Times New Roman" panose="02020603050405020304" pitchFamily="65" charset="-122"/>
                          <a:ea typeface="宋体" panose="02010600030101010101" pitchFamily="2" charset="-122"/>
                        </a:rPr>
                        <a:t>接宾语主要表示动作的直接对象或</a:t>
                      </a:r>
                      <a:br/>
                      <a:r>
                        <a:rPr lang="zh-CN" altLang="en-US" sz="1815" kern="0" dirty="0" smtClean="0">
                          <a:solidFill>
                            <a:srgbClr val="000000"/>
                          </a:solidFill>
                          <a:latin typeface="Times New Roman" panose="02020603050405020304" pitchFamily="65" charset="-122"/>
                          <a:ea typeface="宋体" panose="02010600030101010101" pitchFamily="2" charset="-122"/>
                        </a:rPr>
                        <a:t>结果;间接宾语一般指人,表示动作对</a:t>
                      </a:r>
                      <a:br/>
                      <a:r>
                        <a:rPr lang="zh-CN" altLang="en-US" sz="1815" kern="0" dirty="0" smtClean="0">
                          <a:solidFill>
                            <a:srgbClr val="000000"/>
                          </a:solidFill>
                          <a:latin typeface="Times New Roman" panose="02020603050405020304" pitchFamily="65" charset="-122"/>
                          <a:ea typeface="宋体" panose="02010600030101010101" pitchFamily="2" charset="-122"/>
                        </a:rPr>
                        <a:t>谁做的或为谁做的。</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gave </a:t>
                      </a:r>
                      <a:r>
                        <a:rPr lang="zh-CN" altLang="en-US" sz="1815" u="sng" kern="0" dirty="0" smtClean="0">
                          <a:solidFill>
                            <a:srgbClr val="000000"/>
                          </a:solidFill>
                          <a:latin typeface="Times New Roman" panose="02020603050405020304" pitchFamily="65" charset="-122"/>
                          <a:ea typeface="宋体" panose="02010600030101010101" pitchFamily="2" charset="-122"/>
                        </a:rPr>
                        <a:t>me</a:t>
                      </a:r>
                      <a:r>
                        <a:rPr lang="zh-CN" altLang="en-US" sz="1815" kern="0" dirty="0" smtClean="0">
                          <a:solidFill>
                            <a:srgbClr val="000000"/>
                          </a:solidFill>
                          <a:latin typeface="Times New Roman" panose="02020603050405020304" pitchFamily="65" charset="-122"/>
                          <a:ea typeface="宋体" panose="02010600030101010101" pitchFamily="2" charset="-122"/>
                        </a:rPr>
                        <a:t> </a:t>
                      </a:r>
                      <a:r>
                        <a:rPr lang="zh-CN" altLang="en-US" sz="1815" u="sng" kern="0" dirty="0" smtClean="0">
                          <a:solidFill>
                            <a:srgbClr val="000000"/>
                          </a:solidFill>
                          <a:latin typeface="Times New Roman" panose="02020603050405020304" pitchFamily="65" charset="-122"/>
                          <a:ea typeface="宋体" panose="02010600030101010101" pitchFamily="2" charset="-122"/>
                        </a:rPr>
                        <a:t>a book</a:t>
                      </a:r>
                      <a:r>
                        <a:rPr lang="zh-CN" altLang="en-US" sz="1815" kern="0" dirty="0" smtClean="0">
                          <a:solidFill>
                            <a:srgbClr val="000000"/>
                          </a:solidFill>
                          <a:latin typeface="Times New Roman" panose="02020603050405020304" pitchFamily="65" charset="-122"/>
                          <a:ea typeface="宋体" panose="02010600030101010101" pitchFamily="2" charset="-122"/>
                        </a:rPr>
                        <a:t> yesterday.他昨天</a:t>
                      </a:r>
                      <a:br/>
                      <a:r>
                        <a:rPr lang="zh-CN" altLang="en-US" sz="1815" kern="0" dirty="0" smtClean="0">
                          <a:solidFill>
                            <a:srgbClr val="000000"/>
                          </a:solidFill>
                          <a:latin typeface="Times New Roman" panose="02020603050405020304" pitchFamily="65" charset="-122"/>
                          <a:ea typeface="宋体" panose="02010600030101010101" pitchFamily="2" charset="-122"/>
                        </a:rPr>
                        <a:t>给我一本书。(me是gave的间接宾语,a book是gave的直接宾语)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982656">
                <a:tc vMerge="1">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在介词后,用名词、代词、动名词等</a:t>
                      </a:r>
                      <a:br/>
                      <a:r>
                        <a:rPr lang="zh-CN" altLang="en-US" sz="1815" kern="0" dirty="0" smtClean="0">
                          <a:solidFill>
                            <a:srgbClr val="000000"/>
                          </a:solidFill>
                          <a:latin typeface="Times New Roman" panose="02020603050405020304" pitchFamily="65" charset="-122"/>
                          <a:ea typeface="宋体" panose="02010600030101010101" pitchFamily="2" charset="-122"/>
                        </a:rPr>
                        <a:t>表示。</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Under </a:t>
                      </a:r>
                      <a:r>
                        <a:rPr lang="zh-CN" altLang="en-US" sz="1815" u="sng" kern="0" dirty="0" smtClean="0">
                          <a:solidFill>
                            <a:srgbClr val="000000"/>
                          </a:solidFill>
                          <a:latin typeface="Times New Roman" panose="02020603050405020304" pitchFamily="65" charset="-122"/>
                          <a:ea typeface="宋体" panose="02010600030101010101" pitchFamily="2" charset="-122"/>
                        </a:rPr>
                        <a:t>the snow</a:t>
                      </a:r>
                      <a:r>
                        <a:rPr lang="zh-CN" altLang="en-US" sz="1815" kern="0" dirty="0" smtClean="0">
                          <a:solidFill>
                            <a:srgbClr val="000000"/>
                          </a:solidFill>
                          <a:latin typeface="Times New Roman" panose="02020603050405020304" pitchFamily="65" charset="-122"/>
                          <a:ea typeface="宋体" panose="02010600030101010101" pitchFamily="2" charset="-122"/>
                        </a:rPr>
                        <a:t>, there are many rocks.</a:t>
                      </a:r>
                      <a:br/>
                      <a:r>
                        <a:rPr lang="zh-CN" altLang="en-US" sz="1815" kern="0" dirty="0" smtClean="0">
                          <a:solidFill>
                            <a:srgbClr val="000000"/>
                          </a:solidFill>
                          <a:latin typeface="Times New Roman" panose="02020603050405020304" pitchFamily="65" charset="-122"/>
                          <a:ea typeface="宋体" panose="02010600030101010101" pitchFamily="2" charset="-122"/>
                        </a:rPr>
                        <a:t>在雪下有许多岩石。</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468000" y="1260000"/>
          <a:ext cx="11268075" cy="5173980"/>
        </p:xfrm>
        <a:graphic>
          <a:graphicData uri="http://schemas.openxmlformats.org/drawingml/2006/table">
            <a:tbl>
              <a:tblPr/>
              <a:tblGrid>
                <a:gridCol w="1439630"/>
                <a:gridCol w="2667635"/>
                <a:gridCol w="7160735"/>
              </a:tblGrid>
              <a:tr h="360000">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成分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示例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宾语补足语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object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complement)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用于补充说明宾语的动作或所处的状态,使其意义完整起来。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We elected him </a:t>
                      </a:r>
                      <a:r>
                        <a:rPr lang="zh-CN" altLang="en-US" sz="1815" u="sng" kern="0" dirty="0" smtClean="0">
                          <a:solidFill>
                            <a:srgbClr val="000000"/>
                          </a:solidFill>
                          <a:latin typeface="Times New Roman" panose="02020603050405020304" pitchFamily="65" charset="-122"/>
                          <a:ea typeface="宋体" panose="02010600030101010101" pitchFamily="2" charset="-122"/>
                        </a:rPr>
                        <a:t>monitor</a:t>
                      </a:r>
                      <a:r>
                        <a:rPr lang="zh-CN" altLang="en-US" sz="1815" kern="0" dirty="0" smtClean="0">
                          <a:solidFill>
                            <a:srgbClr val="000000"/>
                          </a:solidFill>
                          <a:latin typeface="Times New Roman" panose="02020603050405020304" pitchFamily="65" charset="-122"/>
                          <a:ea typeface="宋体" panose="02010600030101010101" pitchFamily="2" charset="-122"/>
                        </a:rPr>
                        <a:t>.我们选他当班长。(名词)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We will make them </a:t>
                      </a:r>
                      <a:r>
                        <a:rPr lang="zh-CN" altLang="en-US" sz="1815" u="sng" kern="0" dirty="0" smtClean="0">
                          <a:solidFill>
                            <a:srgbClr val="000000"/>
                          </a:solidFill>
                          <a:latin typeface="Times New Roman" panose="02020603050405020304" pitchFamily="65" charset="-122"/>
                          <a:ea typeface="宋体" panose="02010600030101010101" pitchFamily="2" charset="-122"/>
                        </a:rPr>
                        <a:t>happy</a:t>
                      </a:r>
                      <a:r>
                        <a:rPr lang="zh-CN" altLang="en-US" sz="1815" kern="0" dirty="0" smtClean="0">
                          <a:solidFill>
                            <a:srgbClr val="000000"/>
                          </a:solidFill>
                          <a:latin typeface="Times New Roman" panose="02020603050405020304" pitchFamily="65" charset="-122"/>
                          <a:ea typeface="宋体" panose="02010600030101010101" pitchFamily="2" charset="-122"/>
                        </a:rPr>
                        <a:t>.我们会让他们开心起来。(形容词)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We found nobody </a:t>
                      </a:r>
                      <a:r>
                        <a:rPr lang="zh-CN" altLang="en-US" sz="1815" u="sng" kern="0" dirty="0" smtClean="0">
                          <a:solidFill>
                            <a:srgbClr val="000000"/>
                          </a:solidFill>
                          <a:latin typeface="Times New Roman" panose="02020603050405020304" pitchFamily="65" charset="-122"/>
                          <a:ea typeface="宋体" panose="02010600030101010101" pitchFamily="2" charset="-122"/>
                        </a:rPr>
                        <a:t>in</a:t>
                      </a:r>
                      <a:r>
                        <a:rPr lang="zh-CN" altLang="en-US" sz="1815" kern="0" dirty="0" smtClean="0">
                          <a:solidFill>
                            <a:srgbClr val="000000"/>
                          </a:solidFill>
                          <a:latin typeface="Times New Roman" panose="02020603050405020304" pitchFamily="65" charset="-122"/>
                          <a:ea typeface="宋体" panose="02010600030101010101" pitchFamily="2" charset="-122"/>
                        </a:rPr>
                        <a:t>.我们发现没人在里面。(副词)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Please make yourself </a:t>
                      </a:r>
                      <a:r>
                        <a:rPr lang="zh-CN" altLang="en-US" sz="1815" u="sng" kern="0" dirty="0" smtClean="0">
                          <a:solidFill>
                            <a:srgbClr val="000000"/>
                          </a:solidFill>
                          <a:latin typeface="Times New Roman" panose="02020603050405020304" pitchFamily="65" charset="-122"/>
                          <a:ea typeface="宋体" panose="02010600030101010101" pitchFamily="2" charset="-122"/>
                        </a:rPr>
                        <a:t>at home</a:t>
                      </a:r>
                      <a:r>
                        <a:rPr lang="zh-CN" altLang="en-US" sz="1815" kern="0" dirty="0" smtClean="0">
                          <a:solidFill>
                            <a:srgbClr val="000000"/>
                          </a:solidFill>
                          <a:latin typeface="Times New Roman" panose="02020603050405020304" pitchFamily="65" charset="-122"/>
                          <a:ea typeface="宋体" panose="02010600030101010101" pitchFamily="2" charset="-122"/>
                        </a:rPr>
                        <a:t>.请别拘束。(介词短语)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Don't let him </a:t>
                      </a:r>
                      <a:r>
                        <a:rPr lang="zh-CN" altLang="en-US" sz="1815" u="sng" kern="0" dirty="0" smtClean="0">
                          <a:solidFill>
                            <a:srgbClr val="000000"/>
                          </a:solidFill>
                          <a:latin typeface="Times New Roman" panose="02020603050405020304" pitchFamily="65" charset="-122"/>
                          <a:ea typeface="宋体" panose="02010600030101010101" pitchFamily="2" charset="-122"/>
                        </a:rPr>
                        <a:t>do that</a:t>
                      </a:r>
                      <a:r>
                        <a:rPr lang="zh-CN" altLang="en-US" sz="1815" kern="0" dirty="0" smtClean="0">
                          <a:solidFill>
                            <a:srgbClr val="000000"/>
                          </a:solidFill>
                          <a:latin typeface="Times New Roman" panose="02020603050405020304" pitchFamily="65" charset="-122"/>
                          <a:ea typeface="宋体" panose="02010600030101010101" pitchFamily="2" charset="-122"/>
                        </a:rPr>
                        <a:t>.别让他做那件事。(不带to的不定式短语)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His father advised him </a:t>
                      </a:r>
                      <a:r>
                        <a:rPr lang="zh-CN" altLang="en-US" sz="1815" u="sng" kern="0" dirty="0" smtClean="0">
                          <a:solidFill>
                            <a:srgbClr val="000000"/>
                          </a:solidFill>
                          <a:latin typeface="Times New Roman" panose="02020603050405020304" pitchFamily="65" charset="-122"/>
                          <a:ea typeface="宋体" panose="02010600030101010101" pitchFamily="2" charset="-122"/>
                        </a:rPr>
                        <a:t>to teach the lazy boy a lesson</a:t>
                      </a:r>
                      <a:r>
                        <a:rPr lang="zh-CN" altLang="en-US" sz="1815" kern="0" dirty="0" smtClean="0">
                          <a:solidFill>
                            <a:srgbClr val="000000"/>
                          </a:solidFill>
                          <a:latin typeface="Times New Roman" panose="02020603050405020304" pitchFamily="65" charset="-122"/>
                          <a:ea typeface="宋体" panose="02010600030101010101" pitchFamily="2" charset="-122"/>
                        </a:rPr>
                        <a:t>.他爸爸建议他给那个懒惰的男孩一个教训。(带to的不定式短语)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question has set me </a:t>
                      </a:r>
                      <a:r>
                        <a:rPr lang="zh-CN" altLang="en-US" sz="1815" u="sng" kern="0" dirty="0" smtClean="0">
                          <a:solidFill>
                            <a:srgbClr val="000000"/>
                          </a:solidFill>
                          <a:latin typeface="Times New Roman" panose="02020603050405020304" pitchFamily="65" charset="-122"/>
                          <a:ea typeface="宋体" panose="02010600030101010101" pitchFamily="2" charset="-122"/>
                        </a:rPr>
                        <a:t>thinking</a:t>
                      </a:r>
                      <a:r>
                        <a:rPr lang="zh-CN" altLang="en-US" sz="1815" kern="0" dirty="0" smtClean="0">
                          <a:solidFill>
                            <a:srgbClr val="000000"/>
                          </a:solidFill>
                          <a:latin typeface="Times New Roman" panose="02020603050405020304" pitchFamily="65" charset="-122"/>
                          <a:ea typeface="宋体" panose="02010600030101010101" pitchFamily="2" charset="-122"/>
                        </a:rPr>
                        <a:t>.这个问题引起我的思考。(现在分词)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I'll have my bike </a:t>
                      </a:r>
                      <a:r>
                        <a:rPr lang="zh-CN" altLang="en-US" sz="1815" u="sng" kern="0" dirty="0" smtClean="0">
                          <a:solidFill>
                            <a:srgbClr val="000000"/>
                          </a:solidFill>
                          <a:latin typeface="Times New Roman" panose="02020603050405020304" pitchFamily="65" charset="-122"/>
                          <a:ea typeface="宋体" panose="02010600030101010101" pitchFamily="2" charset="-122"/>
                        </a:rPr>
                        <a:t>repaired</a:t>
                      </a:r>
                      <a:r>
                        <a:rPr lang="zh-CN" altLang="en-US" sz="1815" kern="0" dirty="0" smtClean="0">
                          <a:solidFill>
                            <a:srgbClr val="000000"/>
                          </a:solidFill>
                          <a:latin typeface="Times New Roman" panose="02020603050405020304" pitchFamily="65" charset="-122"/>
                          <a:ea typeface="宋体" panose="02010600030101010101" pitchFamily="2" charset="-122"/>
                        </a:rPr>
                        <a:t>.我找人把自行车修了。(过去分词)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They viewed his action </a:t>
                      </a:r>
                      <a:r>
                        <a:rPr lang="zh-CN" altLang="en-US" sz="1815" u="sng" kern="0" dirty="0" smtClean="0">
                          <a:solidFill>
                            <a:srgbClr val="000000"/>
                          </a:solidFill>
                          <a:latin typeface="Times New Roman" panose="02020603050405020304" pitchFamily="65" charset="-122"/>
                          <a:ea typeface="宋体" panose="02010600030101010101" pitchFamily="2" charset="-122"/>
                        </a:rPr>
                        <a:t>as unnecessary</a:t>
                      </a:r>
                      <a:r>
                        <a:rPr lang="zh-CN" altLang="en-US" sz="1815" kern="0" dirty="0" smtClean="0">
                          <a:solidFill>
                            <a:srgbClr val="000000"/>
                          </a:solidFill>
                          <a:latin typeface="Times New Roman" panose="02020603050405020304" pitchFamily="65" charset="-122"/>
                          <a:ea typeface="宋体" panose="02010600030101010101" pitchFamily="2" charset="-122"/>
                        </a:rPr>
                        <a:t>.他们认为他的做法没必要。(as+形容词)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468000" y="683420"/>
          <a:ext cx="11268075" cy="3370580"/>
        </p:xfrm>
        <a:graphic>
          <a:graphicData uri="http://schemas.openxmlformats.org/drawingml/2006/table">
            <a:tbl>
              <a:tblPr/>
              <a:tblGrid>
                <a:gridCol w="1890395"/>
                <a:gridCol w="2769235"/>
                <a:gridCol w="6608370"/>
              </a:tblGrid>
              <a:tr h="660400">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成分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示例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271018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主语补足语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subject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complement)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说明主语的身份、状态、性质、特征或动作。</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was elected </a:t>
                      </a:r>
                      <a:r>
                        <a:rPr lang="zh-CN" altLang="en-US" sz="1815" u="sng" kern="0" dirty="0" smtClean="0">
                          <a:solidFill>
                            <a:srgbClr val="000000"/>
                          </a:solidFill>
                          <a:latin typeface="Times New Roman" panose="02020603050405020304" pitchFamily="65" charset="-122"/>
                          <a:ea typeface="宋体" panose="02010600030101010101" pitchFamily="2" charset="-122"/>
                        </a:rPr>
                        <a:t>monitor</a:t>
                      </a:r>
                      <a:r>
                        <a:rPr lang="zh-CN" altLang="en-US" sz="1815" kern="0" dirty="0" smtClean="0">
                          <a:solidFill>
                            <a:srgbClr val="000000"/>
                          </a:solidFill>
                          <a:latin typeface="Times New Roman" panose="02020603050405020304" pitchFamily="65" charset="-122"/>
                          <a:ea typeface="宋体" panose="02010600030101010101" pitchFamily="2" charset="-122"/>
                        </a:rPr>
                        <a:t>.他被选为班长。</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She was found </a:t>
                      </a:r>
                      <a:r>
                        <a:rPr lang="zh-CN" altLang="en-US" sz="1815" u="sng" kern="0" dirty="0" smtClean="0">
                          <a:solidFill>
                            <a:srgbClr val="000000"/>
                          </a:solidFill>
                          <a:latin typeface="Times New Roman" panose="02020603050405020304" pitchFamily="65" charset="-122"/>
                          <a:ea typeface="宋体" panose="02010600030101010101" pitchFamily="2" charset="-122"/>
                        </a:rPr>
                        <a:t>singing</a:t>
                      </a:r>
                      <a:r>
                        <a:rPr lang="zh-CN" altLang="en-US" sz="1815" kern="0" dirty="0" smtClean="0">
                          <a:solidFill>
                            <a:srgbClr val="000000"/>
                          </a:solidFill>
                          <a:latin typeface="Times New Roman" panose="02020603050405020304" pitchFamily="65" charset="-122"/>
                          <a:ea typeface="宋体" panose="02010600030101010101" pitchFamily="2" charset="-122"/>
                        </a:rPr>
                        <a:t> in the next room.她被发现在隔壁房间唱歌。</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was advised </a:t>
                      </a:r>
                      <a:r>
                        <a:rPr lang="zh-CN" altLang="en-US" sz="1815" u="sng" kern="0" dirty="0" smtClean="0">
                          <a:solidFill>
                            <a:srgbClr val="000000"/>
                          </a:solidFill>
                          <a:latin typeface="Times New Roman" panose="02020603050405020304" pitchFamily="65" charset="-122"/>
                          <a:ea typeface="宋体" panose="02010600030101010101" pitchFamily="2" charset="-122"/>
                        </a:rPr>
                        <a:t>to teach the lazy boy a</a:t>
                      </a:r>
                      <a:r>
                        <a:rPr lang="en-US" altLang="zh-CN" sz="1815" u="sng" kern="0" dirty="0" smtClean="0">
                          <a:solidFill>
                            <a:srgbClr val="000000"/>
                          </a:solidFill>
                          <a:latin typeface="Times New Roman" panose="02020603050405020304" pitchFamily="65" charset="-122"/>
                          <a:ea typeface="宋体" panose="02010600030101010101" pitchFamily="2" charset="-122"/>
                        </a:rPr>
                        <a:t> </a:t>
                      </a:r>
                      <a:r>
                        <a:rPr lang="zh-CN" altLang="en-US" sz="1815" u="sng" kern="0" dirty="0" smtClean="0">
                          <a:solidFill>
                            <a:srgbClr val="000000"/>
                          </a:solidFill>
                          <a:latin typeface="Times New Roman" panose="02020603050405020304" pitchFamily="65" charset="-122"/>
                          <a:ea typeface="宋体" panose="02010600030101010101" pitchFamily="2" charset="-122"/>
                        </a:rPr>
                        <a:t>lesson</a:t>
                      </a:r>
                      <a:r>
                        <a:rPr lang="zh-CN" altLang="en-US" sz="1815" kern="0" dirty="0" smtClean="0">
                          <a:solidFill>
                            <a:srgbClr val="000000"/>
                          </a:solidFill>
                          <a:latin typeface="Times New Roman" panose="02020603050405020304" pitchFamily="65" charset="-122"/>
                          <a:ea typeface="宋体" panose="02010600030101010101" pitchFamily="2" charset="-122"/>
                        </a:rPr>
                        <a: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有人建议他给那个懒惰的男孩一个教训。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 worked </a:t>
                      </a:r>
                      <a:r>
                        <a:rPr lang="zh-CN" altLang="en-US" sz="1815" u="sng" kern="0" dirty="0" smtClean="0">
                          <a:solidFill>
                            <a:srgbClr val="000000"/>
                          </a:solidFill>
                          <a:latin typeface="Times New Roman" panose="02020603050405020304" pitchFamily="65" charset="-122"/>
                          <a:ea typeface="宋体" panose="02010600030101010101" pitchFamily="2" charset="-122"/>
                        </a:rPr>
                        <a:t>as an interpreter</a:t>
                      </a:r>
                      <a:r>
                        <a:rPr lang="zh-CN" altLang="en-US" sz="1815" kern="0" dirty="0" smtClean="0">
                          <a:solidFill>
                            <a:srgbClr val="000000"/>
                          </a:solidFill>
                          <a:latin typeface="Times New Roman" panose="02020603050405020304" pitchFamily="65" charset="-122"/>
                          <a:ea typeface="宋体" panose="02010600030101010101" pitchFamily="2" charset="-122"/>
                        </a:rPr>
                        <a:t>.我做口译工作。</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468000" y="1260000"/>
          <a:ext cx="11268075" cy="4758055"/>
        </p:xfrm>
        <a:graphic>
          <a:graphicData uri="http://schemas.openxmlformats.org/drawingml/2006/table">
            <a:tbl>
              <a:tblPr/>
              <a:tblGrid>
                <a:gridCol w="1799670"/>
                <a:gridCol w="3498215"/>
                <a:gridCol w="5970115"/>
              </a:tblGrid>
              <a:tr h="360000">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成分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示例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predicative)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用在系动词后,与系动词一起用来说明主语的身份、类属、特征、状态等。</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注意:常见的系动词有be、sound(听起来)、 look(看起来)、feel(摸起来)、smell(闻起来)、taste(品尝起来)、remain(保持、仍是)等。</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is </a:t>
                      </a:r>
                      <a:r>
                        <a:rPr lang="zh-CN" altLang="en-US" sz="1815" u="sng" kern="0" dirty="0" smtClean="0">
                          <a:solidFill>
                            <a:srgbClr val="000000"/>
                          </a:solidFill>
                          <a:latin typeface="Times New Roman" panose="02020603050405020304" pitchFamily="65" charset="-122"/>
                          <a:ea typeface="宋体" panose="02010600030101010101" pitchFamily="2" charset="-122"/>
                        </a:rPr>
                        <a:t>a teacher</a:t>
                      </a:r>
                      <a:r>
                        <a:rPr lang="zh-CN" altLang="en-US" sz="1815" kern="0" dirty="0" smtClean="0">
                          <a:solidFill>
                            <a:srgbClr val="000000"/>
                          </a:solidFill>
                          <a:latin typeface="Times New Roman" panose="02020603050405020304" pitchFamily="65" charset="-122"/>
                          <a:ea typeface="宋体" panose="02010600030101010101" pitchFamily="2" charset="-122"/>
                        </a:rPr>
                        <a:t>.他是一名教师。(名词)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Five and five is </a:t>
                      </a:r>
                      <a:r>
                        <a:rPr lang="zh-CN" altLang="en-US" sz="1815" u="sng" kern="0" dirty="0" smtClean="0">
                          <a:solidFill>
                            <a:srgbClr val="000000"/>
                          </a:solidFill>
                          <a:latin typeface="Times New Roman" panose="02020603050405020304" pitchFamily="65" charset="-122"/>
                          <a:ea typeface="宋体" panose="02010600030101010101" pitchFamily="2" charset="-122"/>
                        </a:rPr>
                        <a:t>ten</a:t>
                      </a:r>
                      <a:r>
                        <a:rPr lang="zh-CN" altLang="en-US" sz="1815" kern="0" dirty="0" smtClean="0">
                          <a:solidFill>
                            <a:srgbClr val="000000"/>
                          </a:solidFill>
                          <a:latin typeface="Times New Roman" panose="02020603050405020304" pitchFamily="65" charset="-122"/>
                          <a:ea typeface="宋体" panose="02010600030101010101" pitchFamily="2" charset="-122"/>
                        </a:rPr>
                        <a:t>.五加五等于十。(数词)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is </a:t>
                      </a:r>
                      <a:r>
                        <a:rPr lang="zh-CN" altLang="en-US" sz="1815" u="sng" kern="0" dirty="0" smtClean="0">
                          <a:solidFill>
                            <a:srgbClr val="000000"/>
                          </a:solidFill>
                          <a:latin typeface="Times New Roman" panose="02020603050405020304" pitchFamily="65" charset="-122"/>
                          <a:ea typeface="宋体" panose="02010600030101010101" pitchFamily="2" charset="-122"/>
                        </a:rPr>
                        <a:t>asleep</a:t>
                      </a:r>
                      <a:r>
                        <a:rPr lang="zh-CN" altLang="en-US" sz="1815" kern="0" dirty="0" smtClean="0">
                          <a:solidFill>
                            <a:srgbClr val="000000"/>
                          </a:solidFill>
                          <a:latin typeface="Times New Roman" panose="02020603050405020304" pitchFamily="65" charset="-122"/>
                          <a:ea typeface="宋体" panose="02010600030101010101" pitchFamily="2" charset="-122"/>
                        </a:rPr>
                        <a:t>.他在睡觉。(形容词)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sun is </a:t>
                      </a:r>
                      <a:r>
                        <a:rPr lang="zh-CN" altLang="en-US" sz="1815" u="sng" kern="0" dirty="0" smtClean="0">
                          <a:solidFill>
                            <a:srgbClr val="000000"/>
                          </a:solidFill>
                          <a:latin typeface="Times New Roman" panose="02020603050405020304" pitchFamily="65" charset="-122"/>
                          <a:ea typeface="宋体" panose="02010600030101010101" pitchFamily="2" charset="-122"/>
                        </a:rPr>
                        <a:t>up</a:t>
                      </a:r>
                      <a:r>
                        <a:rPr lang="zh-CN" altLang="en-US" sz="1815" kern="0" dirty="0" smtClean="0">
                          <a:solidFill>
                            <a:srgbClr val="000000"/>
                          </a:solidFill>
                          <a:latin typeface="Times New Roman" panose="02020603050405020304" pitchFamily="65" charset="-122"/>
                          <a:ea typeface="宋体" panose="02010600030101010101" pitchFamily="2" charset="-122"/>
                        </a:rPr>
                        <a:t>.太阳升起来了。(副词)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picture is </a:t>
                      </a:r>
                      <a:r>
                        <a:rPr lang="zh-CN" altLang="en-US" sz="1815" u="sng" kern="0" dirty="0" smtClean="0">
                          <a:solidFill>
                            <a:srgbClr val="000000"/>
                          </a:solidFill>
                          <a:latin typeface="Times New Roman" panose="02020603050405020304" pitchFamily="65" charset="-122"/>
                          <a:ea typeface="宋体" panose="02010600030101010101" pitchFamily="2" charset="-122"/>
                        </a:rPr>
                        <a:t>on the wall</a:t>
                      </a:r>
                      <a:r>
                        <a:rPr lang="zh-CN" altLang="en-US" sz="1815" kern="0" dirty="0" smtClean="0">
                          <a:solidFill>
                            <a:srgbClr val="000000"/>
                          </a:solidFill>
                          <a:latin typeface="Times New Roman" panose="02020603050405020304" pitchFamily="65" charset="-122"/>
                          <a:ea typeface="宋体" panose="02010600030101010101" pitchFamily="2" charset="-122"/>
                        </a:rPr>
                        <a:t>.画在墙上。(介词短语)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question remains </a:t>
                      </a:r>
                      <a:r>
                        <a:rPr lang="zh-CN" altLang="en-US" sz="1815" u="sng" kern="0" dirty="0" smtClean="0">
                          <a:solidFill>
                            <a:srgbClr val="000000"/>
                          </a:solidFill>
                          <a:latin typeface="Times New Roman" panose="02020603050405020304" pitchFamily="65" charset="-122"/>
                          <a:ea typeface="宋体" panose="02010600030101010101" pitchFamily="2" charset="-122"/>
                        </a:rPr>
                        <a:t>unsettled</a:t>
                      </a:r>
                      <a:r>
                        <a:rPr lang="zh-CN" altLang="en-US" sz="1815" kern="0" dirty="0" smtClean="0">
                          <a:solidFill>
                            <a:srgbClr val="000000"/>
                          </a:solidFill>
                          <a:latin typeface="Times New Roman" panose="02020603050405020304" pitchFamily="65" charset="-122"/>
                          <a:ea typeface="宋体" panose="02010600030101010101" pitchFamily="2" charset="-122"/>
                        </a:rPr>
                        <a:t>.这个问题还没有解决。(分词)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best is yet </a:t>
                      </a:r>
                      <a:r>
                        <a:rPr lang="zh-CN" altLang="en-US" sz="1815" u="sng" kern="0" dirty="0" smtClean="0">
                          <a:solidFill>
                            <a:srgbClr val="000000"/>
                          </a:solidFill>
                          <a:latin typeface="Times New Roman" panose="02020603050405020304" pitchFamily="65" charset="-122"/>
                          <a:ea typeface="宋体" panose="02010600030101010101" pitchFamily="2" charset="-122"/>
                        </a:rPr>
                        <a:t>to come</a:t>
                      </a:r>
                      <a:r>
                        <a:rPr lang="zh-CN" altLang="en-US" sz="1815" kern="0" dirty="0" smtClean="0">
                          <a:solidFill>
                            <a:srgbClr val="000000"/>
                          </a:solidFill>
                          <a:latin typeface="Times New Roman" panose="02020603050405020304" pitchFamily="65" charset="-122"/>
                          <a:ea typeface="宋体" panose="02010600030101010101" pitchFamily="2" charset="-122"/>
                        </a:rPr>
                        <a:t>.最好的还在后头。(不定式)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question is </a:t>
                      </a:r>
                      <a:r>
                        <a:rPr lang="zh-CN" altLang="en-US" sz="1815" u="sng" kern="0" dirty="0" smtClean="0">
                          <a:solidFill>
                            <a:srgbClr val="000000"/>
                          </a:solidFill>
                          <a:latin typeface="Times New Roman" panose="02020603050405020304" pitchFamily="65" charset="-122"/>
                          <a:ea typeface="宋体" panose="02010600030101010101" pitchFamily="2" charset="-122"/>
                        </a:rPr>
                        <a:t>whether they will come</a:t>
                      </a:r>
                      <a:r>
                        <a:rPr lang="zh-CN" altLang="en-US" sz="1815" kern="0" dirty="0" smtClean="0">
                          <a:solidFill>
                            <a:srgbClr val="000000"/>
                          </a:solidFill>
                          <a:latin typeface="Times New Roman" panose="02020603050405020304" pitchFamily="65" charset="-122"/>
                          <a:ea typeface="宋体" panose="02010600030101010101" pitchFamily="2" charset="-122"/>
                        </a:rPr>
                        <a:t>.(从句)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468000" y="539674"/>
          <a:ext cx="11637010" cy="6005830"/>
        </p:xfrm>
        <a:graphic>
          <a:graphicData uri="http://schemas.openxmlformats.org/drawingml/2006/table">
            <a:tbl>
              <a:tblPr/>
              <a:tblGrid>
                <a:gridCol w="1771650"/>
                <a:gridCol w="1249045"/>
                <a:gridCol w="8616315"/>
              </a:tblGrid>
              <a:tr h="360000">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成分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示例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定语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attributive)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定语是修饰名词或代词的词(组)或句子。</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My mother is a </a:t>
                      </a:r>
                      <a:r>
                        <a:rPr lang="zh-CN" altLang="en-US" sz="1815" u="sng" kern="0" dirty="0" smtClean="0">
                          <a:solidFill>
                            <a:srgbClr val="000000"/>
                          </a:solidFill>
                          <a:latin typeface="Times New Roman" panose="02020603050405020304" pitchFamily="65" charset="-122"/>
                          <a:ea typeface="宋体" panose="02010600030101010101" pitchFamily="2" charset="-122"/>
                        </a:rPr>
                        <a:t>chemistry</a:t>
                      </a:r>
                      <a:r>
                        <a:rPr lang="zh-CN" altLang="en-US" sz="1815" kern="0" dirty="0" smtClean="0">
                          <a:solidFill>
                            <a:srgbClr val="000000"/>
                          </a:solidFill>
                          <a:latin typeface="Times New Roman" panose="02020603050405020304" pitchFamily="65" charset="-122"/>
                          <a:ea typeface="宋体" panose="02010600030101010101" pitchFamily="2" charset="-122"/>
                        </a:rPr>
                        <a:t> teacher.我母亲是位化学教师。(名词)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is </a:t>
                      </a:r>
                      <a:r>
                        <a:rPr lang="zh-CN" altLang="en-US" sz="1815" u="sng" kern="0" dirty="0" smtClean="0">
                          <a:solidFill>
                            <a:srgbClr val="000000"/>
                          </a:solidFill>
                          <a:latin typeface="Times New Roman" panose="02020603050405020304" pitchFamily="65" charset="-122"/>
                          <a:ea typeface="宋体" panose="02010600030101010101" pitchFamily="2" charset="-122"/>
                        </a:rPr>
                        <a:t>our</a:t>
                      </a:r>
                      <a:r>
                        <a:rPr lang="zh-CN" altLang="en-US" sz="1815" kern="0" dirty="0" smtClean="0">
                          <a:solidFill>
                            <a:srgbClr val="000000"/>
                          </a:solidFill>
                          <a:latin typeface="Times New Roman" panose="02020603050405020304" pitchFamily="65" charset="-122"/>
                          <a:ea typeface="宋体" panose="02010600030101010101" pitchFamily="2" charset="-122"/>
                        </a:rPr>
                        <a:t> friend.他是我们的朋友。(代词)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We were travelling at a speed of </a:t>
                      </a:r>
                      <a:r>
                        <a:rPr lang="zh-CN" altLang="en-US" sz="1815" u="sng" kern="0" dirty="0" smtClean="0">
                          <a:solidFill>
                            <a:srgbClr val="000000"/>
                          </a:solidFill>
                          <a:latin typeface="Times New Roman" panose="02020603050405020304" pitchFamily="65" charset="-122"/>
                          <a:ea typeface="宋体" panose="02010600030101010101" pitchFamily="2" charset="-122"/>
                        </a:rPr>
                        <a:t>thirty</a:t>
                      </a:r>
                      <a:r>
                        <a:rPr lang="zh-CN" altLang="en-US" sz="1815" kern="0" dirty="0" smtClean="0">
                          <a:solidFill>
                            <a:srgbClr val="000000"/>
                          </a:solidFill>
                          <a:latin typeface="Times New Roman" panose="02020603050405020304" pitchFamily="65" charset="-122"/>
                          <a:ea typeface="宋体" panose="02010600030101010101" pitchFamily="2" charset="-122"/>
                        </a:rPr>
                        <a:t> miles an hour.我们以每小时30英里的速度行进。</a:t>
                      </a:r>
                      <a:r>
                        <a:rPr lang="en-US" altLang="zh-CN" sz="1815" kern="0" dirty="0" smtClean="0">
                          <a:solidFill>
                            <a:srgbClr val="000000"/>
                          </a:solidFill>
                          <a:latin typeface="Times New Roman" panose="02020603050405020304" pitchFamily="65" charset="-122"/>
                          <a:ea typeface="宋体" panose="02010600030101010101" pitchFamily="2" charset="-122"/>
                        </a:rPr>
                        <a:t> </a:t>
                      </a:r>
                      <a:r>
                        <a:rPr lang="zh-CN" altLang="en-US" sz="1815" kern="0" dirty="0" smtClean="0">
                          <a:solidFill>
                            <a:srgbClr val="000000"/>
                          </a:solidFill>
                          <a:latin typeface="Times New Roman" panose="02020603050405020304" pitchFamily="65" charset="-122"/>
                          <a:ea typeface="宋体" panose="02010600030101010101" pitchFamily="2" charset="-122"/>
                        </a:rPr>
                        <a:t>(数词)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She is wearing a </a:t>
                      </a:r>
                      <a:r>
                        <a:rPr lang="zh-CN" altLang="en-US" sz="1815" u="sng" kern="0" dirty="0" smtClean="0">
                          <a:solidFill>
                            <a:srgbClr val="000000"/>
                          </a:solidFill>
                          <a:latin typeface="Times New Roman" panose="02020603050405020304" pitchFamily="65" charset="-122"/>
                          <a:ea typeface="宋体" panose="02010600030101010101" pitchFamily="2" charset="-122"/>
                        </a:rPr>
                        <a:t>dirty</a:t>
                      </a:r>
                      <a:r>
                        <a:rPr lang="zh-CN" altLang="en-US" sz="1815" kern="0" dirty="0" smtClean="0">
                          <a:solidFill>
                            <a:srgbClr val="000000"/>
                          </a:solidFill>
                          <a:latin typeface="Times New Roman" panose="02020603050405020304" pitchFamily="65" charset="-122"/>
                          <a:ea typeface="宋体" panose="02010600030101010101" pitchFamily="2" charset="-122"/>
                        </a:rPr>
                        <a:t> skirt.她穿着一件脏裙子。(形容词)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 have two days </a:t>
                      </a:r>
                      <a:r>
                        <a:rPr lang="zh-CN" altLang="en-US" sz="1815" u="sng" kern="0" dirty="0" smtClean="0">
                          <a:solidFill>
                            <a:srgbClr val="000000"/>
                          </a:solidFill>
                          <a:latin typeface="Times New Roman" panose="02020603050405020304" pitchFamily="65" charset="-122"/>
                          <a:ea typeface="宋体" panose="02010600030101010101" pitchFamily="2" charset="-122"/>
                        </a:rPr>
                        <a:t>off</a:t>
                      </a:r>
                      <a:r>
                        <a:rPr lang="zh-CN" altLang="en-US" sz="1815" kern="0" dirty="0" smtClean="0">
                          <a:solidFill>
                            <a:srgbClr val="000000"/>
                          </a:solidFill>
                          <a:latin typeface="Times New Roman" panose="02020603050405020304" pitchFamily="65" charset="-122"/>
                          <a:ea typeface="宋体" panose="02010600030101010101" pitchFamily="2" charset="-122"/>
                        </a:rPr>
                        <a:t>.我有两天的休息时间。(副词)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woman </a:t>
                      </a:r>
                      <a:r>
                        <a:rPr lang="zh-CN" altLang="en-US" sz="1815" u="sng" kern="0" dirty="0" smtClean="0">
                          <a:solidFill>
                            <a:srgbClr val="000000"/>
                          </a:solidFill>
                          <a:latin typeface="Times New Roman" panose="02020603050405020304" pitchFamily="65" charset="-122"/>
                          <a:ea typeface="宋体" panose="02010600030101010101" pitchFamily="2" charset="-122"/>
                        </a:rPr>
                        <a:t>with a baby in her arms</a:t>
                      </a:r>
                      <a:r>
                        <a:rPr lang="zh-CN" altLang="en-US" sz="1815" kern="0" dirty="0" smtClean="0">
                          <a:solidFill>
                            <a:srgbClr val="000000"/>
                          </a:solidFill>
                          <a:latin typeface="Times New Roman" panose="02020603050405020304" pitchFamily="65" charset="-122"/>
                          <a:ea typeface="宋体" panose="02010600030101010101" pitchFamily="2" charset="-122"/>
                        </a:rPr>
                        <a:t> is my sister.怀里抱着婴儿的女人是我妹妹。</a:t>
                      </a:r>
                      <a:r>
                        <a:rPr lang="en-US" altLang="zh-CN" sz="1815" kern="0" dirty="0" smtClean="0">
                          <a:solidFill>
                            <a:srgbClr val="000000"/>
                          </a:solidFill>
                          <a:latin typeface="Times New Roman" panose="02020603050405020304" pitchFamily="65" charset="-122"/>
                          <a:ea typeface="宋体" panose="02010600030101010101" pitchFamily="2" charset="-122"/>
                        </a:rPr>
                        <a:t>              </a:t>
                      </a:r>
                      <a:r>
                        <a:rPr lang="zh-CN" altLang="en-US" sz="1815" kern="0" dirty="0" smtClean="0">
                          <a:solidFill>
                            <a:srgbClr val="000000"/>
                          </a:solidFill>
                          <a:latin typeface="Times New Roman" panose="02020603050405020304" pitchFamily="65" charset="-122"/>
                          <a:ea typeface="宋体" panose="02010600030101010101" pitchFamily="2" charset="-122"/>
                        </a:rPr>
                        <a:t>(介词短语)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boys </a:t>
                      </a:r>
                      <a:r>
                        <a:rPr lang="zh-CN" altLang="en-US" sz="1815" u="sng" kern="0" dirty="0" smtClean="0">
                          <a:solidFill>
                            <a:srgbClr val="000000"/>
                          </a:solidFill>
                          <a:latin typeface="Times New Roman" panose="02020603050405020304" pitchFamily="65" charset="-122"/>
                          <a:ea typeface="宋体" panose="02010600030101010101" pitchFamily="2" charset="-122"/>
                        </a:rPr>
                        <a:t>playing football</a:t>
                      </a:r>
                      <a:r>
                        <a:rPr lang="zh-CN" altLang="en-US" sz="1815" kern="0" dirty="0" smtClean="0">
                          <a:solidFill>
                            <a:srgbClr val="000000"/>
                          </a:solidFill>
                          <a:latin typeface="Times New Roman" panose="02020603050405020304" pitchFamily="65" charset="-122"/>
                          <a:ea typeface="宋体" panose="02010600030101010101" pitchFamily="2" charset="-122"/>
                        </a:rPr>
                        <a:t> are in Class 2.正踢足球的男孩是二班的学生。</a:t>
                      </a:r>
                      <a:r>
                        <a:rPr lang="en-US" altLang="zh-CN" sz="1815" kern="0" dirty="0" smtClean="0">
                          <a:solidFill>
                            <a:srgbClr val="000000"/>
                          </a:solidFill>
                          <a:latin typeface="Times New Roman" panose="02020603050405020304" pitchFamily="65" charset="-122"/>
                          <a:ea typeface="宋体" panose="02010600030101010101" pitchFamily="2" charset="-122"/>
                        </a:rPr>
                        <a:t>                          </a:t>
                      </a:r>
                      <a:r>
                        <a:rPr lang="zh-CN" altLang="en-US" sz="1815" kern="0" dirty="0" smtClean="0">
                          <a:solidFill>
                            <a:srgbClr val="000000"/>
                          </a:solidFill>
                          <a:latin typeface="Times New Roman" panose="02020603050405020304" pitchFamily="65" charset="-122"/>
                          <a:ea typeface="宋体" panose="02010600030101010101" pitchFamily="2" charset="-122"/>
                        </a:rPr>
                        <a:t>(现在分词短语)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Take away the </a:t>
                      </a:r>
                      <a:r>
                        <a:rPr lang="zh-CN" altLang="en-US" sz="1815" u="sng" kern="0" dirty="0" smtClean="0">
                          <a:solidFill>
                            <a:srgbClr val="000000"/>
                          </a:solidFill>
                          <a:latin typeface="Times New Roman" panose="02020603050405020304" pitchFamily="65" charset="-122"/>
                          <a:ea typeface="宋体" panose="02010600030101010101" pitchFamily="2" charset="-122"/>
                        </a:rPr>
                        <a:t>broken</a:t>
                      </a:r>
                      <a:r>
                        <a:rPr lang="zh-CN" altLang="en-US" sz="1815" kern="0" dirty="0" smtClean="0">
                          <a:solidFill>
                            <a:srgbClr val="000000"/>
                          </a:solidFill>
                          <a:latin typeface="Times New Roman" panose="02020603050405020304" pitchFamily="65" charset="-122"/>
                          <a:ea typeface="宋体" panose="02010600030101010101" pitchFamily="2" charset="-122"/>
                        </a:rPr>
                        <a:t> glass.把打坏的玻璃杯拿走。(过去分词)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Where is the engine </a:t>
                      </a:r>
                      <a:r>
                        <a:rPr lang="zh-CN" altLang="en-US" sz="1815" u="sng" kern="0" dirty="0" smtClean="0">
                          <a:solidFill>
                            <a:srgbClr val="000000"/>
                          </a:solidFill>
                          <a:latin typeface="Times New Roman" panose="02020603050405020304" pitchFamily="65" charset="-122"/>
                          <a:ea typeface="宋体" panose="02010600030101010101" pitchFamily="2" charset="-122"/>
                        </a:rPr>
                        <a:t>to be tested</a:t>
                      </a:r>
                      <a:r>
                        <a:rPr lang="zh-CN" altLang="en-US" sz="1815" kern="0" dirty="0" smtClean="0">
                          <a:solidFill>
                            <a:srgbClr val="000000"/>
                          </a:solidFill>
                          <a:latin typeface="Times New Roman" panose="02020603050405020304" pitchFamily="65" charset="-122"/>
                          <a:ea typeface="宋体" panose="02010600030101010101" pitchFamily="2" charset="-122"/>
                        </a:rPr>
                        <a:t>?要测试的发动机在哪里?(不定式)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It is a question </a:t>
                      </a:r>
                      <a:r>
                        <a:rPr lang="zh-CN" altLang="en-US" sz="1815" u="sng" kern="0" dirty="0" smtClean="0">
                          <a:solidFill>
                            <a:srgbClr val="000000"/>
                          </a:solidFill>
                          <a:latin typeface="Times New Roman" panose="02020603050405020304" pitchFamily="65" charset="-122"/>
                          <a:ea typeface="宋体" panose="02010600030101010101" pitchFamily="2" charset="-122"/>
                        </a:rPr>
                        <a:t>that needs careful consideration</a:t>
                      </a:r>
                      <a:r>
                        <a:rPr lang="zh-CN" altLang="en-US" sz="1815" kern="0" dirty="0" smtClean="0">
                          <a:solidFill>
                            <a:srgbClr val="000000"/>
                          </a:solidFill>
                          <a:latin typeface="Times New Roman" panose="02020603050405020304" pitchFamily="65" charset="-122"/>
                          <a:ea typeface="宋体" panose="02010600030101010101" pitchFamily="2" charset="-122"/>
                        </a:rPr>
                        <a:t>.这是一个需要仔细思考的问题。(从句)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468000" y="539949"/>
          <a:ext cx="11268075" cy="6421755"/>
        </p:xfrm>
        <a:graphic>
          <a:graphicData uri="http://schemas.openxmlformats.org/drawingml/2006/table">
            <a:tbl>
              <a:tblPr/>
              <a:tblGrid>
                <a:gridCol w="1511638"/>
                <a:gridCol w="2204720"/>
                <a:gridCol w="7551642"/>
              </a:tblGrid>
              <a:tr h="360000">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成分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示例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状语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adverbial)</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用来修饰动词、形容词、副词或者句子,表示时间、地点、原因、目的、结果、程度、条件、方式、让步和伴随等。</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 will go there </a:t>
                      </a:r>
                      <a:r>
                        <a:rPr lang="zh-CN" altLang="en-US" sz="1815" u="sng" kern="0" dirty="0" smtClean="0">
                          <a:solidFill>
                            <a:srgbClr val="000000"/>
                          </a:solidFill>
                          <a:latin typeface="Times New Roman" panose="02020603050405020304" pitchFamily="65" charset="-122"/>
                          <a:ea typeface="宋体" panose="02010600030101010101" pitchFamily="2" charset="-122"/>
                        </a:rPr>
                        <a:t>tomorrow</a:t>
                      </a:r>
                      <a:r>
                        <a:rPr lang="zh-CN" altLang="en-US" sz="1815" kern="0" dirty="0" smtClean="0">
                          <a:solidFill>
                            <a:srgbClr val="000000"/>
                          </a:solidFill>
                          <a:latin typeface="Times New Roman" panose="02020603050405020304" pitchFamily="65" charset="-122"/>
                          <a:ea typeface="宋体" panose="02010600030101010101" pitchFamily="2" charset="-122"/>
                        </a:rPr>
                        <a:t>.明天我将去那里。</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meeting will be held </a:t>
                      </a:r>
                      <a:r>
                        <a:rPr lang="zh-CN" altLang="en-US" sz="1815" u="sng" kern="0" dirty="0" smtClean="0">
                          <a:solidFill>
                            <a:srgbClr val="000000"/>
                          </a:solidFill>
                          <a:latin typeface="Times New Roman" panose="02020603050405020304" pitchFamily="65" charset="-122"/>
                          <a:ea typeface="宋体" panose="02010600030101010101" pitchFamily="2" charset="-122"/>
                        </a:rPr>
                        <a:t>in the meeting room</a:t>
                      </a:r>
                      <a:r>
                        <a:rPr lang="zh-CN" altLang="en-US" sz="1815" kern="0" dirty="0" smtClean="0">
                          <a:solidFill>
                            <a:srgbClr val="000000"/>
                          </a:solidFill>
                          <a:latin typeface="Times New Roman" panose="02020603050405020304" pitchFamily="65" charset="-122"/>
                          <a:ea typeface="宋体" panose="02010600030101010101" pitchFamily="2" charset="-122"/>
                        </a:rPr>
                        <a:t>.会议将在会议室举办。</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picnic has been canceled </a:t>
                      </a:r>
                      <a:r>
                        <a:rPr lang="zh-CN" altLang="en-US" sz="1815" u="sng" kern="0" dirty="0" smtClean="0">
                          <a:solidFill>
                            <a:srgbClr val="000000"/>
                          </a:solidFill>
                          <a:latin typeface="Times New Roman" panose="02020603050405020304" pitchFamily="65" charset="-122"/>
                          <a:ea typeface="宋体" panose="02010600030101010101" pitchFamily="2" charset="-122"/>
                        </a:rPr>
                        <a:t>because of bad weather</a:t>
                      </a:r>
                      <a:r>
                        <a:rPr lang="zh-CN" altLang="en-US" sz="1815" kern="0" dirty="0" smtClean="0">
                          <a:solidFill>
                            <a:srgbClr val="000000"/>
                          </a:solidFill>
                          <a:latin typeface="Times New Roman" panose="02020603050405020304" pitchFamily="65" charset="-122"/>
                          <a:ea typeface="宋体" panose="02010600030101010101" pitchFamily="2" charset="-122"/>
                        </a:rPr>
                        <a: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由于天气不好,野餐活动被取消了。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studies hard </a:t>
                      </a:r>
                      <a:r>
                        <a:rPr lang="zh-CN" altLang="en-US" sz="1815" u="sng" kern="0" dirty="0" smtClean="0">
                          <a:solidFill>
                            <a:srgbClr val="000000"/>
                          </a:solidFill>
                          <a:latin typeface="Times New Roman" panose="02020603050405020304" pitchFamily="65" charset="-122"/>
                          <a:ea typeface="宋体" panose="02010600030101010101" pitchFamily="2" charset="-122"/>
                        </a:rPr>
                        <a:t>to learn English well</a:t>
                      </a:r>
                      <a:r>
                        <a:rPr lang="zh-CN" altLang="en-US" sz="1815" kern="0" dirty="0" smtClean="0">
                          <a:solidFill>
                            <a:srgbClr val="000000"/>
                          </a:solidFill>
                          <a:latin typeface="Times New Roman" panose="02020603050405020304" pitchFamily="65" charset="-122"/>
                          <a:ea typeface="宋体" panose="02010600030101010101" pitchFamily="2" charset="-122"/>
                        </a:rPr>
                        <a:t>.为了学好英语,他很刻苦。</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didn't study hard </a:t>
                      </a:r>
                      <a:r>
                        <a:rPr lang="zh-CN" altLang="en-US" sz="1815" u="sng" kern="0" dirty="0" smtClean="0">
                          <a:solidFill>
                            <a:srgbClr val="000000"/>
                          </a:solidFill>
                          <a:latin typeface="Times New Roman" panose="02020603050405020304" pitchFamily="65" charset="-122"/>
                          <a:ea typeface="宋体" panose="02010600030101010101" pitchFamily="2" charset="-122"/>
                        </a:rPr>
                        <a:t>so that he failed the exam</a:t>
                      </a:r>
                      <a:r>
                        <a:rPr lang="zh-CN" altLang="en-US" sz="1815" kern="0" dirty="0" smtClean="0">
                          <a:solidFill>
                            <a:srgbClr val="000000"/>
                          </a:solidFill>
                          <a:latin typeface="Times New Roman" panose="02020603050405020304" pitchFamily="65" charset="-122"/>
                          <a:ea typeface="宋体" panose="02010600030101010101" pitchFamily="2" charset="-122"/>
                        </a:rPr>
                        <a: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他学习不努力,结果考试不及格。</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 like some of you </a:t>
                      </a:r>
                      <a:r>
                        <a:rPr lang="zh-CN" altLang="en-US" sz="1815" u="sng" kern="0" dirty="0" smtClean="0">
                          <a:solidFill>
                            <a:srgbClr val="000000"/>
                          </a:solidFill>
                          <a:latin typeface="Times New Roman" panose="02020603050405020304" pitchFamily="65" charset="-122"/>
                          <a:ea typeface="宋体" panose="02010600030101010101" pitchFamily="2" charset="-122"/>
                        </a:rPr>
                        <a:t>very much</a:t>
                      </a:r>
                      <a:r>
                        <a:rPr lang="zh-CN" altLang="en-US" sz="1815" kern="0" dirty="0" smtClean="0">
                          <a:solidFill>
                            <a:srgbClr val="000000"/>
                          </a:solidFill>
                          <a:latin typeface="Times New Roman" panose="02020603050405020304" pitchFamily="65" charset="-122"/>
                          <a:ea typeface="宋体" panose="02010600030101010101" pitchFamily="2" charset="-122"/>
                        </a:rPr>
                        <a:t>.我很喜欢你们中的几个人。</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If you study hard</a:t>
                      </a:r>
                      <a:r>
                        <a:rPr lang="zh-CN" altLang="en-US" sz="1815" kern="0" dirty="0" smtClean="0">
                          <a:solidFill>
                            <a:srgbClr val="000000"/>
                          </a:solidFill>
                          <a:latin typeface="Times New Roman" panose="02020603050405020304" pitchFamily="65" charset="-122"/>
                          <a:ea typeface="宋体" panose="02010600030101010101" pitchFamily="2" charset="-122"/>
                        </a:rPr>
                        <a:t>, you will pass the exam.</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如果你努力学习,就会通过考试。</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goes to school </a:t>
                      </a:r>
                      <a:r>
                        <a:rPr lang="zh-CN" altLang="en-US" sz="1815" u="sng" kern="0" dirty="0" smtClean="0">
                          <a:solidFill>
                            <a:srgbClr val="000000"/>
                          </a:solidFill>
                          <a:latin typeface="Times New Roman" panose="02020603050405020304" pitchFamily="65" charset="-122"/>
                          <a:ea typeface="宋体" panose="02010600030101010101" pitchFamily="2" charset="-122"/>
                        </a:rPr>
                        <a:t>by bike</a:t>
                      </a:r>
                      <a:r>
                        <a:rPr lang="zh-CN" altLang="en-US" sz="1815" kern="0" dirty="0" smtClean="0">
                          <a:solidFill>
                            <a:srgbClr val="000000"/>
                          </a:solidFill>
                          <a:latin typeface="Times New Roman" panose="02020603050405020304" pitchFamily="65" charset="-122"/>
                          <a:ea typeface="宋体" panose="02010600030101010101" pitchFamily="2" charset="-122"/>
                        </a:rPr>
                        <a:t>.他骑自行车去上学。</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Though he is young</a:t>
                      </a:r>
                      <a:r>
                        <a:rPr lang="zh-CN" altLang="en-US" sz="1815" kern="0" dirty="0" smtClean="0">
                          <a:solidFill>
                            <a:srgbClr val="000000"/>
                          </a:solidFill>
                          <a:latin typeface="Times New Roman" panose="02020603050405020304" pitchFamily="65" charset="-122"/>
                          <a:ea typeface="宋体" panose="02010600030101010101" pitchFamily="2" charset="-122"/>
                        </a:rPr>
                        <a:t>, he can do it well.尽管他还年轻,但能把这件事做好。</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teacher came in, </a:t>
                      </a:r>
                      <a:r>
                        <a:rPr lang="zh-CN" altLang="en-US" sz="1815" u="sng" kern="0" dirty="0" smtClean="0">
                          <a:solidFill>
                            <a:srgbClr val="000000"/>
                          </a:solidFill>
                          <a:latin typeface="Times New Roman" panose="02020603050405020304" pitchFamily="65" charset="-122"/>
                          <a:ea typeface="宋体" panose="02010600030101010101" pitchFamily="2" charset="-122"/>
                        </a:rPr>
                        <a:t>with a book in his hand</a:t>
                      </a:r>
                      <a:r>
                        <a:rPr lang="zh-CN" altLang="en-US" sz="1815" kern="0" dirty="0" smtClean="0">
                          <a:solidFill>
                            <a:srgbClr val="000000"/>
                          </a:solidFill>
                          <a:latin typeface="Times New Roman" panose="02020603050405020304" pitchFamily="65" charset="-122"/>
                          <a:ea typeface="宋体" panose="02010600030101010101" pitchFamily="2" charset="-122"/>
                        </a:rPr>
                        <a:t>.老师进来了,手里拿着一本书。</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468000" y="1260000"/>
          <a:ext cx="11268075" cy="4123690"/>
        </p:xfrm>
        <a:graphic>
          <a:graphicData uri="http://schemas.openxmlformats.org/drawingml/2006/table">
            <a:tbl>
              <a:tblPr/>
              <a:tblGrid>
                <a:gridCol w="1641475"/>
                <a:gridCol w="4058920"/>
                <a:gridCol w="5567605"/>
              </a:tblGrid>
              <a:tr h="624840">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成分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示例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498624">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同位语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appositive)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同位语对其前面的词、短语或句子</a:t>
                      </a:r>
                      <a:br/>
                      <a:r>
                        <a:rPr lang="zh-CN" altLang="en-US" sz="1815" kern="0" dirty="0" smtClean="0">
                          <a:solidFill>
                            <a:srgbClr val="000000"/>
                          </a:solidFill>
                          <a:latin typeface="Times New Roman" panose="02020603050405020304" pitchFamily="65" charset="-122"/>
                          <a:ea typeface="宋体" panose="02010600030101010101" pitchFamily="2" charset="-122"/>
                        </a:rPr>
                        <a:t>作进一步补充说明或描述,并与其所</a:t>
                      </a:r>
                      <a:br/>
                      <a:r>
                        <a:rPr lang="zh-CN" altLang="en-US" sz="1815" kern="0" dirty="0" smtClean="0">
                          <a:solidFill>
                            <a:srgbClr val="000000"/>
                          </a:solidFill>
                          <a:latin typeface="Times New Roman" panose="02020603050405020304" pitchFamily="65" charset="-122"/>
                          <a:ea typeface="宋体" panose="02010600030101010101" pitchFamily="2" charset="-122"/>
                        </a:rPr>
                        <a:t>修饰成分在语法上处于同等地位。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We students</a:t>
                      </a:r>
                      <a:r>
                        <a:rPr lang="zh-CN" altLang="en-US" sz="1815" kern="0" dirty="0" smtClean="0">
                          <a:solidFill>
                            <a:srgbClr val="000000"/>
                          </a:solidFill>
                          <a:latin typeface="Times New Roman" panose="02020603050405020304" pitchFamily="65" charset="-122"/>
                          <a:ea typeface="宋体" panose="02010600030101010101" pitchFamily="2" charset="-122"/>
                        </a:rPr>
                        <a:t> should study hard.我们学生应该努力学习。(students是We的同位语)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There are </a:t>
                      </a:r>
                      <a:r>
                        <a:rPr lang="zh-CN" altLang="en-US" sz="1815" u="sng" kern="0" dirty="0" smtClean="0">
                          <a:solidFill>
                            <a:srgbClr val="000000"/>
                          </a:solidFill>
                          <a:latin typeface="Times New Roman" panose="02020603050405020304" pitchFamily="65" charset="-122"/>
                          <a:ea typeface="宋体" panose="02010600030101010101" pitchFamily="2" charset="-122"/>
                        </a:rPr>
                        <a:t>two kinds of charges: positive and negative</a:t>
                      </a:r>
                      <a:r>
                        <a:rPr lang="zh-CN" altLang="en-US" sz="1815" kern="0" dirty="0" smtClean="0">
                          <a:solidFill>
                            <a:srgbClr val="000000"/>
                          </a:solidFill>
                          <a:latin typeface="Times New Roman" panose="02020603050405020304" pitchFamily="65" charset="-122"/>
                          <a:ea typeface="宋体" panose="02010600030101010101" pitchFamily="2" charset="-122"/>
                        </a:rPr>
                        <a: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有两种电荷:正电荷和负电荷。(positive and negative是</a:t>
                      </a:r>
                      <a:r>
                        <a:rPr lang="en-US" altLang="zh-CN" sz="1815" kern="0" dirty="0" smtClean="0">
                          <a:solidFill>
                            <a:srgbClr val="000000"/>
                          </a:solidFill>
                          <a:latin typeface="Times New Roman" panose="02020603050405020304" pitchFamily="65" charset="-122"/>
                          <a:ea typeface="宋体" panose="02010600030101010101" pitchFamily="2" charset="-122"/>
                        </a:rPr>
                        <a:t>  </a:t>
                      </a:r>
                      <a:r>
                        <a:rPr lang="zh-CN" altLang="en-US" sz="1815" kern="0" dirty="0" smtClean="0">
                          <a:solidFill>
                            <a:srgbClr val="000000"/>
                          </a:solidFill>
                          <a:latin typeface="Times New Roman" panose="02020603050405020304" pitchFamily="65" charset="-122"/>
                          <a:ea typeface="宋体" panose="02010600030101010101" pitchFamily="2" charset="-122"/>
                        </a:rPr>
                        <a:t>two kinds of charges的同位语)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467941"/>
            <a:ext cx="11831400" cy="1702133"/>
          </a:xfrm>
          <a:prstGeom prst="rect">
            <a:avLst/>
          </a:prstGeom>
          <a:noFill/>
        </p:spPr>
        <p:txBody>
          <a:bodyPr wrap="square" lIns="0" tIns="0" rIns="0" bIns="0" rtlCol="0">
            <a:spAutoFit/>
          </a:bodyPr>
          <a:lstStyle/>
          <a:p>
            <a:pPr marL="0" indent="0" algn="ctr" eaLnBrk="0" latinLnBrk="1" hangingPunct="0">
              <a:lnSpc>
                <a:spcPct val="150000"/>
              </a:lnSpc>
              <a:spcBef>
                <a:spcPts val="145"/>
              </a:spcBef>
              <a:buNone/>
            </a:pPr>
            <a:r>
              <a:rPr lang="zh-CN" altLang="en-US" sz="2500" b="1" dirty="0">
                <a:solidFill>
                  <a:srgbClr val="953FA3"/>
                </a:solidFill>
                <a:latin typeface="微软雅黑" panose="020B0503020204020204" pitchFamily="34" charset="-122"/>
                <a:ea typeface="微软雅黑" panose="020B0503020204020204" pitchFamily="34" charset="-122"/>
              </a:rPr>
              <a:t>基本句型</a:t>
            </a:r>
            <a:endParaRPr lang="zh-CN" altLang="en-US" sz="2500" b="1" dirty="0">
              <a:solidFill>
                <a:srgbClr val="953FA3"/>
              </a:solidFill>
              <a:latin typeface="微软雅黑" panose="020B0503020204020204" pitchFamily="34"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基本句型一般是指英语句子中简单句的基本构成形式。该句型通常只有一个谓</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语(或并列谓语),是构成复杂英语句子的基础。以下为简单句的五种基本句型:</a:t>
            </a:r>
            <a:endParaRPr lang="zh-CN" altLang="en-US" dirty="0"/>
          </a:p>
        </p:txBody>
      </p:sp>
      <p:graphicFrame>
        <p:nvGraphicFramePr>
          <p:cNvPr id="3" name="表格 2"/>
          <p:cNvGraphicFramePr>
            <a:graphicFrameLocks noGrp="1"/>
          </p:cNvGraphicFramePr>
          <p:nvPr/>
        </p:nvGraphicFramePr>
        <p:xfrm>
          <a:off x="468000" y="2340149"/>
          <a:ext cx="11268000" cy="3592069"/>
        </p:xfrm>
        <a:graphic>
          <a:graphicData uri="http://schemas.openxmlformats.org/drawingml/2006/table">
            <a:tbl>
              <a:tblPr/>
              <a:tblGrid>
                <a:gridCol w="1583646"/>
                <a:gridCol w="3672408"/>
                <a:gridCol w="6011946"/>
              </a:tblGrid>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结构</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示例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主谓(SV)</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在这种句型中,句子的谓语动词可以</a:t>
                      </a:r>
                      <a:br>
                        <a:rPr dirty="0"/>
                      </a:br>
                      <a:r>
                        <a:rPr lang="zh-CN" altLang="en-US" sz="1815" kern="0" dirty="0" smtClean="0">
                          <a:solidFill>
                            <a:srgbClr val="000000"/>
                          </a:solidFill>
                          <a:latin typeface="Times New Roman" panose="02020603050405020304" pitchFamily="65" charset="-122"/>
                          <a:ea typeface="宋体" panose="02010600030101010101" pitchFamily="2" charset="-122"/>
                        </a:rPr>
                        <a:t>表达完整的意义,这类动词是不及物</a:t>
                      </a:r>
                      <a:br>
                        <a:rPr dirty="0"/>
                      </a:br>
                      <a:r>
                        <a:rPr lang="zh-CN" altLang="en-US" sz="1815" kern="0" dirty="0" smtClean="0">
                          <a:solidFill>
                            <a:srgbClr val="000000"/>
                          </a:solidFill>
                          <a:latin typeface="Times New Roman" panose="02020603050405020304" pitchFamily="65" charset="-122"/>
                          <a:ea typeface="宋体" panose="02010600030101010101" pitchFamily="2" charset="-122"/>
                        </a:rPr>
                        <a:t>动词,后面可以跟副词、介词短语</a:t>
                      </a:r>
                      <a:br>
                        <a:rPr dirty="0"/>
                      </a:br>
                      <a:r>
                        <a:rPr lang="zh-CN" altLang="en-US" sz="1815" kern="0" dirty="0" smtClean="0">
                          <a:solidFill>
                            <a:srgbClr val="000000"/>
                          </a:solidFill>
                          <a:latin typeface="Times New Roman" panose="02020603050405020304" pitchFamily="65" charset="-122"/>
                          <a:ea typeface="宋体" panose="02010600030101010101" pitchFamily="2" charset="-122"/>
                        </a:rPr>
                        <a:t>等。</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We all/breathe, eat and drink.我们都要呼吸、吃饭和饮水。</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pen/writes smoothly.这支笔书写流畅。</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They/talked for half an hour.他们谈了半个小时。</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主系表(SVP)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系动词后跟表语,形成“系表结</a:t>
                      </a:r>
                      <a:br/>
                      <a:r>
                        <a:rPr lang="zh-CN" altLang="en-US" sz="1815" kern="0" dirty="0" smtClean="0">
                          <a:solidFill>
                            <a:srgbClr val="000000"/>
                          </a:solidFill>
                          <a:latin typeface="Times New Roman" panose="02020603050405020304" pitchFamily="65" charset="-122"/>
                          <a:ea typeface="宋体" panose="02010600030101010101" pitchFamily="2" charset="-122"/>
                        </a:rPr>
                        <a:t>构”。</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This/is/an English-Chinese dictionary.这是本英汉词典。</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dinner/smells/good.晚餐闻起来味道不错。</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His face/turned/red.他的脸红了。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468000" y="1260000"/>
          <a:ext cx="11268075" cy="4425315"/>
        </p:xfrm>
        <a:graphic>
          <a:graphicData uri="http://schemas.openxmlformats.org/drawingml/2006/table">
            <a:tbl>
              <a:tblPr/>
              <a:tblGrid>
                <a:gridCol w="2639060"/>
                <a:gridCol w="3561080"/>
                <a:gridCol w="5067860"/>
              </a:tblGrid>
              <a:tr h="436880">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结构</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示例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r>
              <a:tr h="3917952">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主谓宾(SVO)</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这类句型的谓语通常是及物动词。</a:t>
                      </a:r>
                      <a:br/>
                      <a:r>
                        <a:rPr lang="zh-CN" altLang="en-US" sz="1815" kern="0" dirty="0" smtClean="0">
                          <a:solidFill>
                            <a:srgbClr val="000000"/>
                          </a:solidFill>
                          <a:latin typeface="Times New Roman" panose="02020603050405020304" pitchFamily="65" charset="-122"/>
                          <a:ea typeface="宋体" panose="02010600030101010101" pitchFamily="2" charset="-122"/>
                        </a:rPr>
                        <a:t>及物动词从语义上不能完整地叙述</a:t>
                      </a:r>
                      <a:br/>
                      <a:r>
                        <a:rPr lang="zh-CN" altLang="en-US" sz="1815" kern="0" dirty="0" smtClean="0">
                          <a:solidFill>
                            <a:srgbClr val="000000"/>
                          </a:solidFill>
                          <a:latin typeface="Times New Roman" panose="02020603050405020304" pitchFamily="65" charset="-122"/>
                          <a:ea typeface="宋体" panose="02010600030101010101" pitchFamily="2" charset="-122"/>
                        </a:rPr>
                        <a:t>“做什么”的过程,需要有自己的宾语来说明动作的承受者等客观事实并构成完整的意义。</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Who/knows/the answer?谁知道答案?</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She/smiled/her thanks.她微笑表示感谢。</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I/wonder/why he has not come.我想知道他为什么没来。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We/can't avoid/arguing with them.我们不能避免和他们争论。</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He/offered/to give me some help.他主动提出给我些帮助。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custDataLst>
              <p:tags r:id="rId1"/>
            </p:custDataLst>
          </p:nvPr>
        </p:nvGraphicFramePr>
        <p:xfrm>
          <a:off x="467995" y="1259840"/>
          <a:ext cx="11528425" cy="3406140"/>
        </p:xfrm>
        <a:graphic>
          <a:graphicData uri="http://schemas.openxmlformats.org/drawingml/2006/table">
            <a:tbl>
              <a:tblPr/>
              <a:tblGrid>
                <a:gridCol w="2172335"/>
                <a:gridCol w="3246755"/>
                <a:gridCol w="6109335"/>
              </a:tblGrid>
              <a:tr h="507365">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结构</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示例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r>
              <a:tr h="2898775">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主 谓 宾 宾</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(S V O O)</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“主语+及物动词+间接宾语+直接宾语”中的间接宾语通常是有生命的。这个句型可以改为“主语+及物动词+直接宾语+介词+间接宾语”。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They/awarded/Mary/first prize.他们把一等奖颁给了玛丽。</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They/awarded/first prize/to Mary.他们把一等奖颁给了玛丽。</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She/cooked/her friend/a delicious meal.</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她为她的朋友做了一顿美餐。</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She/cooked/a delicious meal/for her friend.</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她为她的朋友做了一顿美餐。</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custDataLst>
              <p:tags r:id="rId1"/>
            </p:custDataLst>
          </p:nvPr>
        </p:nvGraphicFramePr>
        <p:xfrm>
          <a:off x="539115" y="756285"/>
          <a:ext cx="11268075" cy="3545205"/>
        </p:xfrm>
        <a:graphic>
          <a:graphicData uri="http://schemas.openxmlformats.org/drawingml/2006/table">
            <a:tbl>
              <a:tblPr/>
              <a:tblGrid>
                <a:gridCol w="1663065"/>
                <a:gridCol w="3397885"/>
                <a:gridCol w="6207125"/>
              </a:tblGrid>
              <a:tr h="507365">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结构</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示例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r>
              <a:tr h="303784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主 谓 宾 宾补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(S V O C)</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有时一个动词带了宾语后,意义仍不完整,还需要一些词(组)或句子补充说明宾语的动作或所处的状态,这个补充说明宾语的成分是宾语补足语。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宾语与其补足语构成复合宾语。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He/counted/this experience/a part of his education.</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他把这一经历看作是他所受教育的一部分。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John/likes/his coffee/strong.约翰喜欢喝浓咖啡。</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His grandparents/have invited/him/for a meal on Sunday.他的祖父母邀请他周日到家中去吃顿饭。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head teacher/called on/the students/to help each other.</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校长呼吁学生们互相帮助。</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tags/tag1.xml><?xml version="1.0" encoding="utf-8"?>
<p:tagLst xmlns:p="http://schemas.openxmlformats.org/presentationml/2006/main">
  <p:tag name="TOP" val="205.7761"/>
  <p:tag name="LEFT" val="173.0257"/>
  <p:tag name="WIDTH" val="632.3657"/>
  <p:tag name="HEIGHT" val="116.325"/>
  <p:tag name="FONTSIZE" val="96"/>
  <p:tag name="MARGINBOTTOM" val="0"/>
  <p:tag name="MARGINLEFT" val="0"/>
  <p:tag name="MARGINRIGHT" val="0"/>
  <p:tag name="MARGINTOP" val="0"/>
  <p:tag name="LINERULEAFTER" val="0"/>
</p:tagLst>
</file>

<file path=ppt/tags/tag2.xml><?xml version="1.0" encoding="utf-8"?>
<p:tagLst xmlns:p="http://schemas.openxmlformats.org/presentationml/2006/main">
  <p:tag name="TABLE_ENDDRAG_ORIGIN_RECT" val="907*266"/>
  <p:tag name="TABLE_ENDDRAG_RECT" val="36*99*907*266"/>
</p:tagLst>
</file>

<file path=ppt/tags/tag3.xml><?xml version="1.0" encoding="utf-8"?>
<p:tagLst xmlns:p="http://schemas.openxmlformats.org/presentationml/2006/main">
  <p:tag name="TABLE_ENDDRAG_ORIGIN_RECT" val="887*274"/>
  <p:tag name="TABLE_ENDDRAG_RECT" val="42*59*887*274"/>
</p:tagLst>
</file>

<file path=ppt/theme/theme1.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20.xml"/></Relationships>
</file>

<file path=customXml/item1.xml><?xml version="1.0" encoding="utf-8"?>
<CustomerInfo>
  <UserName>Administrator</UserName>
  <CompanyName>微软中国</CompanyName>
  <MachineID>WS103</MachineID>
  <ToolID>ljRTAAAAKGU=</ToolID>
  <Data><![CDATA[bGpSVEFBQUFLR1U9]]></Data>
</CustomerInfo>
</file>

<file path=customXml/item2.xml><?xml version="1.0" encoding="utf-8"?>
<CustomerInfo>
  <UserName>Administrator</UserName>
  <CompanyName>微软中国</CompanyName>
  <MachineID>WS103</MachineID>
  <ToolID>ljRTAAAAKGU=</ToolID>
  <Data><![CDATA[bGpSVEFBQUFLR1U9]]></Data>
</CustomerInfo>
</file>

<file path=customXml/item3.xml><?xml version="1.0" encoding="utf-8"?>
<CustomerInfo>
  <UserName>Administrator</UserName>
  <CompanyName>微软中国</CompanyName>
  <MachineID>WS103</MachineID>
  <ToolID>ljRTAAAAKGU=</ToolID>
  <Data><![CDATA[bGpSVEFBQUFLR1U9]]></Data>
</CustomerInfo>
</file>

<file path=customXml/item4.xml><?xml version="1.0" encoding="utf-8"?>
<CustomerInfo>
  <UserName>Administrator</UserName>
  <CompanyName>微软中国</CompanyName>
  <MachineID>WS103</MachineID>
  <ToolID>ljRTAAAAKGU=</ToolID>
  <Data><![CDATA[bGpSVEFBQUFLR1U9]]></Data>
</CustomerInfo>
</file>

<file path=customXml/item5.xml><?xml version="1.0" encoding="utf-8"?>
<CustomerInfo>
  <UserName>Administrator</UserName>
  <CompanyName>微软中国</CompanyName>
  <MachineID>WS103</MachineID>
  <ToolID>ljRTAAAAKGU=</ToolID>
  <Data><![CDATA[bGpSVEFBQUFLR1U9]]></Data>
</CustomerInfo>
</file>

<file path=customXml/item6.xml><?xml version="1.0" encoding="utf-8"?>
<CustomerInfo>
  <UserName>Administrator</UserName>
  <CompanyName>微软中国</CompanyName>
  <MachineID>WS103</MachineID>
  <ToolID>ljRTAAAAKGU=</ToolID>
  <Data><![CDATA[bGpSVEFBQUFLR1U9]]></Data>
</CustomerInfo>
</file>

<file path=customXml/item7.xml><?xml version="1.0" encoding="utf-8"?>
<CustomerInfo>
  <UserName>Administrator</UserName>
  <CompanyName>微软中国</CompanyName>
  <MachineID>WS103</MachineID>
  <ToolID>ljRTAAAAKGU=</ToolID>
  <Data><![CDATA[bGpSVEFBQUFLR1U9]]></Data>
</CustomerInfo>
</file>

<file path=customXml/item8.xml><?xml version="1.0" encoding="utf-8"?>
<CustomerInfo>
  <UserName>Administrator</UserName>
  <CompanyName>微软中国</CompanyName>
  <MachineID>WS103</MachineID>
  <ToolID>ljRTAAAAKGU=</ToolID>
  <Data><![CDATA[bGpSVEFBQUFLR1U9]]></Data>
</CustomerInfo>
</file>

<file path=customXml/item9.xml><?xml version="1.0" encoding="utf-8"?>
<CustomerInfo>
  <UserName>Administrator</UserName>
  <CompanyName>微软中国</CompanyName>
  <MachineID>WS103</MachineID>
  <ToolID>ljRTAAAAKGU=</ToolID>
  <Data><![CDATA[bGpSVEFBQUFLR1U9]]></Data>
</CustomerInfo>
</file>

<file path=customXml/item10.xml><?xml version="1.0" encoding="utf-8"?>
<CustomerInfo>
  <UserName>Administrator</UserName>
  <CompanyName>微软中国</CompanyName>
  <MachineID>WS103</MachineID>
  <ToolID>ljRTAAAAKGU=</ToolID>
  <Data><![CDATA[bGpSVEFBQUFLR1U9]]></Data>
</CustomerInfo>
</file>

<file path=customXml/item11.xml><?xml version="1.0" encoding="utf-8"?>
<CustomerInfo>
  <UserName>Administrator</UserName>
  <CompanyName>微软中国</CompanyName>
  <MachineID>WS103</MachineID>
  <ToolID>ljRTAAAAKGU=</ToolID>
  <Data><![CDATA[bGpSVEFBQUFLR1U9]]></Data>
</CustomerInfo>
</file>

<file path=customXml/item12.xml><?xml version="1.0" encoding="utf-8"?>
<CustomerInfo>
  <UserName>Administrator</UserName>
  <CompanyName>微软中国</CompanyName>
  <MachineID>WS103</MachineID>
  <ToolID>ljRTAAAAKGU=</ToolID>
  <Data><![CDATA[bGpSVEFBQUFLR1U9]]></Data>
</CustomerInfo>
</file>

<file path=customXml/item13.xml><?xml version="1.0" encoding="utf-8"?>
<CustomerInfo>
  <UserName>Administrator</UserName>
  <CompanyName>微软中国</CompanyName>
  <MachineID>WS103</MachineID>
  <ToolID>ljRTAAAAKGU=</ToolID>
  <Data><![CDATA[bGpSVEFBQUFLR1U9]]></Data>
</CustomerInfo>
</file>

<file path=customXml/item14.xml><?xml version="1.0" encoding="utf-8"?>
<CustomerInfo>
  <UserName>Administrator</UserName>
  <CompanyName>微软中国</CompanyName>
  <MachineID>WS103</MachineID>
  <ToolID>ljRTAAAAKGU=</ToolID>
  <Data><![CDATA[bGpSVEFBQUFLR1U9]]></Data>
</CustomerInfo>
</file>

<file path=customXml/item15.xml><?xml version="1.0" encoding="utf-8"?>
<CustomerInfo>
  <UserName>Administrator</UserName>
  <CompanyName>微软中国</CompanyName>
  <MachineID>WS103</MachineID>
  <ToolID>ljRTAAAAKGU=</ToolID>
  <Data><![CDATA[bGpSVEFBQUFLR1U9]]></Data>
</CustomerInfo>
</file>

<file path=customXml/item16.xml><?xml version="1.0" encoding="utf-8"?>
<CustomerInfo>
  <UserName>Administrator</UserName>
  <CompanyName>微软中国</CompanyName>
  <MachineID>WS103</MachineID>
  <ToolID>ljRTAAAAKGU=</ToolID>
  <Data><![CDATA[bGpSVEFBQUFLR1U9]]></Data>
</CustomerInfo>
</file>

<file path=customXml/item17.xml><?xml version="1.0" encoding="utf-8"?>
<CustomerInfo>
  <UserName>Administrator</UserName>
  <CompanyName>微软中国</CompanyName>
  <MachineID>WS103</MachineID>
  <ToolID>ljRTAAAAKGU=</ToolID>
  <Data><![CDATA[bGpSVEFBQUFLR1U9]]></Data>
</CustomerInfo>
</file>

<file path=customXml/itemProps4.xml><?xml version="1.0" encoding="utf-8"?>
<ds:datastoreItem xmlns:ds="http://schemas.openxmlformats.org/officeDocument/2006/customXml" ds:itemID="{4D82BBCF-B060-47B8-A900-7C9172E60290}">
  <ds:schemaRefs/>
</ds:datastoreItem>
</file>

<file path=customXml/itemProps5.xml><?xml version="1.0" encoding="utf-8"?>
<ds:datastoreItem xmlns:ds="http://schemas.openxmlformats.org/officeDocument/2006/customXml" ds:itemID="{DC9120A3-5B36-4593-9FF1-2975D9D321FB}">
  <ds:schemaRefs/>
</ds:datastoreItem>
</file>

<file path=customXml/itemProps6.xml><?xml version="1.0" encoding="utf-8"?>
<ds:datastoreItem xmlns:ds="http://schemas.openxmlformats.org/officeDocument/2006/customXml" ds:itemID="{4E1279D4-7CF3-486E-9A17-42ABED8CE9DF}">
  <ds:schemaRefs/>
</ds:datastoreItem>
</file>

<file path=customXml/itemProps7.xml><?xml version="1.0" encoding="utf-8"?>
<ds:datastoreItem xmlns:ds="http://schemas.openxmlformats.org/officeDocument/2006/customXml" ds:itemID="{6D0592F0-8411-4A9F-9425-897BAF2B0129}">
  <ds:schemaRefs/>
</ds:datastoreItem>
</file>

<file path=customXml/itemProps8.xml><?xml version="1.0" encoding="utf-8"?>
<ds:datastoreItem xmlns:ds="http://schemas.openxmlformats.org/officeDocument/2006/customXml" ds:itemID="{D5D9C03F-A898-48F1-B221-F032B711B7CB}">
  <ds:schemaRefs/>
</ds:datastoreItem>
</file>

<file path=customXml/itemProps9.xml><?xml version="1.0" encoding="utf-8"?>
<ds:datastoreItem xmlns:ds="http://schemas.openxmlformats.org/officeDocument/2006/customXml" ds:itemID="{25A774C9-1037-499A-8AEA-4F8A9E3E1B4B}">
  <ds:schemaRefs/>
</ds:datastoreItem>
</file>

<file path=customXml/itemProps10.xml><?xml version="1.0" encoding="utf-8"?>
<ds:datastoreItem xmlns:ds="http://schemas.openxmlformats.org/officeDocument/2006/customXml" ds:itemID="{FBF00DBA-3927-4539-A770-3825976E081C}">
  <ds:schemaRefs/>
</ds:datastoreItem>
</file>

<file path=customXml/itemProps11.xml><?xml version="1.0" encoding="utf-8"?>
<ds:datastoreItem xmlns:ds="http://schemas.openxmlformats.org/officeDocument/2006/customXml" ds:itemID="{0123E3EF-79AA-491F-A039-CDE6EF988D2F}">
  <ds:schemaRefs/>
</ds:datastoreItem>
</file>

<file path=customXml/itemProps12.xml><?xml version="1.0" encoding="utf-8"?>
<ds:datastoreItem xmlns:ds="http://schemas.openxmlformats.org/officeDocument/2006/customXml" ds:itemID="{5976728B-2922-4E9E-8BC3-B32C46FC31AA}">
  <ds:schemaRefs/>
</ds:datastoreItem>
</file>

<file path=customXml/itemProps13.xml><?xml version="1.0" encoding="utf-8"?>
<ds:datastoreItem xmlns:ds="http://schemas.openxmlformats.org/officeDocument/2006/customXml" ds:itemID="{152BF69D-6F45-4032-BC4B-8C3588372D85}">
  <ds:schemaRefs/>
</ds:datastoreItem>
</file>

<file path=customXml/itemProps14.xml><?xml version="1.0" encoding="utf-8"?>
<ds:datastoreItem xmlns:ds="http://schemas.openxmlformats.org/officeDocument/2006/customXml" ds:itemID="{8D6C8C93-CF2A-4B78-9DB9-AE19AA6B70FD}">
  <ds:schemaRefs/>
</ds:datastoreItem>
</file>

<file path=customXml/itemProps15.xml><?xml version="1.0" encoding="utf-8"?>
<ds:datastoreItem xmlns:ds="http://schemas.openxmlformats.org/officeDocument/2006/customXml" ds:itemID="{9361CE42-72E2-4E1B-A225-6BDD06011E1F}">
  <ds:schemaRefs/>
</ds:datastoreItem>
</file>

<file path=customXml/itemProps16.xml><?xml version="1.0" encoding="utf-8"?>
<ds:datastoreItem xmlns:ds="http://schemas.openxmlformats.org/officeDocument/2006/customXml" ds:itemID="{35890FC9-F824-4F73-82A2-CE3EBC068CD1}">
  <ds:schemaRefs/>
</ds:datastoreItem>
</file>

<file path=customXml/itemProps17.xml><?xml version="1.0" encoding="utf-8"?>
<ds:datastoreItem xmlns:ds="http://schemas.openxmlformats.org/officeDocument/2006/customXml" ds:itemID="{78911376-F55B-4D10-A6CC-D9E4E0BB658C}">
  <ds:schemaRefs/>
</ds:datastoreItem>
</file>

<file path=customXml/itemProps18.xml><?xml version="1.0" encoding="utf-8"?>
<ds:datastoreItem xmlns:ds="http://schemas.openxmlformats.org/officeDocument/2006/customXml" ds:itemID="{ACC4F94B-BB21-4ABF-8A44-93A8FB1A3399}">
  <ds:schemaRefs/>
</ds:datastoreItem>
</file>

<file path=customXml/itemProps19.xml><?xml version="1.0" encoding="utf-8"?>
<ds:datastoreItem xmlns:ds="http://schemas.openxmlformats.org/officeDocument/2006/customXml" ds:itemID="{1E25D4CC-EEDF-4FCE-80EF-C89F41B58F4C}">
  <ds:schemaRefs/>
</ds:datastoreItem>
</file>

<file path=customXml/itemProps20.xml><?xml version="1.0" encoding="utf-8"?>
<ds:datastoreItem xmlns:ds="http://schemas.openxmlformats.org/officeDocument/2006/customXml" ds:itemID="{98FDE681-9DCE-431E-9441-DF59E49F8385}">
  <ds:schemaRefs/>
</ds:datastoreItem>
</file>

<file path=docProps/app.xml><?xml version="1.0" encoding="utf-8"?>
<Properties xmlns="http://schemas.openxmlformats.org/officeDocument/2006/extended-properties" xmlns:vt="http://schemas.openxmlformats.org/officeDocument/2006/docPropsVTypes">
  <Template>专题二　名词</Template>
  <TotalTime>0</TotalTime>
  <Words>5301</Words>
  <Application>WPS 演示</Application>
  <PresentationFormat>自定义</PresentationFormat>
  <Paragraphs>302</Paragraphs>
  <Slides>17</Slides>
  <Notes>15</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17</vt:i4>
      </vt:variant>
    </vt:vector>
  </HeadingPairs>
  <TitlesOfParts>
    <vt:vector size="33" baseType="lpstr">
      <vt:lpstr>Arial</vt:lpstr>
      <vt:lpstr>宋体</vt:lpstr>
      <vt:lpstr>Wingdings</vt:lpstr>
      <vt:lpstr>微软雅黑</vt:lpstr>
      <vt:lpstr>Times New Roman</vt:lpstr>
      <vt:lpstr>黑体</vt:lpstr>
      <vt:lpstr>Times New Roman</vt:lpstr>
      <vt:lpstr>思源宋体 CN</vt:lpstr>
      <vt:lpstr>庞门正道标题体</vt:lpstr>
      <vt:lpstr>Arial Unicode MS</vt:lpstr>
      <vt:lpstr>Calibri</vt:lpstr>
      <vt:lpstr>等线</vt:lpstr>
      <vt:lpstr>等线 Light</vt:lpstr>
      <vt:lpstr>2_自定义设计方案</vt:lpstr>
      <vt:lpstr>自定义设计方案</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封面标题</dc:title>
  <dc:creator/>
  <cp:lastModifiedBy>A0885</cp:lastModifiedBy>
  <cp:revision>25</cp:revision>
  <dcterms:created xsi:type="dcterms:W3CDTF">2025-06-07T07:31:43Z</dcterms:created>
  <dcterms:modified xsi:type="dcterms:W3CDTF">2025-06-07T07:55:13Z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63728C45FE6F4E6E96A6B4A91FCA4CAC_12</vt:lpwstr>
  </property>
  <property fmtid="{D5CDD505-2E9C-101B-9397-08002B2CF9AE}" pid="3" name="KSOProductBuildVer">
    <vt:lpwstr>2052-12.1.0.21171</vt:lpwstr>
  </property>
</Properties>
</file>