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8"/>
  </p:notesMasterIdLst>
  <p:sldIdLst>
    <p:sldId id="295" r:id="rId5"/>
    <p:sldId id="296" r:id="rId6"/>
    <p:sldId id="258" r:id="rId7"/>
    <p:sldId id="259" r:id="rId9"/>
    <p:sldId id="260" r:id="rId10"/>
    <p:sldId id="262" r:id="rId11"/>
    <p:sldId id="265" r:id="rId12"/>
    <p:sldId id="267" r:id="rId13"/>
    <p:sldId id="269" r:id="rId14"/>
    <p:sldId id="270" r:id="rId15"/>
    <p:sldId id="272" r:id="rId16"/>
    <p:sldId id="273" r:id="rId17"/>
    <p:sldId id="275" r:id="rId18"/>
    <p:sldId id="276" r:id="rId19"/>
    <p:sldId id="297" r:id="rId20"/>
    <p:sldId id="280" r:id="rId21"/>
    <p:sldId id="28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</p:sldIdLst>
  <p:sldSz cx="12167870" cy="684022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42" autoAdjust="0"/>
  </p:normalViewPr>
  <p:slideViewPr>
    <p:cSldViewPr showGuides="1">
      <p:cViewPr varScale="1">
        <p:scale>
          <a:sx n="88" d="100"/>
          <a:sy n="88" d="100"/>
        </p:scale>
        <p:origin x="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7" Type="http://schemas.openxmlformats.org/officeDocument/2006/relationships/customXml" Target="../customXml/item30.xml"/><Relationship Id="rId66" Type="http://schemas.openxmlformats.org/officeDocument/2006/relationships/customXml" Target="../customXml/item29.xml"/><Relationship Id="rId65" Type="http://schemas.openxmlformats.org/officeDocument/2006/relationships/customXml" Target="../customXml/item28.xml"/><Relationship Id="rId64" Type="http://schemas.openxmlformats.org/officeDocument/2006/relationships/customXml" Target="../customXml/item27.xml"/><Relationship Id="rId63" Type="http://schemas.openxmlformats.org/officeDocument/2006/relationships/customXml" Target="../customXml/item26.xml"/><Relationship Id="rId62" Type="http://schemas.openxmlformats.org/officeDocument/2006/relationships/customXml" Target="../customXml/item25.xml"/><Relationship Id="rId61" Type="http://schemas.openxmlformats.org/officeDocument/2006/relationships/customXml" Target="../customXml/item24.xml"/><Relationship Id="rId60" Type="http://schemas.openxmlformats.org/officeDocument/2006/relationships/customXml" Target="../customXml/item23.xml"/><Relationship Id="rId6" Type="http://schemas.openxmlformats.org/officeDocument/2006/relationships/slide" Target="slides/slide2.xml"/><Relationship Id="rId59" Type="http://schemas.openxmlformats.org/officeDocument/2006/relationships/customXml" Target="../customXml/item22.xml"/><Relationship Id="rId58" Type="http://schemas.openxmlformats.org/officeDocument/2006/relationships/customXml" Target="../customXml/item21.xml"/><Relationship Id="rId57" Type="http://schemas.openxmlformats.org/officeDocument/2006/relationships/customXml" Target="../customXml/item20.xml"/><Relationship Id="rId56" Type="http://schemas.openxmlformats.org/officeDocument/2006/relationships/customXml" Target="../customXml/item19.xml"/><Relationship Id="rId55" Type="http://schemas.openxmlformats.org/officeDocument/2006/relationships/customXml" Target="../customXml/item18.xml"/><Relationship Id="rId54" Type="http://schemas.openxmlformats.org/officeDocument/2006/relationships/customXml" Target="../customXml/item17.xml"/><Relationship Id="rId53" Type="http://schemas.openxmlformats.org/officeDocument/2006/relationships/customXml" Target="../customXml/item16.xml"/><Relationship Id="rId52" Type="http://schemas.openxmlformats.org/officeDocument/2006/relationships/customXml" Target="../customXml/item15.xml"/><Relationship Id="rId51" Type="http://schemas.openxmlformats.org/officeDocument/2006/relationships/customXml" Target="../customXml/item14.xml"/><Relationship Id="rId50" Type="http://schemas.openxmlformats.org/officeDocument/2006/relationships/customXml" Target="../customXml/item13.xml"/><Relationship Id="rId5" Type="http://schemas.openxmlformats.org/officeDocument/2006/relationships/slide" Target="slides/slide1.xml"/><Relationship Id="rId49" Type="http://schemas.openxmlformats.org/officeDocument/2006/relationships/customXml" Target="../customXml/item12.xml"/><Relationship Id="rId48" Type="http://schemas.openxmlformats.org/officeDocument/2006/relationships/customXml" Target="../customXml/item11.xml"/><Relationship Id="rId47" Type="http://schemas.openxmlformats.org/officeDocument/2006/relationships/customXml" Target="../customXml/item10.xml"/><Relationship Id="rId46" Type="http://schemas.openxmlformats.org/officeDocument/2006/relationships/customXml" Target="../customXml/item9.xml"/><Relationship Id="rId45" Type="http://schemas.openxmlformats.org/officeDocument/2006/relationships/customXml" Target="../customXml/item8.xml"/><Relationship Id="rId44" Type="http://schemas.openxmlformats.org/officeDocument/2006/relationships/customXml" Target="../customXml/item7.xml"/><Relationship Id="rId43" Type="http://schemas.openxmlformats.org/officeDocument/2006/relationships/customXml" Target="../customXml/item6.xml"/><Relationship Id="rId42" Type="http://schemas.openxmlformats.org/officeDocument/2006/relationships/customXml" Target="../customXml/item5.xml"/><Relationship Id="rId41" Type="http://schemas.openxmlformats.org/officeDocument/2006/relationships/customXml" Target="../customXml/item4.xml"/><Relationship Id="rId40" Type="http://schemas.openxmlformats.org/officeDocument/2006/relationships/customXml" Target="../customXml/item3.xml"/><Relationship Id="rId4" Type="http://schemas.openxmlformats.org/officeDocument/2006/relationships/slideMaster" Target="slideMasters/slideMaster3.xml"/><Relationship Id="rId39" Type="http://schemas.openxmlformats.org/officeDocument/2006/relationships/customXml" Target="../customXml/item2.xml"/><Relationship Id="rId38" Type="http://schemas.openxmlformats.org/officeDocument/2006/relationships/customXml" Target="../customXml/item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E16A1-CD54-44AD-AAEF-7C0100267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C518D-AE7E-41F4-BDAF-13DD522B5C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A9AE-DFF2-479B-AF37-FAA367F55B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35AA-09F9-4C1A-89F2-CB34E0111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终止 1"/>
          <p:cNvSpPr/>
          <p:nvPr userDrawn="1"/>
        </p:nvSpPr>
        <p:spPr>
          <a:xfrm>
            <a:off x="10914711" y="53924"/>
            <a:ext cx="864096" cy="288032"/>
          </a:xfrm>
          <a:prstGeom prst="flowChartTerminator">
            <a:avLst/>
          </a:prstGeom>
          <a:gradFill>
            <a:gsLst>
              <a:gs pos="84000">
                <a:schemeClr val="accent4"/>
              </a:gs>
              <a:gs pos="0">
                <a:srgbClr val="DE21F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hlinkClick r:id="rId2" action="ppaction://hlinksldjump"/>
          </p:cNvPr>
          <p:cNvSpPr txBox="1"/>
          <p:nvPr userDrawn="1"/>
        </p:nvSpPr>
        <p:spPr>
          <a:xfrm>
            <a:off x="11054096" y="44051"/>
            <a:ext cx="601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燕尾形 3"/>
          <p:cNvSpPr/>
          <p:nvPr userDrawn="1"/>
        </p:nvSpPr>
        <p:spPr>
          <a:xfrm>
            <a:off x="11634791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燕尾形 4"/>
          <p:cNvSpPr/>
          <p:nvPr userDrawn="1"/>
        </p:nvSpPr>
        <p:spPr>
          <a:xfrm rot="10800000">
            <a:off x="10986719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0" y="-1"/>
            <a:ext cx="12170277" cy="6847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2168188" cy="395878"/>
          </a:xfrm>
          <a:prstGeom prst="rect">
            <a:avLst/>
          </a:prstGeom>
          <a:solidFill>
            <a:srgbClr val="953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iming>
    <p:tnLst>
      <p:par>
        <p:cTn id="1" dur="indefinite" restart="never" nodeType="tmRoot"/>
      </p:par>
    </p:tnLst>
  </p:timing>
  <p:txStyles>
    <p:titleStyle>
      <a:lvl1pPr algn="l" defTabSz="911860" rtl="0" eaLnBrk="1" latinLnBrk="0" hangingPunct="1">
        <a:lnSpc>
          <a:spcPct val="90000"/>
        </a:lnSpc>
        <a:spcBef>
          <a:spcPct val="0"/>
        </a:spcBef>
        <a:buNone/>
        <a:defRPr sz="4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18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046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39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32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74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67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8188" cy="68466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" Target="slide15.xml"/><Relationship Id="rId7" Type="http://schemas.openxmlformats.org/officeDocument/2006/relationships/slide" Target="slide14.xml"/><Relationship Id="rId6" Type="http://schemas.openxmlformats.org/officeDocument/2006/relationships/slide" Target="slide13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3" Type="http://schemas.openxmlformats.org/officeDocument/2006/relationships/slide" Target="slide9.xml"/><Relationship Id="rId2" Type="http://schemas.openxmlformats.org/officeDocument/2006/relationships/slide" Target="slide4.xml"/><Relationship Id="rId11" Type="http://schemas.openxmlformats.org/officeDocument/2006/relationships/slideLayout" Target="../slideLayouts/slideLayout4.xml"/><Relationship Id="rId10" Type="http://schemas.openxmlformats.org/officeDocument/2006/relationships/slide" Target="slide18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211886" y="1835914"/>
            <a:ext cx="7702619" cy="12963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860">
              <a:defRPr/>
            </a:pPr>
            <a:endParaRPr lang="en-US" altLang="zh-CN" sz="4000" b="1" kern="0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defTabSz="911860">
              <a:defRPr/>
            </a:pP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9970770" y="4643755"/>
            <a:ext cx="2041525" cy="7169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高考英语</a:t>
            </a:r>
            <a:endParaRPr lang="zh-CN" altLang="en-US" sz="32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连接符 2"/>
          <p:cNvCxnSpPr/>
          <p:nvPr/>
        </p:nvCxnSpPr>
        <p:spPr bwMode="auto">
          <a:xfrm>
            <a:off x="10114124" y="5291987"/>
            <a:ext cx="1584325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9970770" y="5360670"/>
            <a:ext cx="1943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北京市专用</a:t>
            </a:r>
            <a:endParaRPr lang="zh-CN" altLang="en-US" sz="2400" b="1" spc="15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50460" y="2425700"/>
            <a:ext cx="62255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zh-CN" altLang="en-US" sz="4000" b="1" kern="0" noProof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专题二  名词</a:t>
            </a: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5334" y="1094842"/>
            <a:ext cx="11348051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体系透视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359" y="1653315"/>
            <a:ext cx="4536631" cy="2701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重难透析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hlinkClick r:id="rId2" action="ppaction://hlinksldjump"/>
            </a:endParaRPr>
          </a:p>
          <a:p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１</a:t>
            </a: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. 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可数名词的单数变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复数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２</a:t>
            </a: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. 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不可数名词的重点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用法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３</a:t>
            </a: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. 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表示名词的量的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短语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４</a:t>
            </a: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. 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抽象名词的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具体化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５</a:t>
            </a: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. 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物质名词的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具体化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６</a:t>
            </a: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. 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名词作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定语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8" action="ppaction://hlinksldjump"/>
              </a:rPr>
              <a:t>７</a:t>
            </a: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8" action="ppaction://hlinksldjump"/>
              </a:rPr>
              <a:t>. 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8" action="ppaction://hlinksldjump"/>
              </a:rPr>
              <a:t>常考的名词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8" action="ppaction://hlinksldjump"/>
              </a:rPr>
              <a:t>后缀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1118" y="567385"/>
            <a:ext cx="2207762" cy="52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7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402720" y="1061875"/>
            <a:ext cx="11054641" cy="0"/>
          </a:xfrm>
          <a:prstGeom prst="line">
            <a:avLst/>
          </a:prstGeom>
          <a:ln>
            <a:solidFill>
              <a:srgbClr val="9E27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8" y="1082972"/>
            <a:ext cx="702565" cy="647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7" y="1691950"/>
            <a:ext cx="702565" cy="6471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63759" y="4483967"/>
            <a:ext cx="4536631" cy="39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0" action="ppaction://hlinksldjump"/>
              </a:rPr>
              <a:t>考点针对练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37" y="4395008"/>
            <a:ext cx="702565" cy="64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20419" y="577507"/>
            <a:ext cx="2574914" cy="461665"/>
            <a:chOff x="251133" y="167422"/>
            <a:chExt cx="3959943" cy="709990"/>
          </a:xfrm>
        </p:grpSpPr>
        <p:grpSp>
          <p:nvGrpSpPr>
            <p:cNvPr id="5" name="组合 4"/>
            <p:cNvGrpSpPr/>
            <p:nvPr/>
          </p:nvGrpSpPr>
          <p:grpSpPr>
            <a:xfrm>
              <a:off x="251133" y="272306"/>
              <a:ext cx="708622" cy="593558"/>
              <a:chOff x="154881" y="272716"/>
              <a:chExt cx="708622" cy="593558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66198" y="272716"/>
                <a:ext cx="497305" cy="497306"/>
                <a:chOff x="366198" y="272716"/>
                <a:chExt cx="497305" cy="497306"/>
              </a:xfrm>
            </p:grpSpPr>
            <p:sp>
              <p:nvSpPr>
                <p:cNvPr id="9" name="椭圆 8"/>
                <p:cNvSpPr/>
                <p:nvPr/>
              </p:nvSpPr>
              <p:spPr>
                <a:xfrm>
                  <a:off x="366198" y="272716"/>
                  <a:ext cx="497305" cy="497306"/>
                </a:xfrm>
                <a:prstGeom prst="ellipse">
                  <a:avLst/>
                </a:prstGeom>
                <a:solidFill>
                  <a:srgbClr val="953FA3">
                    <a:alpha val="53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437002" y="343520"/>
                  <a:ext cx="355696" cy="35569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</p:grpSp>
          <p:sp>
            <p:nvSpPr>
              <p:cNvPr id="8" name="椭圆 7"/>
              <p:cNvSpPr/>
              <p:nvPr/>
            </p:nvSpPr>
            <p:spPr>
              <a:xfrm flipH="1">
                <a:off x="154881" y="640300"/>
                <a:ext cx="225973" cy="225974"/>
              </a:xfrm>
              <a:prstGeom prst="ellipse">
                <a:avLst/>
              </a:prstGeom>
              <a:solidFill>
                <a:srgbClr val="953F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578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015903" y="167422"/>
              <a:ext cx="3195173" cy="709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4400">
                  <a:gradFill flip="none" rotWithShape="1">
                    <a:gsLst>
                      <a:gs pos="0">
                        <a:srgbClr val="F0E4B7"/>
                      </a:gs>
                      <a:gs pos="100000">
                        <a:srgbClr val="E7D48D"/>
                      </a:gs>
                    </a:gsLst>
                    <a:lin ang="54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体系透视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188085"/>
            <a:ext cx="677227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553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1.可数名词的单数变复数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(1)规则变化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20419" y="577507"/>
            <a:ext cx="2574914" cy="461665"/>
            <a:chOff x="251133" y="167422"/>
            <a:chExt cx="3959943" cy="709990"/>
          </a:xfrm>
        </p:grpSpPr>
        <p:grpSp>
          <p:nvGrpSpPr>
            <p:cNvPr id="4" name="组合 3"/>
            <p:cNvGrpSpPr/>
            <p:nvPr/>
          </p:nvGrpSpPr>
          <p:grpSpPr>
            <a:xfrm>
              <a:off x="251133" y="272306"/>
              <a:ext cx="708622" cy="593558"/>
              <a:chOff x="154881" y="272716"/>
              <a:chExt cx="708622" cy="593558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66198" y="272716"/>
                <a:ext cx="497305" cy="497306"/>
                <a:chOff x="366198" y="272716"/>
                <a:chExt cx="497305" cy="497306"/>
              </a:xfrm>
            </p:grpSpPr>
            <p:sp>
              <p:nvSpPr>
                <p:cNvPr id="8" name="椭圆 7"/>
                <p:cNvSpPr/>
                <p:nvPr/>
              </p:nvSpPr>
              <p:spPr>
                <a:xfrm>
                  <a:off x="366198" y="272716"/>
                  <a:ext cx="497305" cy="497306"/>
                </a:xfrm>
                <a:prstGeom prst="ellipse">
                  <a:avLst/>
                </a:prstGeom>
                <a:solidFill>
                  <a:srgbClr val="953FA3">
                    <a:alpha val="53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437002" y="343520"/>
                  <a:ext cx="355696" cy="35569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</p:grpSp>
          <p:sp>
            <p:nvSpPr>
              <p:cNvPr id="7" name="椭圆 6"/>
              <p:cNvSpPr/>
              <p:nvPr/>
            </p:nvSpPr>
            <p:spPr>
              <a:xfrm flipH="1">
                <a:off x="154881" y="640300"/>
                <a:ext cx="225973" cy="225974"/>
              </a:xfrm>
              <a:prstGeom prst="ellipse">
                <a:avLst/>
              </a:prstGeom>
              <a:solidFill>
                <a:srgbClr val="953F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578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1015903" y="167422"/>
              <a:ext cx="3195173" cy="709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4400">
                  <a:gradFill flip="none" rotWithShape="1">
                    <a:gsLst>
                      <a:gs pos="0">
                        <a:srgbClr val="F0E4B7"/>
                      </a:gs>
                      <a:gs pos="100000">
                        <a:srgbClr val="E7D48D"/>
                      </a:gs>
                    </a:gsLst>
                    <a:lin ang="54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重难透析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7995" y="2268220"/>
          <a:ext cx="11268075" cy="2505710"/>
        </p:xfrm>
        <a:graphic>
          <a:graphicData uri="http://schemas.openxmlformats.org/drawingml/2006/table">
            <a:tbl>
              <a:tblPr/>
              <a:tblGrid>
                <a:gridCol w="2248535"/>
                <a:gridCol w="2945765"/>
                <a:gridCol w="6073775"/>
              </a:tblGrid>
              <a:tr h="50736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情况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构成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1275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一般情况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熟人acquaintance→acquaintances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学生student→students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829310">
                <a:tc rowSpan="2"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以-s、-x、-ch、-sh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等结尾的词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方法approach→approaches　　　　 碰撞crash→crashes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病毒virus→viruses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箱子box→boxes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7690"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如果词尾的-ch发/k/音,加-s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胃stomach→stomachs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  <p:graphicFrame>
        <p:nvGraphicFramePr>
          <p:cNvPr id="11" name="表格 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995" y="4773930"/>
          <a:ext cx="11268075" cy="923290"/>
        </p:xfrm>
        <a:graphic>
          <a:graphicData uri="http://schemas.openxmlformats.org/drawingml/2006/table">
            <a:tbl>
              <a:tblPr/>
              <a:tblGrid>
                <a:gridCol w="2247900"/>
                <a:gridCol w="2945765"/>
                <a:gridCol w="6074410"/>
              </a:tblGrid>
              <a:tr h="88519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以辅音字母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加-y结尾的词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将y变为i加-es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发现discovery→discoveries　　　    设施facility→facilities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21645" y="755973"/>
          <a:ext cx="11314430" cy="4190365"/>
        </p:xfrm>
        <a:graphic>
          <a:graphicData uri="http://schemas.openxmlformats.org/drawingml/2006/table">
            <a:tbl>
              <a:tblPr/>
              <a:tblGrid>
                <a:gridCol w="1898650"/>
                <a:gridCol w="2418715"/>
                <a:gridCol w="6996990"/>
              </a:tblGrid>
              <a:tr h="32893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情况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构成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69977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以元音字母加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-y结尾的词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在词尾直接加-s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假期holiday→holidays　　　　　　 猴子monkey→monkeys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445135">
                <a:tc rowSpan="3"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以-o结尾的词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工作室studio→studios　　　　　    照片photo→photos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11175"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英雄hero→heroes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西红柿tomato→tomatoes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21335"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加-s或-es均可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座右铭motto→mottos/mottoes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火山volcano→volcanos/volcanoes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614680">
                <a:tc rowSpan="2"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以-f或-fe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将f或fe变为v加-es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刀knife→knives　　　　　　　　 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小偷thief→thieves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605155">
                <a:tc vMerge="1">
                  <a:tcPr marL="45720" marR="4572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屋顶roof→roofs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信仰belief→beliefs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467941"/>
            <a:ext cx="11831400" cy="4893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(2)不规则变化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188021"/>
          <a:ext cx="11268000" cy="4604387"/>
        </p:xfrm>
        <a:graphic>
          <a:graphicData uri="http://schemas.openxmlformats.org/drawingml/2006/table">
            <a:tbl>
              <a:tblPr/>
              <a:tblGrid>
                <a:gridCol w="1799670"/>
                <a:gridCol w="9468330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变化方式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单复数同形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鹿deer　　　　　绵羊sheep　　　　　方式means　    　　　飞机aircraft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工厂works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系列series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物种species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头数head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中国人Chinese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日本人Japanese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瑞士人Swiss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变内部元音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脚;英尺foot→feet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牙齿tooth→teeth　　　鹅goose→geese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老鼠mouse→mice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男人man→men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女人woman→women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词尾加-ren/-en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孩子child→children　　　公牛ox→oxen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特殊名词变化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危机crisis→crises　　　　基础basis→bases　　　分析analysis→analyses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数据datum→data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细菌bacterium→bacteria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校友alumnus→alumni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标准criterion→criteria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现象phenomenon→phenomena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893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(3)复合名词的复数形式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332037"/>
          <a:ext cx="11268000" cy="3091968"/>
        </p:xfrm>
        <a:graphic>
          <a:graphicData uri="http://schemas.openxmlformats.org/drawingml/2006/table">
            <a:tbl>
              <a:tblPr/>
              <a:tblGrid>
                <a:gridCol w="5634000"/>
                <a:gridCol w="5634000"/>
              </a:tblGrid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变化方式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在主体名词后加-s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路人passer-by→passers-by　　　　　</a:t>
                      </a:r>
                      <a:endParaRPr lang="en-US" altLang="zh-CN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旁观者looker-on→lookers-on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无主体名词时,通常在最后一个词后加-s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成年人grown-up→grown-ups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名词前有man/woman修饰时,man/woman及其修饰的名</a:t>
                      </a:r>
                      <a:br/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词都要变为复数形式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女医生woman doctor→women doctors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男教师man teacher→men teachers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893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(4)复数形式具有特殊意义的名词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408454"/>
          <a:ext cx="11268000" cy="3379967"/>
        </p:xfrm>
        <a:graphic>
          <a:graphicData uri="http://schemas.openxmlformats.org/drawingml/2006/table">
            <a:tbl>
              <a:tblPr/>
              <a:tblGrid>
                <a:gridCol w="5634000"/>
                <a:gridCol w="5634000"/>
              </a:tblGrid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单数形式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复数形式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custom风俗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customs海关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good好处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goods货物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manner态度;方式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manners礼貌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spirit精神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spirits情绪;心境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water水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waters水域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864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2.不可数名词的重点用法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英语中,常见不可数名词有fun、furniture、luggage、information、progress、ad-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vice、air、knowledge、news、equipment、work、homework和housework等。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13735" kern="0" spc="37416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 </a:t>
            </a:r>
            <a:endParaRPr lang="zh-CN" altLang="en-US" dirty="0"/>
          </a:p>
        </p:txBody>
      </p:sp>
      <p:pic>
        <p:nvPicPr>
          <p:cNvPr id="3" name="图片 3" descr="text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188" y="2484165"/>
            <a:ext cx="649605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422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3.表示名词的量的短语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361837"/>
          <a:ext cx="11268000" cy="3786624"/>
        </p:xfrm>
        <a:graphic>
          <a:graphicData uri="http://schemas.openxmlformats.org/drawingml/2006/table">
            <a:tbl>
              <a:tblPr/>
              <a:tblGrid>
                <a:gridCol w="5634000"/>
                <a:gridCol w="5634000"/>
              </a:tblGrid>
              <a:tr h="1401984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只能修饰可数名词复数的短语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 good/great many...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 (great/large) number of...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scores/dozens/hundreds/thousands/millions of...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只能修饰不可数名词的短语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 great deal of/a bit 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an amount 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1401984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既能修饰可数名词复数又能修饰不可数名词的短语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plenty of/a lot 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 variety of/varieties 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 quantity of/quantities 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681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4.抽象名词的具体化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具有某种特性、状态、情感的抽象名词在表示具体的概念时,可以与不定冠词连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用,常考的有: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2395507"/>
          <a:ext cx="11268000" cy="3379966"/>
        </p:xfrm>
        <a:graphic>
          <a:graphicData uri="http://schemas.openxmlformats.org/drawingml/2006/table">
            <a:tbl>
              <a:tblPr/>
              <a:tblGrid>
                <a:gridCol w="3756000"/>
                <a:gridCol w="3756000"/>
                <a:gridCol w="3756000"/>
              </a:tblGrid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单词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抽象名词意义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具体化名词意义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success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成功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成功的人或事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pleasure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乐趣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令人高兴的事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beauty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美;美丽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美丽的人或事物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comfort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安慰;慰藉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令人感到安慰的人或事物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danger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危险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危险的人或因素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734913"/>
          <a:ext cx="11268075" cy="3380105"/>
        </p:xfrm>
        <a:graphic>
          <a:graphicData uri="http://schemas.openxmlformats.org/drawingml/2006/table">
            <a:tbl>
              <a:tblPr/>
              <a:tblGrid>
                <a:gridCol w="3756000"/>
                <a:gridCol w="3756000"/>
                <a:gridCol w="3756000"/>
              </a:tblGrid>
              <a:tr h="563327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单词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抽象名词意义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具体化名词意义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delight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高兴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令人高兴的事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failure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失败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失败的人或事物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surprise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惊奇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令人惊奇的事(或消息)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shock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震惊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令人震惊的事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7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honour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尊敬;尊重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引起尊敬的人或事物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107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Your contribution will certainly make the event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 huge success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 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你们的贡献一定会使这次活动获得巨大成功。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 danger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foreseen is half avoided.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隐患能预见,危险去一半。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5.物质名词的具体化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drink饮料→two drinks两杯饮料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coffee咖啡→a coffee一杯咖啡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cake蛋糕→a cake一块蛋糕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paper纸张→a paper一份报纸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88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Being able to afford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 drink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would be a comfort in those tough times.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在那些艰难的日子里,能够买得起一杯饮料是件令人宽慰的事。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6.名词作定语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一般来说,当表示中心名词的性质、材料、类别或性别等时,常用名词作定语。大多数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名词作定语时使用单数形式,但clothes、goods、sports、sales等名词作定语时要用复数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形式。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country life乡村生活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                                                     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news reporters新闻记者</a:t>
            </a:r>
            <a:endParaRPr lang="zh-CN" altLang="en-US" dirty="0"/>
          </a:p>
          <a:p>
            <a:pPr marL="0" indent="0" algn="l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research work研究工作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                                                 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  <a:sym typeface="+mn-ea"/>
              </a:rPr>
              <a:t>customs officers海关官员</a:t>
            </a:r>
            <a:endParaRPr lang="zh-CN" altLang="en-US" dirty="0"/>
          </a:p>
          <a:p>
            <a:pPr marL="0" indent="0" algn="l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  <a:sym typeface="+mn-ea"/>
              </a:rPr>
              <a:t>glasses stores眼镜店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  <a:sym typeface="+mn-ea"/>
              </a:rPr>
              <a:t>                                                        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  <a:sym typeface="+mn-ea"/>
              </a:rPr>
              <a:t>savings banks储蓄银行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en-US" altLang="zh-CN" sz="2410" kern="0" dirty="0" smtClean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540050"/>
            <a:ext cx="11831400" cy="497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7.常考的名词后缀</a:t>
            </a:r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7995" y="1115695"/>
          <a:ext cx="11268075" cy="6062345"/>
        </p:xfrm>
        <a:graphic>
          <a:graphicData uri="http://schemas.openxmlformats.org/drawingml/2006/table">
            <a:tbl>
              <a:tblPr/>
              <a:tblGrid>
                <a:gridCol w="2257425"/>
                <a:gridCol w="3105785"/>
                <a:gridCol w="5904865"/>
              </a:tblGrid>
              <a:tr h="31877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后缀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441325">
                <a:tc rowSpan="2"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-age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表示动作、结果或状态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marriage婚姻　　　shortage短缺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storage储藏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09245"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表示处所、地点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cottage村舍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orphanage孤儿院    passage走廊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0035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用于动词后,表示过程或状态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arrival到达　　　　proposal建议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revival复苏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25273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-ance/ence,-ancy/ency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表示性质或状态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performance表演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expectancy预料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tendency趋势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772795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-ar/er/or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表示人或物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liar说谎者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recorder录音机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visitor参观者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beggar乞丐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hunter猎人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inventor发明家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-cy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表示性质或状态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accuracy精确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privacy隐私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表示动作、过程或结果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gardening园艺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painting绘画　meeting会面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63119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-ion, -sion/(a)tion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表示行为或状态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expression表达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accommodation住处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application申请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impression印象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admission承认　determination决定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539691"/>
          <a:ext cx="11268075" cy="7419340"/>
        </p:xfrm>
        <a:graphic>
          <a:graphicData uri="http://schemas.openxmlformats.org/drawingml/2006/table">
            <a:tbl>
              <a:tblPr/>
              <a:tblGrid>
                <a:gridCol w="1692910"/>
                <a:gridCol w="3180080"/>
                <a:gridCol w="6395010"/>
              </a:tblGrid>
              <a:tr h="347345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后缀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4318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-ism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表示行为、结果或状态、品质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criticism批评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heroism英勇表现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realism现实主义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78422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表示从事某种职业或研究的人,某种主义者或信仰者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novelist小说家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socialist社会主义者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specialist专家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0322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表示(能)做某事的人或物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detective侦探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representative代表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1465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-ment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表示行为或结果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achievement成就　commitment保证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development发展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assessment评估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encouragement鼓舞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appointment约定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-ness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表示状态、性质或结果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awareness意识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loneliness孤独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-(i)ty,-ality/ility,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-ability/ibility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表示状态或行为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anxiety焦虑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stability稳定性　responsibility责任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7995" y="1259840"/>
          <a:ext cx="11268075" cy="2827020"/>
        </p:xfrm>
        <a:graphic>
          <a:graphicData uri="http://schemas.openxmlformats.org/drawingml/2006/table">
            <a:tbl>
              <a:tblPr/>
              <a:tblGrid>
                <a:gridCol w="694055"/>
                <a:gridCol w="2597150"/>
                <a:gridCol w="7976870"/>
              </a:tblGrid>
              <a:tr h="507365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后缀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07365">
                <a:tc rowSpan="2"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-ship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表示状态、性质、品质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friendship友谊　　 hardship艰苦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relationship关系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表示地位、资格、职位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championship冠军　leadership领导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membership会员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-th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表示性质、动作或过程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depth深度　　　　growth成长　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strength力量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79756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-ure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表示行为、过程或结果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exposure暴露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failure失败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pressure压力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341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program aims to help students develop science skills, environmental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______________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(aware), and healthy lifestyles.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设空处与skills以及lifestyles并列,共同作develop的宾语,应使用名词形式,意为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“意识”,是不可数名词,故填awareness。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5805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lang="en-US" altLang="zh-CN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awareness    </a:t>
            </a:r>
            <a:endParaRPr lang="zh-CN" altLang="en-US" sz="2400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003800" y="539750"/>
            <a:ext cx="2359025" cy="521970"/>
            <a:chOff x="2031546" y="5566398"/>
            <a:chExt cx="1693545" cy="521970"/>
          </a:xfrm>
        </p:grpSpPr>
        <p:sp>
          <p:nvSpPr>
            <p:cNvPr id="11" name="矩形 10"/>
            <p:cNvSpPr/>
            <p:nvPr/>
          </p:nvSpPr>
          <p:spPr>
            <a:xfrm>
              <a:off x="2102666" y="5566398"/>
              <a:ext cx="1622425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kern="0" dirty="0" smtClean="0">
                  <a:solidFill>
                    <a:srgbClr val="953FA3"/>
                  </a:solidFill>
                  <a:latin typeface="楷体" panose="02010609060101010101" charset="-122"/>
                  <a:ea typeface="楷体" panose="02010609060101010101" charset="-122"/>
                  <a:cs typeface="Times New Roman" panose="02020603050405020304" pitchFamily="18" charset="0"/>
                </a:rPr>
                <a:t>考点针对练</a:t>
              </a:r>
              <a:endParaRPr lang="zh-CN" altLang="en-US" sz="2800" b="1" kern="0" dirty="0" smtClean="0">
                <a:solidFill>
                  <a:srgbClr val="953FA3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 rot="12533546">
              <a:off x="2060935" y="5658963"/>
              <a:ext cx="75274" cy="302276"/>
              <a:chOff x="1835622" y="5914973"/>
              <a:chExt cx="72919" cy="284654"/>
            </a:xfrm>
          </p:grpSpPr>
          <p:sp>
            <p:nvSpPr>
              <p:cNvPr id="14" name="等腰三角形 13"/>
              <p:cNvSpPr/>
              <p:nvPr/>
            </p:nvSpPr>
            <p:spPr>
              <a:xfrm>
                <a:off x="1836533" y="5914973"/>
                <a:ext cx="72008" cy="71957"/>
              </a:xfrm>
              <a:prstGeom prst="triangle">
                <a:avLst>
                  <a:gd name="adj" fmla="val 50113"/>
                </a:avLst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835622" y="5986199"/>
                <a:ext cx="72008" cy="17037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835622" y="6156573"/>
                <a:ext cx="72008" cy="4305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任意多边形 12"/>
            <p:cNvSpPr/>
            <p:nvPr/>
          </p:nvSpPr>
          <p:spPr>
            <a:xfrm>
              <a:off x="2031546" y="5983061"/>
              <a:ext cx="1390650" cy="70757"/>
            </a:xfrm>
            <a:custGeom>
              <a:avLst/>
              <a:gdLst>
                <a:gd name="connsiteX0" fmla="*/ 0 w 1390650"/>
                <a:gd name="connsiteY0" fmla="*/ 57150 h 70757"/>
                <a:gd name="connsiteX1" fmla="*/ 360590 w 1390650"/>
                <a:gd name="connsiteY1" fmla="*/ 1360 h 70757"/>
                <a:gd name="connsiteX2" fmla="*/ 853168 w 1390650"/>
                <a:gd name="connsiteY2" fmla="*/ 70757 h 70757"/>
                <a:gd name="connsiteX3" fmla="*/ 1390650 w 1390650"/>
                <a:gd name="connsiteY3" fmla="*/ 0 h 7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0" h="70757">
                  <a:moveTo>
                    <a:pt x="0" y="57150"/>
                  </a:moveTo>
                  <a:cubicBezTo>
                    <a:pt x="109197" y="28121"/>
                    <a:pt x="218395" y="-908"/>
                    <a:pt x="360590" y="1360"/>
                  </a:cubicBezTo>
                  <a:cubicBezTo>
                    <a:pt x="502785" y="3628"/>
                    <a:pt x="681491" y="70984"/>
                    <a:pt x="853168" y="70757"/>
                  </a:cubicBezTo>
                  <a:cubicBezTo>
                    <a:pt x="1024845" y="70530"/>
                    <a:pt x="1291318" y="14968"/>
                    <a:pt x="1390650" y="0"/>
                  </a:cubicBezTo>
                </a:path>
              </a:pathLst>
            </a:custGeom>
            <a:noFill/>
            <a:ln>
              <a:solidFill>
                <a:srgbClr val="953FA3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2.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task John set for himself was to remove harmful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substance) from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some sludge(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污泥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).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substance在此处意为“物质”,是可数名词。空前没有限定成分,应使用复数形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式,故填substances。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9742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substances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3.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They also need to be ready to give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interview) in English with </a:t>
            </a: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interna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tional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journalists.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句意:他们也需准备好用英语接受国际记者的采访。interview是可数名词,前面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没有冠词或形容词性物主代词等限定,应使用复数形式。故填interviews。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5428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interviews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3440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4.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But for all its ancient buildings, Beijing is also a place that welcomes the fast-paced de-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velopment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of modern life, with 21st-century architectural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(wonder) standing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side by side with historical buildings of the past.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句意:除了它所有的那些古老建筑,北京也是一个乐意接纳现代生活快节奏发展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的地方,21世纪的建筑奇迹与过去的历史建筑并存。根据形容词architectural可知,设空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处需要填名词作介词with的宾语,wonder表示“奇迹,奇观”,是可数名词,此处表示21世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纪的众多建筑奇迹,故填wonders。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7365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wonders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7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5.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themes of traditional fables often deal with simple truths about everyday life. How-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ever, Carson's theme is a more weighty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warn) about environmental </a:t>
            </a: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destruc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tion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    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句意:传统寓言的主题通常涉及日常生活的简单事实。然而,Carson的主题是一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种更为沉重的对环境破坏的警告。根据设空处前面的a more weighty(冠词+形容词比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较级)和后面的介词about可以确定此空应该用名词。故填warning。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5115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warning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6.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 more technical terms, the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wise) of crowds requires that people's </a:t>
            </a: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esti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-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mates be independent.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设空处位于定冠词之后、介词之前,作句子的主语,应使用名词形式,意为“智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慧”,故填wisdom。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7641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wisdom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7.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 addition to the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remove) of all restrictions on foreign investment in the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manufacturing sector, China has also vowed to further shorten the negative list for foreign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investment this year.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设空处前有冠词the,所以这里应用名词。故填removal。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767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removal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8.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China has a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responsible) to work with other countries to promote the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healthy development of the tea industry.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句意:中国有责任与其他国家合作,促进茶产业的健康发展。设空处作动词has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的宾语,空前的冠词a提示设空处应填名词的单数形式。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7775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responsibility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9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9.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Cao and Wu also collected garbage along the road, in order to promote environmental </a:t>
            </a:r>
            <a:endParaRPr lang="en-US" altLang="zh-CN" sz="2410" kern="0" dirty="0" smtClean="0">
              <a:solidFill>
                <a:srgbClr val="000000"/>
              </a:solidFill>
              <a:latin typeface="Times New Roman" panose="02020603050405020304" pitchFamily="65" charset="-122"/>
              <a:ea typeface="楷体_GB2312" pitchFamily="65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protect).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设空处前的environmental为形容词,修饰名词,所以设空处应用动词protect的名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词形式protection,protection表示“保护”,为不可数名词。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00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    protection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10.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rolling sea of clouds you see once you are at the top will remind you how tiny we </a:t>
            </a:r>
            <a:br>
              <a:rPr lang="en-US" altLang="zh-CN" sz="2800" dirty="0"/>
            </a:b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human) are.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句意:一旦你站在山顶上,你看到的滚滚云海会提醒你,我们人类是多么渺小。设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空处作we的同位语,且设空处后的谓语动词是are,由此可知,设空处需填复数形式,故填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humans。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00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humans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11.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Rather than setting plans in stone, I've learned that sometimes I need to take the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</a:t>
            </a:r>
            <a:br>
              <a:rPr lang="en-US" altLang="zh-CN" sz="2800" dirty="0"/>
            </a:b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opportunity) that are offered, even if they don't sound perfect at the time, and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make the most of them.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设空处后的that引导定语从句,在从句中作主语,指代设空处内容。根据从句谓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语中的are可知,从句的主语应为复数形式,故填opportunities。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000" y="1198736"/>
            <a:ext cx="11831400" cy="4603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  <a:sym typeface="+mn-ea"/>
              </a:rPr>
              <a:t>op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portunities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59763" y="648000"/>
            <a:ext cx="11831400" cy="4603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8996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12.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As more and more foreigners start to study the Chinese language and experience Chi-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nese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culture, the world will have a better understanding of China and its rich history, its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hard-working people, its development through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innovate), and its inclusive-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ness.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句意:随着越来越多的外国人开始学习中文并体验中国文化,世界将更好地了解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中国及其丰富的历史、勤劳的人民、通过创新实现的发展以及包容性。设空处前是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介词through,后接名词作宾语,innovate 的名词形式是 innovation,意为“创新”。故填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innovation。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24275" y="1749471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innovation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tags/tag1.xml><?xml version="1.0" encoding="utf-8"?>
<p:tagLst xmlns:p="http://schemas.openxmlformats.org/presentationml/2006/main">
  <p:tag name="TABLE_ENDDRAG_ORIGIN_RECT" val="887*235"/>
  <p:tag name="TABLE_ENDDRAG_RECT" val="36*178*887*235"/>
</p:tagLst>
</file>

<file path=ppt/tags/tag2.xml><?xml version="1.0" encoding="utf-8"?>
<p:tagLst xmlns:p="http://schemas.openxmlformats.org/presentationml/2006/main">
  <p:tag name="TABLE_ENDDRAG_ORIGIN_RECT" val="887*42"/>
  <p:tag name="TABLE_ENDDRAG_RECT" val="36*432*887*42"/>
</p:tagLst>
</file>

<file path=ppt/tags/tag3.xml><?xml version="1.0" encoding="utf-8"?>
<p:tagLst xmlns:p="http://schemas.openxmlformats.org/presentationml/2006/main">
  <p:tag name="TABLE_ENDDRAG_ORIGIN_RECT" val="887*437"/>
  <p:tag name="TABLE_ENDDRAG_RECT" val="36*87*887*437"/>
</p:tagLst>
</file>

<file path=ppt/tags/tag4.xml><?xml version="1.0" encoding="utf-8"?>
<p:tagLst xmlns:p="http://schemas.openxmlformats.org/presentationml/2006/main">
  <p:tag name="TABLE_ENDDRAG_ORIGIN_RECT" val="887*160"/>
  <p:tag name="TABLE_ENDDRAG_RECT" val="36*99*887*160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item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Props5.xml><?xml version="1.0" encoding="utf-8"?>
<ds:datastoreItem xmlns:ds="http://schemas.openxmlformats.org/officeDocument/2006/customXml" ds:itemID="{BD2A01EC-9BE7-4F0C-9351-D5973099D431}">
  <ds:schemaRefs/>
</ds:datastoreItem>
</file>

<file path=customXml/itemProps6.xml><?xml version="1.0" encoding="utf-8"?>
<ds:datastoreItem xmlns:ds="http://schemas.openxmlformats.org/officeDocument/2006/customXml" ds:itemID="{A60FB51D-476E-4D96-BC77-C29324178149}">
  <ds:schemaRefs/>
</ds:datastoreItem>
</file>

<file path=customXml/itemProps7.xml><?xml version="1.0" encoding="utf-8"?>
<ds:datastoreItem xmlns:ds="http://schemas.openxmlformats.org/officeDocument/2006/customXml" ds:itemID="{00CB9B14-78BB-48A1-AABE-A3F026D92964}">
  <ds:schemaRefs/>
</ds:datastoreItem>
</file>

<file path=customXml/itemProps8.xml><?xml version="1.0" encoding="utf-8"?>
<ds:datastoreItem xmlns:ds="http://schemas.openxmlformats.org/officeDocument/2006/customXml" ds:itemID="{14BE8BCD-85ED-42F1-B9FF-CA22FE6E0A27}">
  <ds:schemaRefs/>
</ds:datastoreItem>
</file>

<file path=customXml/itemProps9.xml><?xml version="1.0" encoding="utf-8"?>
<ds:datastoreItem xmlns:ds="http://schemas.openxmlformats.org/officeDocument/2006/customXml" ds:itemID="{717CC33E-2144-437A-B1A4-AFFF797A4191}">
  <ds:schemaRefs/>
</ds:datastoreItem>
</file>

<file path=customXml/itemProps10.xml><?xml version="1.0" encoding="utf-8"?>
<ds:datastoreItem xmlns:ds="http://schemas.openxmlformats.org/officeDocument/2006/customXml" ds:itemID="{22996FBE-49D7-4EAB-B8FE-69AF26CA40CF}">
  <ds:schemaRefs/>
</ds:datastoreItem>
</file>

<file path=customXml/itemProps11.xml><?xml version="1.0" encoding="utf-8"?>
<ds:datastoreItem xmlns:ds="http://schemas.openxmlformats.org/officeDocument/2006/customXml" ds:itemID="{753CE3AF-00B6-48BF-8BA5-73F62291A17D}">
  <ds:schemaRefs/>
</ds:datastoreItem>
</file>

<file path=customXml/itemProps12.xml><?xml version="1.0" encoding="utf-8"?>
<ds:datastoreItem xmlns:ds="http://schemas.openxmlformats.org/officeDocument/2006/customXml" ds:itemID="{8E7C9C69-4A75-4464-A52B-A001C3B0B0A1}">
  <ds:schemaRefs/>
</ds:datastoreItem>
</file>

<file path=customXml/itemProps13.xml><?xml version="1.0" encoding="utf-8"?>
<ds:datastoreItem xmlns:ds="http://schemas.openxmlformats.org/officeDocument/2006/customXml" ds:itemID="{20E82807-BAC9-4827-B690-718DBC66A626}">
  <ds:schemaRefs/>
</ds:datastoreItem>
</file>

<file path=customXml/itemProps14.xml><?xml version="1.0" encoding="utf-8"?>
<ds:datastoreItem xmlns:ds="http://schemas.openxmlformats.org/officeDocument/2006/customXml" ds:itemID="{E98616A5-B116-45D8-B9EB-183524DA68DC}">
  <ds:schemaRefs/>
</ds:datastoreItem>
</file>

<file path=customXml/itemProps15.xml><?xml version="1.0" encoding="utf-8"?>
<ds:datastoreItem xmlns:ds="http://schemas.openxmlformats.org/officeDocument/2006/customXml" ds:itemID="{BA3EDCA0-33EE-4403-8B70-8ABBF3BD4964}">
  <ds:schemaRefs/>
</ds:datastoreItem>
</file>

<file path=customXml/itemProps16.xml><?xml version="1.0" encoding="utf-8"?>
<ds:datastoreItem xmlns:ds="http://schemas.openxmlformats.org/officeDocument/2006/customXml" ds:itemID="{8A506E3F-9F28-4196-A516-7687070CBEF8}">
  <ds:schemaRefs/>
</ds:datastoreItem>
</file>

<file path=customXml/itemProps17.xml><?xml version="1.0" encoding="utf-8"?>
<ds:datastoreItem xmlns:ds="http://schemas.openxmlformats.org/officeDocument/2006/customXml" ds:itemID="{E3532A4A-877E-4984-9E0D-91929B2B8FFD}">
  <ds:schemaRefs/>
</ds:datastoreItem>
</file>

<file path=customXml/itemProps18.xml><?xml version="1.0" encoding="utf-8"?>
<ds:datastoreItem xmlns:ds="http://schemas.openxmlformats.org/officeDocument/2006/customXml" ds:itemID="{96604282-E39E-4824-8FD3-811AE18F93E8}">
  <ds:schemaRefs/>
</ds:datastoreItem>
</file>

<file path=customXml/itemProps19.xml><?xml version="1.0" encoding="utf-8"?>
<ds:datastoreItem xmlns:ds="http://schemas.openxmlformats.org/officeDocument/2006/customXml" ds:itemID="{765C5A1A-E8A1-4042-BDA3-823611E92147}">
  <ds:schemaRefs/>
</ds:datastoreItem>
</file>

<file path=customXml/itemProps20.xml><?xml version="1.0" encoding="utf-8"?>
<ds:datastoreItem xmlns:ds="http://schemas.openxmlformats.org/officeDocument/2006/customXml" ds:itemID="{A97FB0F1-966F-42D2-A070-62CFC38EF4FA}">
  <ds:schemaRefs/>
</ds:datastoreItem>
</file>

<file path=customXml/itemProps21.xml><?xml version="1.0" encoding="utf-8"?>
<ds:datastoreItem xmlns:ds="http://schemas.openxmlformats.org/officeDocument/2006/customXml" ds:itemID="{DE4968D6-1D91-428D-A6C9-52814DED56FE}">
  <ds:schemaRefs/>
</ds:datastoreItem>
</file>

<file path=customXml/itemProps22.xml><?xml version="1.0" encoding="utf-8"?>
<ds:datastoreItem xmlns:ds="http://schemas.openxmlformats.org/officeDocument/2006/customXml" ds:itemID="{8E619A7C-8093-4F7A-A6DA-21337530DF86}">
  <ds:schemaRefs/>
</ds:datastoreItem>
</file>

<file path=customXml/itemProps23.xml><?xml version="1.0" encoding="utf-8"?>
<ds:datastoreItem xmlns:ds="http://schemas.openxmlformats.org/officeDocument/2006/customXml" ds:itemID="{A6160AB2-E143-411D-AD73-07ECD9C77863}">
  <ds:schemaRefs/>
</ds:datastoreItem>
</file>

<file path=customXml/itemProps24.xml><?xml version="1.0" encoding="utf-8"?>
<ds:datastoreItem xmlns:ds="http://schemas.openxmlformats.org/officeDocument/2006/customXml" ds:itemID="{C3DB55F1-AE38-487E-9DEA-C559EB8F61AE}">
  <ds:schemaRefs/>
</ds:datastoreItem>
</file>

<file path=customXml/itemProps25.xml><?xml version="1.0" encoding="utf-8"?>
<ds:datastoreItem xmlns:ds="http://schemas.openxmlformats.org/officeDocument/2006/customXml" ds:itemID="{17A363B4-DC57-4C9E-AB94-66F70BCCCA02}">
  <ds:schemaRefs/>
</ds:datastoreItem>
</file>

<file path=customXml/itemProps26.xml><?xml version="1.0" encoding="utf-8"?>
<ds:datastoreItem xmlns:ds="http://schemas.openxmlformats.org/officeDocument/2006/customXml" ds:itemID="{BA7CFBFB-40D0-4AE5-8286-B8FB79EA5801}">
  <ds:schemaRefs/>
</ds:datastoreItem>
</file>

<file path=customXml/itemProps27.xml><?xml version="1.0" encoding="utf-8"?>
<ds:datastoreItem xmlns:ds="http://schemas.openxmlformats.org/officeDocument/2006/customXml" ds:itemID="{35395300-95E8-449D-98CC-4A985D025847}">
  <ds:schemaRefs/>
</ds:datastoreItem>
</file>

<file path=customXml/itemProps28.xml><?xml version="1.0" encoding="utf-8"?>
<ds:datastoreItem xmlns:ds="http://schemas.openxmlformats.org/officeDocument/2006/customXml" ds:itemID="{17E0825E-30E6-4E3C-B583-24D82FE56CAC}">
  <ds:schemaRefs/>
</ds:datastoreItem>
</file>

<file path=customXml/itemProps29.xml><?xml version="1.0" encoding="utf-8"?>
<ds:datastoreItem xmlns:ds="http://schemas.openxmlformats.org/officeDocument/2006/customXml" ds:itemID="{490B4DF3-803F-491C-8C96-091492C11397}">
  <ds:schemaRefs/>
</ds:datastoreItem>
</file>

<file path=customXml/itemProps30.xml><?xml version="1.0" encoding="utf-8"?>
<ds:datastoreItem xmlns:ds="http://schemas.openxmlformats.org/officeDocument/2006/customXml" ds:itemID="{5498D0A4-7794-47E7-AFC6-96CABF465F7C}">
  <ds:schemaRefs/>
</ds:datastoreItem>
</file>

<file path=customXml/itemProps31.xml><?xml version="1.0" encoding="utf-8"?>
<ds:datastoreItem xmlns:ds="http://schemas.openxmlformats.org/officeDocument/2006/customXml" ds:itemID="{9D9DB902-2A45-469D-8BF5-478610091AC4}">
  <ds:schemaRefs/>
</ds:datastoreItem>
</file>

<file path=customXml/itemProps32.xml><?xml version="1.0" encoding="utf-8"?>
<ds:datastoreItem xmlns:ds="http://schemas.openxmlformats.org/officeDocument/2006/customXml" ds:itemID="{8D707EE6-B29D-4909-8FF8-448B2810545F}">
  <ds:schemaRefs/>
</ds:datastoreItem>
</file>

<file path=customXml/itemProps33.xml><?xml version="1.0" encoding="utf-8"?>
<ds:datastoreItem xmlns:ds="http://schemas.openxmlformats.org/officeDocument/2006/customXml" ds:itemID="{7B63E877-2E3C-4A86-ACEB-393E8406BD88}">
  <ds:schemaRefs/>
</ds:datastoreItem>
</file>

<file path=customXml/itemProps34.xml><?xml version="1.0" encoding="utf-8"?>
<ds:datastoreItem xmlns:ds="http://schemas.openxmlformats.org/officeDocument/2006/customXml" ds:itemID="{75D37684-197D-4E22-96E4-5CB4FD6BC7E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专题一　动词</Template>
  <TotalTime>0</TotalTime>
  <Words>7413</Words>
  <Application>WPS 演示</Application>
  <PresentationFormat>自定义</PresentationFormat>
  <Paragraphs>508</Paragraphs>
  <Slides>29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黑体</vt:lpstr>
      <vt:lpstr>思源宋体 CN</vt:lpstr>
      <vt:lpstr>思源宋体 CN Heavy</vt:lpstr>
      <vt:lpstr>Times New Roman</vt:lpstr>
      <vt:lpstr>Arial Unicode MS</vt:lpstr>
      <vt:lpstr>Calibri</vt:lpstr>
      <vt:lpstr>Times New Roman</vt:lpstr>
      <vt:lpstr>楷体_GB2312</vt:lpstr>
      <vt:lpstr>新宋体</vt:lpstr>
      <vt:lpstr>楷体</vt:lpstr>
      <vt:lpstr>等线</vt:lpstr>
      <vt:lpstr>等线 Light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封面标题</dc:title>
  <dc:creator/>
  <cp:lastModifiedBy>A0885</cp:lastModifiedBy>
  <cp:revision>46</cp:revision>
  <dcterms:created xsi:type="dcterms:W3CDTF">2025-06-07T05:28:11Z</dcterms:created>
  <dcterms:modified xsi:type="dcterms:W3CDTF">2025-06-07T05:53:38Z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D58B0A602B064CF5AEB885D82413A9DC_12</vt:lpwstr>
  </property>
  <property fmtid="{D5CDD505-2E9C-101B-9397-08002B2CF9AE}" pid="3" name="KSOProductBuildVer">
    <vt:lpwstr>2052-12.1.0.21171</vt:lpwstr>
  </property>
</Properties>
</file>