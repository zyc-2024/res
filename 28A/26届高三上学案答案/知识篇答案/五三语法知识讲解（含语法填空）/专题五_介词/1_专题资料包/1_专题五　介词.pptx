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5" r:id="rId4"/>
  </p:sldMasterIdLst>
  <p:notesMasterIdLst>
    <p:notesMasterId r:id="rId8"/>
  </p:notesMasterIdLst>
  <p:sldIdLst>
    <p:sldId id="308" r:id="rId5"/>
    <p:sldId id="309" r:id="rId6"/>
    <p:sldId id="258" r:id="rId7"/>
    <p:sldId id="259" r:id="rId9"/>
    <p:sldId id="261" r:id="rId10"/>
    <p:sldId id="262" r:id="rId11"/>
    <p:sldId id="264" r:id="rId12"/>
    <p:sldId id="267" r:id="rId13"/>
    <p:sldId id="269" r:id="rId14"/>
    <p:sldId id="271" r:id="rId15"/>
    <p:sldId id="273" r:id="rId16"/>
    <p:sldId id="274" r:id="rId17"/>
    <p:sldId id="277" r:id="rId18"/>
    <p:sldId id="279" r:id="rId19"/>
    <p:sldId id="280" r:id="rId20"/>
    <p:sldId id="283" r:id="rId21"/>
    <p:sldId id="284" r:id="rId22"/>
    <p:sldId id="287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</p:sldIdLst>
  <p:sldSz cx="12167870" cy="684022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142" autoAdjust="0"/>
  </p:normalViewPr>
  <p:slideViewPr>
    <p:cSldViewPr showGuides="1">
      <p:cViewPr varScale="1">
        <p:scale>
          <a:sx n="88" d="100"/>
          <a:sy n="88" d="100"/>
        </p:scale>
        <p:origin x="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1" Type="http://schemas.openxmlformats.org/officeDocument/2006/relationships/customXml" Target="../customXml/item37.xml"/><Relationship Id="rId80" Type="http://schemas.openxmlformats.org/officeDocument/2006/relationships/customXml" Target="../customXml/item36.xml"/><Relationship Id="rId8" Type="http://schemas.openxmlformats.org/officeDocument/2006/relationships/notesMaster" Target="notesMasters/notesMaster1.xml"/><Relationship Id="rId79" Type="http://schemas.openxmlformats.org/officeDocument/2006/relationships/customXml" Target="../customXml/item35.xml"/><Relationship Id="rId78" Type="http://schemas.openxmlformats.org/officeDocument/2006/relationships/customXml" Target="../customXml/item34.xml"/><Relationship Id="rId77" Type="http://schemas.openxmlformats.org/officeDocument/2006/relationships/customXml" Target="../customXml/item33.xml"/><Relationship Id="rId76" Type="http://schemas.openxmlformats.org/officeDocument/2006/relationships/customXml" Target="../customXml/item32.xml"/><Relationship Id="rId75" Type="http://schemas.openxmlformats.org/officeDocument/2006/relationships/customXml" Target="../customXml/item31.xml"/><Relationship Id="rId74" Type="http://schemas.openxmlformats.org/officeDocument/2006/relationships/customXml" Target="../customXml/item30.xml"/><Relationship Id="rId73" Type="http://schemas.openxmlformats.org/officeDocument/2006/relationships/customXml" Target="../customXml/item29.xml"/><Relationship Id="rId72" Type="http://schemas.openxmlformats.org/officeDocument/2006/relationships/customXml" Target="../customXml/item28.xml"/><Relationship Id="rId71" Type="http://schemas.openxmlformats.org/officeDocument/2006/relationships/customXml" Target="../customXml/item27.xml"/><Relationship Id="rId70" Type="http://schemas.openxmlformats.org/officeDocument/2006/relationships/customXml" Target="../customXml/item26.xml"/><Relationship Id="rId7" Type="http://schemas.openxmlformats.org/officeDocument/2006/relationships/slide" Target="slides/slide3.xml"/><Relationship Id="rId69" Type="http://schemas.openxmlformats.org/officeDocument/2006/relationships/customXml" Target="../customXml/item25.xml"/><Relationship Id="rId68" Type="http://schemas.openxmlformats.org/officeDocument/2006/relationships/customXml" Target="../customXml/item24.xml"/><Relationship Id="rId67" Type="http://schemas.openxmlformats.org/officeDocument/2006/relationships/customXml" Target="../customXml/item23.xml"/><Relationship Id="rId66" Type="http://schemas.openxmlformats.org/officeDocument/2006/relationships/customXml" Target="../customXml/item22.xml"/><Relationship Id="rId65" Type="http://schemas.openxmlformats.org/officeDocument/2006/relationships/customXml" Target="../customXml/item21.xml"/><Relationship Id="rId64" Type="http://schemas.openxmlformats.org/officeDocument/2006/relationships/customXml" Target="../customXml/item20.xml"/><Relationship Id="rId63" Type="http://schemas.openxmlformats.org/officeDocument/2006/relationships/customXml" Target="../customXml/item19.xml"/><Relationship Id="rId62" Type="http://schemas.openxmlformats.org/officeDocument/2006/relationships/customXml" Target="../customXml/item18.xml"/><Relationship Id="rId61" Type="http://schemas.openxmlformats.org/officeDocument/2006/relationships/customXml" Target="../customXml/item17.xml"/><Relationship Id="rId60" Type="http://schemas.openxmlformats.org/officeDocument/2006/relationships/customXml" Target="../customXml/item16.xml"/><Relationship Id="rId6" Type="http://schemas.openxmlformats.org/officeDocument/2006/relationships/slide" Target="slides/slide2.xml"/><Relationship Id="rId59" Type="http://schemas.openxmlformats.org/officeDocument/2006/relationships/customXml" Target="../customXml/item15.xml"/><Relationship Id="rId58" Type="http://schemas.openxmlformats.org/officeDocument/2006/relationships/customXml" Target="../customXml/item14.xml"/><Relationship Id="rId57" Type="http://schemas.openxmlformats.org/officeDocument/2006/relationships/customXml" Target="../customXml/item13.xml"/><Relationship Id="rId56" Type="http://schemas.openxmlformats.org/officeDocument/2006/relationships/customXml" Target="../customXml/item12.xml"/><Relationship Id="rId55" Type="http://schemas.openxmlformats.org/officeDocument/2006/relationships/customXml" Target="../customXml/item11.xml"/><Relationship Id="rId54" Type="http://schemas.openxmlformats.org/officeDocument/2006/relationships/customXml" Target="../customXml/item10.xml"/><Relationship Id="rId53" Type="http://schemas.openxmlformats.org/officeDocument/2006/relationships/customXml" Target="../customXml/item9.xml"/><Relationship Id="rId52" Type="http://schemas.openxmlformats.org/officeDocument/2006/relationships/customXml" Target="../customXml/item8.xml"/><Relationship Id="rId51" Type="http://schemas.openxmlformats.org/officeDocument/2006/relationships/customXml" Target="../customXml/item7.xml"/><Relationship Id="rId50" Type="http://schemas.openxmlformats.org/officeDocument/2006/relationships/customXml" Target="../customXml/item6.xml"/><Relationship Id="rId5" Type="http://schemas.openxmlformats.org/officeDocument/2006/relationships/slide" Target="slides/slide1.xml"/><Relationship Id="rId49" Type="http://schemas.openxmlformats.org/officeDocument/2006/relationships/customXml" Target="../customXml/item5.xml"/><Relationship Id="rId48" Type="http://schemas.openxmlformats.org/officeDocument/2006/relationships/customXml" Target="../customXml/item4.xml"/><Relationship Id="rId47" Type="http://schemas.openxmlformats.org/officeDocument/2006/relationships/customXml" Target="../customXml/item3.xml"/><Relationship Id="rId46" Type="http://schemas.openxmlformats.org/officeDocument/2006/relationships/customXml" Target="../customXml/item2.xml"/><Relationship Id="rId45" Type="http://schemas.openxmlformats.org/officeDocument/2006/relationships/customXml" Target="../customXml/item1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E16A1-CD54-44AD-AAEF-7C01002677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C518D-AE7E-41F4-BDAF-13DD522B5C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A9AE-DFF2-479B-AF37-FAA367F55B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35AA-09F9-4C1A-89F2-CB34E0111C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终止 1"/>
          <p:cNvSpPr/>
          <p:nvPr userDrawn="1"/>
        </p:nvSpPr>
        <p:spPr>
          <a:xfrm>
            <a:off x="10914711" y="53924"/>
            <a:ext cx="864096" cy="288032"/>
          </a:xfrm>
          <a:prstGeom prst="flowChartTerminator">
            <a:avLst/>
          </a:prstGeom>
          <a:gradFill>
            <a:gsLst>
              <a:gs pos="84000">
                <a:schemeClr val="accent4"/>
              </a:gs>
              <a:gs pos="0">
                <a:srgbClr val="DE21F5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hlinkClick r:id="rId2" action="ppaction://hlinksldjump"/>
          </p:cNvPr>
          <p:cNvSpPr txBox="1"/>
          <p:nvPr userDrawn="1"/>
        </p:nvSpPr>
        <p:spPr>
          <a:xfrm>
            <a:off x="11054096" y="44051"/>
            <a:ext cx="60180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燕尾形 3"/>
          <p:cNvSpPr/>
          <p:nvPr userDrawn="1"/>
        </p:nvSpPr>
        <p:spPr>
          <a:xfrm>
            <a:off x="11634791" y="161935"/>
            <a:ext cx="67377" cy="7200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燕尾形 4"/>
          <p:cNvSpPr/>
          <p:nvPr userDrawn="1"/>
        </p:nvSpPr>
        <p:spPr>
          <a:xfrm rot="10800000">
            <a:off x="10986719" y="161935"/>
            <a:ext cx="67377" cy="7200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90" y="-1"/>
            <a:ext cx="12170277" cy="68478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"/>
            <a:ext cx="12168188" cy="395878"/>
          </a:xfrm>
          <a:prstGeom prst="rect">
            <a:avLst/>
          </a:prstGeom>
          <a:solidFill>
            <a:srgbClr val="953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5">
              <a:solidFill>
                <a:srgbClr val="C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iming>
    <p:tnLst>
      <p:par>
        <p:cTn id="1" dur="indefinite" restart="never" nodeType="tmRoot"/>
      </p:par>
    </p:tnLst>
  </p:timing>
  <p:txStyles>
    <p:titleStyle>
      <a:lvl1pPr algn="l" defTabSz="911860" rtl="0" eaLnBrk="1" latinLnBrk="0" hangingPunct="1">
        <a:lnSpc>
          <a:spcPct val="90000"/>
        </a:lnSpc>
        <a:spcBef>
          <a:spcPct val="0"/>
        </a:spcBef>
        <a:buNone/>
        <a:defRPr sz="43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965" indent="-227965" algn="l" defTabSz="9118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5" kern="1200">
          <a:solidFill>
            <a:schemeClr val="tx1"/>
          </a:solidFill>
          <a:latin typeface="+mn-lt"/>
          <a:ea typeface="+mn-ea"/>
          <a:cs typeface="+mn-cs"/>
        </a:defRPr>
      </a:lvl1pPr>
      <a:lvl2pPr marL="68389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2pPr>
      <a:lvl3pPr marL="114046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39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32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25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18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74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67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593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186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42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35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21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14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71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8188" cy="68466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17.xml"/><Relationship Id="rId8" Type="http://schemas.openxmlformats.org/officeDocument/2006/relationships/slide" Target="slide13.xml"/><Relationship Id="rId7" Type="http://schemas.openxmlformats.org/officeDocument/2006/relationships/slide" Target="slide12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slide" Target="slide7.xml"/><Relationship Id="rId3" Type="http://schemas.openxmlformats.org/officeDocument/2006/relationships/slide" Target="slide6.xml"/><Relationship Id="rId2" Type="http://schemas.openxmlformats.org/officeDocument/2006/relationships/slide" Target="slide5.xml"/><Relationship Id="rId12" Type="http://schemas.openxmlformats.org/officeDocument/2006/relationships/slideLayout" Target="../slideLayouts/slideLayout4.xml"/><Relationship Id="rId11" Type="http://schemas.openxmlformats.org/officeDocument/2006/relationships/slide" Target="slide19.xml"/><Relationship Id="rId10" Type="http://schemas.openxmlformats.org/officeDocument/2006/relationships/image" Target="../media/image3.png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4211886" y="1835914"/>
            <a:ext cx="7702619" cy="129632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860">
              <a:defRPr/>
            </a:pPr>
            <a:endParaRPr lang="en-US" altLang="zh-CN" sz="4000" b="1" kern="0" noProof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  <a:p>
            <a:pPr defTabSz="911860">
              <a:defRPr/>
            </a:pPr>
            <a:endParaRPr lang="zh-CN" altLang="en-US" sz="4000" b="1" kern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6" name="Rectangle 2"/>
          <p:cNvSpPr txBox="1"/>
          <p:nvPr/>
        </p:nvSpPr>
        <p:spPr>
          <a:xfrm>
            <a:off x="9970770" y="4643755"/>
            <a:ext cx="2041525" cy="71691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高考英语</a:t>
            </a:r>
            <a:endParaRPr lang="zh-CN" altLang="en-US" sz="32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线连接符 2"/>
          <p:cNvCxnSpPr/>
          <p:nvPr/>
        </p:nvCxnSpPr>
        <p:spPr bwMode="auto">
          <a:xfrm>
            <a:off x="10114124" y="5291987"/>
            <a:ext cx="1584325" cy="0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文本框 7"/>
          <p:cNvSpPr txBox="1"/>
          <p:nvPr/>
        </p:nvSpPr>
        <p:spPr>
          <a:xfrm>
            <a:off x="9970770" y="5360670"/>
            <a:ext cx="1943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北京市专用</a:t>
            </a:r>
            <a:endParaRPr lang="zh-CN" altLang="en-US" sz="2400" b="1" spc="15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50460" y="2425700"/>
            <a:ext cx="622554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zh-CN" altLang="en-US" sz="4000" b="1" kern="0" noProof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专题五  介词</a:t>
            </a:r>
            <a:endParaRPr lang="zh-CN" altLang="en-US" sz="4000" b="1" kern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65334" y="1094842"/>
            <a:ext cx="11348051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" action="ppaction://hlinksldjump"/>
              </a:rPr>
              <a:t>体系透视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359" y="1653315"/>
            <a:ext cx="7504039" cy="4492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30000"/>
              </a:lnSpc>
              <a:buClrTx/>
              <a:buSzTx/>
              <a:buFontTx/>
              <a:defRPr/>
            </a:pPr>
            <a:r>
              <a:rPr lang="zh-CN" altLang="en-US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重难透析</a:t>
            </a:r>
            <a:endParaRPr lang="en-US" altLang="zh-CN" sz="1995" b="1" dirty="0" smtClean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  <a:hlinkClick r:id="rId2" action="ppaction://hlinksldjump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2" action="ppaction://hlinksldjump"/>
              </a:rPr>
              <a:t>常用介词的常考用法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hlinkClick r:id="rId2" action="ppaction://hlinksldjump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2" action="ppaction://hlinksldjump"/>
              </a:rPr>
              <a:t>１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2" action="ppaction://hlinksldjump"/>
              </a:rPr>
              <a:t>.to</a:t>
            </a:r>
            <a:r>
              <a:rPr lang="zh-CN" altLang="en-US" sz="2000" b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2" action="ppaction://hlinksldjump"/>
              </a:rPr>
              <a:t>的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2" action="ppaction://hlinksldjump"/>
              </a:rPr>
              <a:t>用法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3" action="ppaction://hlinksldjump"/>
              </a:rPr>
              <a:t>２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3" action="ppaction://hlinksldjump"/>
              </a:rPr>
              <a:t>.with</a:t>
            </a:r>
            <a:r>
              <a:rPr lang="zh-CN" altLang="en-US" sz="2000" b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3" action="ppaction://hlinksldjump"/>
              </a:rPr>
              <a:t>的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3" action="ppaction://hlinksldjump"/>
              </a:rPr>
              <a:t>用法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4" action="ppaction://hlinksldjump"/>
              </a:rPr>
              <a:t>３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4" action="ppaction://hlinksldjump"/>
              </a:rPr>
              <a:t>.by</a:t>
            </a:r>
            <a:r>
              <a:rPr lang="zh-CN" altLang="en-US" sz="2000" b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4" action="ppaction://hlinksldjump"/>
              </a:rPr>
              <a:t>的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4" action="ppaction://hlinksldjump"/>
              </a:rPr>
              <a:t>用法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5" action="ppaction://hlinksldjump"/>
              </a:rPr>
              <a:t>４</a:t>
            </a:r>
            <a:r>
              <a:rPr lang="en-US" altLang="zh-CN" sz="2000" b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5" action="ppaction://hlinksldjump"/>
              </a:rPr>
              <a:t>.beyond</a:t>
            </a:r>
            <a:r>
              <a:rPr lang="zh-CN" altLang="en-US" sz="2000" b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5" action="ppaction://hlinksldjump"/>
              </a:rPr>
              <a:t>的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5" action="ppaction://hlinksldjump"/>
              </a:rPr>
              <a:t>用法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6" action="ppaction://hlinksldjump"/>
              </a:rPr>
              <a:t>常考介词搭配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hlinkClick r:id="rId6" action="ppaction://hlinksldjump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6" action="ppaction://hlinksldjump"/>
              </a:rPr>
              <a:t>１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6" action="ppaction://hlinksldjump"/>
              </a:rPr>
              <a:t>. 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6" action="ppaction://hlinksldjump"/>
              </a:rPr>
              <a:t>介词＋名词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7" action="ppaction://hlinksldjump"/>
              </a:rPr>
              <a:t>２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7" action="ppaction://hlinksldjump"/>
              </a:rPr>
              <a:t>. 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7" action="ppaction://hlinksldjump"/>
              </a:rPr>
              <a:t>名词＋介词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8" action="ppaction://hlinksldjump"/>
              </a:rPr>
              <a:t>３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8" action="ppaction://hlinksldjump"/>
              </a:rPr>
              <a:t>. 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8" action="ppaction://hlinksldjump"/>
              </a:rPr>
              <a:t>动词＋介词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9" action="ppaction://hlinksldjump"/>
              </a:rPr>
              <a:t>４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9" action="ppaction://hlinksldjump"/>
              </a:rPr>
              <a:t>. 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hlinkClick r:id="rId9" action="ppaction://hlinksldjump"/>
              </a:rPr>
              <a:t>形容词＋介词</a:t>
            </a:r>
            <a:endParaRPr lang="zh-CN" altLang="en-US" sz="2000" b="1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1118" y="567385"/>
            <a:ext cx="2207762" cy="521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27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402720" y="1061875"/>
            <a:ext cx="11054641" cy="0"/>
          </a:xfrm>
          <a:prstGeom prst="line">
            <a:avLst/>
          </a:prstGeom>
          <a:ln>
            <a:solidFill>
              <a:srgbClr val="9E27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58" y="1082972"/>
            <a:ext cx="702565" cy="6471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37" y="1691950"/>
            <a:ext cx="702565" cy="6471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83114" y="6084201"/>
            <a:ext cx="11348051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1" action="ppaction://hlinksldjump"/>
              </a:rPr>
              <a:t>考点针对练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58" y="6145991"/>
            <a:ext cx="702565" cy="647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820419" y="577507"/>
            <a:ext cx="2574914" cy="461665"/>
            <a:chOff x="251133" y="167422"/>
            <a:chExt cx="3959943" cy="709990"/>
          </a:xfrm>
        </p:grpSpPr>
        <p:grpSp>
          <p:nvGrpSpPr>
            <p:cNvPr id="5" name="组合 4"/>
            <p:cNvGrpSpPr/>
            <p:nvPr/>
          </p:nvGrpSpPr>
          <p:grpSpPr>
            <a:xfrm>
              <a:off x="251133" y="272306"/>
              <a:ext cx="708622" cy="593558"/>
              <a:chOff x="154881" y="272716"/>
              <a:chExt cx="708622" cy="593558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366198" y="272716"/>
                <a:ext cx="497305" cy="497306"/>
                <a:chOff x="366198" y="272716"/>
                <a:chExt cx="497305" cy="497306"/>
              </a:xfrm>
            </p:grpSpPr>
            <p:sp>
              <p:nvSpPr>
                <p:cNvPr id="9" name="椭圆 8"/>
                <p:cNvSpPr/>
                <p:nvPr/>
              </p:nvSpPr>
              <p:spPr>
                <a:xfrm>
                  <a:off x="366198" y="272716"/>
                  <a:ext cx="497305" cy="497306"/>
                </a:xfrm>
                <a:prstGeom prst="ellipse">
                  <a:avLst/>
                </a:prstGeom>
                <a:solidFill>
                  <a:srgbClr val="953FA3">
                    <a:alpha val="53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5781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思源宋体 CN Heavy" panose="02020900000000000000" pitchFamily="18" charset="-122"/>
                    <a:cs typeface="+mn-cs"/>
                  </a:endParaRPr>
                </a:p>
              </p:txBody>
            </p:sp>
            <p:sp>
              <p:nvSpPr>
                <p:cNvPr id="10" name="椭圆 9"/>
                <p:cNvSpPr/>
                <p:nvPr/>
              </p:nvSpPr>
              <p:spPr>
                <a:xfrm>
                  <a:off x="437002" y="343520"/>
                  <a:ext cx="355696" cy="355698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5781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思源宋体 CN Heavy" panose="02020900000000000000" pitchFamily="18" charset="-122"/>
                    <a:cs typeface="+mn-cs"/>
                  </a:endParaRPr>
                </a:p>
              </p:txBody>
            </p:sp>
          </p:grpSp>
          <p:sp>
            <p:nvSpPr>
              <p:cNvPr id="8" name="椭圆 7"/>
              <p:cNvSpPr/>
              <p:nvPr/>
            </p:nvSpPr>
            <p:spPr>
              <a:xfrm flipH="1">
                <a:off x="154881" y="640300"/>
                <a:ext cx="225973" cy="225974"/>
              </a:xfrm>
              <a:prstGeom prst="ellipse">
                <a:avLst/>
              </a:prstGeom>
              <a:solidFill>
                <a:srgbClr val="953FA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25781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" panose="02020400000000000000" pitchFamily="18" charset="-122"/>
                  <a:ea typeface="思源宋体 CN Heavy" panose="02020900000000000000" pitchFamily="18" charset="-122"/>
                  <a:cs typeface="+mn-cs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015903" y="167422"/>
              <a:ext cx="3195173" cy="709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dist">
                <a:defRPr sz="4400">
                  <a:gradFill flip="none" rotWithShape="1">
                    <a:gsLst>
                      <a:gs pos="0">
                        <a:srgbClr val="F0E4B7"/>
                      </a:gs>
                      <a:gs pos="100000">
                        <a:srgbClr val="E7D48D"/>
                      </a:gs>
                    </a:gsLst>
                    <a:lin ang="54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体系透视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9430" y="1031875"/>
            <a:ext cx="5695950" cy="54756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8354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13735" kern="0" spc="17916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 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5330" y="539750"/>
            <a:ext cx="5028565" cy="61760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0691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 smtClean="0"/>
          </a:p>
          <a:p>
            <a:pPr marL="0" indent="0" algn="ctr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常用</a:t>
            </a:r>
            <a:r>
              <a:rPr lang="zh-CN" altLang="en-US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介词的常考用法</a:t>
            </a:r>
            <a:endParaRPr lang="zh-CN" altLang="en-US" sz="2410" b="1" kern="0" dirty="0">
              <a:solidFill>
                <a:srgbClr val="953FA3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1.to的用法</a:t>
            </a:r>
            <a:endParaRPr lang="zh-CN" altLang="en-US" b="1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　　to与情感名词连用,表示“某种行动后产生的感觉”。这种表达方法表示结果,用</a:t>
            </a:r>
            <a:br>
              <a:rPr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</a:b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作状语,位于句子的前、中、后皆可。为了强调,可在前面加 much,意为“使某人非常</a:t>
            </a:r>
            <a:br>
              <a:rPr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</a:b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……的是”。</a:t>
            </a:r>
            <a:endParaRPr lang="zh-CN" altLang="en-US" sz="2410" kern="0" dirty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to one's delight/surprise/horror/sorrow/joy/regret=to the delight/surprise/horror/sorrow/joy/</a:t>
            </a:r>
            <a:br>
              <a:rPr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</a:b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regret of sb.</a:t>
            </a:r>
            <a:endParaRPr lang="zh-CN" altLang="en-US" sz="2410" kern="0" dirty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使某人开心/惊讶/惊恐/难过/开心/遗憾的是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4715942" y="606139"/>
            <a:ext cx="2088232" cy="430887"/>
            <a:chOff x="263136" y="272072"/>
            <a:chExt cx="3077968" cy="635109"/>
          </a:xfrm>
        </p:grpSpPr>
        <p:grpSp>
          <p:nvGrpSpPr>
            <p:cNvPr id="4" name="组合 3"/>
            <p:cNvGrpSpPr/>
            <p:nvPr/>
          </p:nvGrpSpPr>
          <p:grpSpPr>
            <a:xfrm>
              <a:off x="263136" y="317158"/>
              <a:ext cx="575064" cy="575064"/>
              <a:chOff x="263136" y="244750"/>
              <a:chExt cx="603639" cy="603639"/>
            </a:xfrm>
          </p:grpSpPr>
          <p:sp>
            <p:nvSpPr>
              <p:cNvPr id="6" name="泪滴形 5"/>
              <p:cNvSpPr/>
              <p:nvPr/>
            </p:nvSpPr>
            <p:spPr>
              <a:xfrm rot="10800000" flipH="1" flipV="1">
                <a:off x="263136" y="244750"/>
                <a:ext cx="603639" cy="603639"/>
              </a:xfrm>
              <a:prstGeom prst="teardrop">
                <a:avLst/>
              </a:prstGeom>
              <a:solidFill>
                <a:srgbClr val="953FA3">
                  <a:alpha val="7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7" name="椭圆 6"/>
              <p:cNvSpPr/>
              <p:nvPr/>
            </p:nvSpPr>
            <p:spPr>
              <a:xfrm rot="10800000" flipH="1" flipV="1">
                <a:off x="363481" y="345095"/>
                <a:ext cx="402949" cy="402949"/>
              </a:xfrm>
              <a:prstGeom prst="ellipse">
                <a:avLst/>
              </a:prstGeom>
              <a:solidFill>
                <a:srgbClr val="FDBE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 rot="10800000" flipH="1" flipV="1">
                <a:off x="438741" y="420355"/>
                <a:ext cx="252430" cy="2524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  <p:sp>
          <p:nvSpPr>
            <p:cNvPr id="5" name="文本框 4"/>
            <p:cNvSpPr txBox="1"/>
            <p:nvPr>
              <p:custDataLst>
                <p:tags r:id="rId1"/>
              </p:custDataLst>
            </p:nvPr>
          </p:nvSpPr>
          <p:spPr>
            <a:xfrm>
              <a:off x="1097509" y="272072"/>
              <a:ext cx="2243595" cy="635109"/>
            </a:xfrm>
            <a:prstGeom prst="rect">
              <a:avLst/>
            </a:prstGeom>
            <a:noFill/>
            <a:effectLst>
              <a:glow rad="203200">
                <a:srgbClr val="FF0000">
                  <a:alpha val="69000"/>
                </a:srgbClr>
              </a:glow>
            </a:effectLst>
          </p:spPr>
          <p:txBody>
            <a:bodyPr wrap="square" lIns="0" tIns="0" rIns="0" bIns="0" rtlCol="0">
              <a:spAutoFit/>
            </a:bodyPr>
            <a:lstStyle/>
            <a:p>
              <a:pPr algn="ctr" defTabSz="457200">
                <a:defRPr/>
              </a:pPr>
              <a:r>
                <a:rPr lang="zh-CN" altLang="en-US" sz="28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庞门正道标题体" panose="02010600030101010101" pitchFamily="2" charset="-122"/>
                </a:rPr>
                <a:t>重难透析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庞门正道标题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561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2.with的用法</a:t>
            </a:r>
            <a:endParaRPr lang="zh-CN" altLang="en-US" b="1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332037"/>
          <a:ext cx="11441430" cy="4711065"/>
        </p:xfrm>
        <a:graphic>
          <a:graphicData uri="http://schemas.openxmlformats.org/drawingml/2006/table">
            <a:tbl>
              <a:tblPr/>
              <a:tblGrid>
                <a:gridCol w="5915660"/>
                <a:gridCol w="5525770"/>
              </a:tblGrid>
              <a:tr h="563328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用法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例句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63627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表示“和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在一起”“由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陪同”或“有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在场”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 have a client with me right now. 我现在有个客户。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982656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表示两种事物之间的相应关系或齐头并进的意思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With time passing,they have grown into big boys and big girls. 随着时间的流逝,他们长成大男孩和大姑娘了。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982656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表示“带有,带来,带走,携带”等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He looked at her with a hurt expression. 他带着受伤害的神情看着她。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982656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用于构成with的复合结构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She sat back in the chair with her eyes closed. 她闭着眼睛舒服地在椅子上坐着。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7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指原因或理由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small child trembled with fear. 小孩吓得打哆嗦。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561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3.by的用法</a:t>
            </a:r>
            <a:endParaRPr lang="zh-CN" altLang="en-US" b="1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67995" y="1256030"/>
          <a:ext cx="11268075" cy="4551680"/>
        </p:xfrm>
        <a:graphic>
          <a:graphicData uri="http://schemas.openxmlformats.org/drawingml/2006/table">
            <a:tbl>
              <a:tblPr/>
              <a:tblGrid>
                <a:gridCol w="3497580"/>
                <a:gridCol w="7770495"/>
              </a:tblGrid>
              <a:tr h="520065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用法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例句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0736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表示触及或抓住的人或物的部分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He seized me by the arm.他抓住我的胳膊。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92329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用于计量,表示“以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计”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Milk is sold by the pint, butter by the pound, and eggs by the dozen.牛奶论品脱卖,黄油论磅卖,鸡蛋论打卖。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0736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表示程度、数量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This one is shorter than the other by three inches.这个比那个短3英寸。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0736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表示“按照,从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看”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By my watch, it is half past eleven. 按我的手表,现在是十一点半。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0736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表示方式,意为“通过,凭借”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May I pay by credit card?我能用信用卡付款吗?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07365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表示“靠近,在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旁边”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telephone is by the window.电话在窗户旁边。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71500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用于被动语态,表示施动者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He was knocked down by a bus.他被一辆公交车撞倒了。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561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4.beyond的用法</a:t>
            </a:r>
            <a:endParaRPr lang="zh-CN" altLang="en-US" b="1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328005"/>
          <a:ext cx="11615420" cy="3930650"/>
        </p:xfrm>
        <a:graphic>
          <a:graphicData uri="http://schemas.openxmlformats.org/drawingml/2006/table">
            <a:tbl>
              <a:tblPr/>
              <a:tblGrid>
                <a:gridCol w="4180840"/>
                <a:gridCol w="7434580"/>
              </a:tblGrid>
              <a:tr h="563328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用法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例句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982656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表示“(时间)晚于,迟于”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Don't stay out beyond midnight.不要在外面待到午夜以后。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2705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表示“(位置)在(或向)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较远的一边”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small village is 20 miles beyond the town.那个小村庄在城外20英里处。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185737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表示“非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所能及,超出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之外”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This book is beyond me.这本书我看不懂。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Her work is beyond praise.她的工作令人赞不绝口。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Our success was far beyond what we thought possible.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我们的成功远远超出了我们的估计范围。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539949"/>
            <a:ext cx="11831400" cy="11250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常考介词搭配</a:t>
            </a:r>
            <a:endParaRPr lang="zh-CN" altLang="en-US" b="1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1.介词+名词</a:t>
            </a:r>
            <a:endParaRPr lang="zh-CN" altLang="en-US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925181"/>
          <a:ext cx="11268000" cy="2347913"/>
        </p:xfrm>
        <a:graphic>
          <a:graphicData uri="http://schemas.openxmlformats.org/drawingml/2006/table">
            <a:tbl>
              <a:tblPr/>
              <a:tblGrid>
                <a:gridCol w="1079590"/>
                <a:gridCol w="10188410"/>
              </a:tblGrid>
              <a:tr h="30099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类型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673735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at+</a:t>
                      </a: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at ease放松,不拘束　　　　　　　at first首先　　　    　　　　　at peace和平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at present现在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at random随意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at risk有危险,冒风险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by+</a:t>
                      </a: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by accident/chance偶然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by coincidence纯属巧合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by design故意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by hand用手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by mistake错误地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by no means决不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468000" y="827981"/>
          <a:ext cx="11268075" cy="5356860"/>
        </p:xfrm>
        <a:graphic>
          <a:graphicData uri="http://schemas.openxmlformats.org/drawingml/2006/table">
            <a:tbl>
              <a:tblPr/>
              <a:tblGrid>
                <a:gridCol w="935574"/>
                <a:gridCol w="10332426"/>
              </a:tblGrid>
              <a:tr h="360000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类型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in+</a:t>
                      </a: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advance提前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brief简言之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cash用现金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chaos一片混乱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common共同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danger处于危险中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debt负债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demand需求很大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detail详细地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fact事实上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low spirits情绪低落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particular尤其,特别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person 亲自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principle原则上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public当众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reality实际上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relief放心地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return作为回报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summary总之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trouble处于困境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turn轮流;转而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on+</a:t>
                      </a: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on a(n)...basis以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方式　on a diet节食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on a(n)...scale以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规模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on average平均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on business出差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on occasion偶尔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on duty值班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on purpose故意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on sale在售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with+</a:t>
                      </a: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with ease轻易,毫不费劲地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with relief放心地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with satisfaction满意地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468000" y="755973"/>
          <a:ext cx="11268075" cy="4758055"/>
        </p:xfrm>
        <a:graphic>
          <a:graphicData uri="http://schemas.openxmlformats.org/drawingml/2006/table">
            <a:tbl>
              <a:tblPr/>
              <a:tblGrid>
                <a:gridCol w="1007582"/>
                <a:gridCol w="10260418"/>
              </a:tblGrid>
              <a:tr h="360000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类型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prep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</a:t>
                      </a: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prep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as a result of由于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at the age of 在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岁时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at the sight of一看见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by means of通过,借助于    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for the honor of为了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的荣誉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for the purpose of为了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addition to除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之外(还)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case of如果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charge of负责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comparison to/with和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相比　in fear of害怕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honor/memory of纪念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line with与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一致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need/want of需要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place of代替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possession of拥有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praise of表扬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in/with reference to关于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respect of关于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search of寻找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spite of尽管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support of支持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terms of就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而言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the absence of缺乏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 the way of关于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on account of因为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on behalf of代表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on one's/the way to在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途中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on the basis of以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为基础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on top of在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上面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467660"/>
            <a:ext cx="11831400" cy="5561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2.名词+介词</a:t>
            </a:r>
            <a:endParaRPr lang="zh-CN" altLang="en-US" b="1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043543"/>
          <a:ext cx="11268075" cy="4799330"/>
        </p:xfrm>
        <a:graphic>
          <a:graphicData uri="http://schemas.openxmlformats.org/drawingml/2006/table">
            <a:tbl>
              <a:tblPr/>
              <a:tblGrid>
                <a:gridCol w="1079590"/>
                <a:gridCol w="10188410"/>
              </a:tblGrid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类型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.+for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affection for对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的喜爱　　　　an excuse for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的理由　　　　the need for对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的需要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 preference for对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的偏爱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preparation(s) for对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的准备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reason for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的原因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request for对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的要求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respect for对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的尊重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talent for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的天赋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.+from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absence from缺席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an escape from从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逃离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.+in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faith in对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的信心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progress in在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方面的进步    </a:t>
                      </a:r>
                      <a:br>
                        <a:rPr dirty="0"/>
                      </a:b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success in在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取得的成功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.+of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lack of缺乏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.+on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dependence on对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的依赖　an effect/impact on对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的影响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an impression on给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的印象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.+to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access to进入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的通道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answer to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的答案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approach to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的方法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attitude to对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的态度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home to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的家园    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key to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的关键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solution to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的解决办法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introduction to对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的介绍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561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3.动词+介词</a:t>
            </a:r>
            <a:endParaRPr lang="zh-CN" altLang="en-US" b="1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539120" y="1331354"/>
          <a:ext cx="11268075" cy="3368675"/>
        </p:xfrm>
        <a:graphic>
          <a:graphicData uri="http://schemas.openxmlformats.org/drawingml/2006/table">
            <a:tbl>
              <a:tblPr/>
              <a:tblGrid>
                <a:gridCol w="1079590"/>
                <a:gridCol w="10188410"/>
              </a:tblGrid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类型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.+about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complain about抱怨　　 　　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learn about了解　　    　　　 　　set about着手做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talk about谈论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think about考虑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worry about担心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.+as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act as充当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serve as用作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work as从事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工作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.+at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aim at瞄准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glance at瞥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knock at敲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laugh at嘲笑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shout/yell at 冲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嚷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stare at盯着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.+for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account for(数量上)占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apply for 申请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ask for要求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long for渴望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look for寻找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mistake...for...把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错当成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黑体" panose="02010609060101010101" pitchFamily="49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pay for为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付钱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provide sth. for sb.为某人提供某物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run for 参加竞选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search for搜寻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seek for寻找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stand for代表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467365" y="650186"/>
          <a:ext cx="11268075" cy="4707890"/>
        </p:xfrm>
        <a:graphic>
          <a:graphicData uri="http://schemas.openxmlformats.org/drawingml/2006/table">
            <a:tbl>
              <a:tblPr/>
              <a:tblGrid>
                <a:gridCol w="1079590"/>
                <a:gridCol w="10188410"/>
              </a:tblGrid>
              <a:tr h="360000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类型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.+from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differ from与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不同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judge from从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判断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learn from向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学习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result from由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引起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separate from(使)分离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suffer from遭受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.+in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believe in相信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end in以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告终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participate in参加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result in导致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specialize in专攻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.+of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consist of由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组成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remind sb. of使某人想起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speak of谈到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.+on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call on呼吁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carry on继续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center/focus on集中于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depend/rely on依赖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feed on以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为食    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congratulate sb. on sth.祝贺某人某事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insist on坚持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reflect on认真思考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remark on对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发表评论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.+to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admit to承认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apologize to向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道歉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belong to属于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compare to与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相比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devote to致力于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lead to导致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refer to指;谈到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stick to坚持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turn to求助于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468000" y="513433"/>
          <a:ext cx="11268075" cy="4849495"/>
        </p:xfrm>
        <a:graphic>
          <a:graphicData uri="http://schemas.openxmlformats.org/drawingml/2006/table">
            <a:tbl>
              <a:tblPr/>
              <a:tblGrid>
                <a:gridCol w="1007582"/>
                <a:gridCol w="10260418"/>
              </a:tblGrid>
              <a:tr h="360000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类型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.+with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agree with同意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argue with与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争吵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combine with与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结合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communicate with与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交流　compare with与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比较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deal with处理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provide sb. with sth.为某人提供某物　share with 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分享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</a:t>
                      </a: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adv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prep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catch up with追赶上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come down to归结为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come up with想出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date/go back to追溯到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do away with废除,取消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drop out of 退出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get away from远离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get down to着手处理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keep up with与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保持联系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live up to不辜负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look down on/upon瞧不起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make up for弥补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miss out on错失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机会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put up with忍受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reach out to向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伸出援手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run out of用完,耗尽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sign up for报名参加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think highly of高度评价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try out for参加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选拔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468000" y="1332037"/>
          <a:ext cx="11268075" cy="3185795"/>
        </p:xfrm>
        <a:graphic>
          <a:graphicData uri="http://schemas.openxmlformats.org/drawingml/2006/table">
            <a:tbl>
              <a:tblPr/>
              <a:tblGrid>
                <a:gridCol w="1367622"/>
                <a:gridCol w="9900378"/>
              </a:tblGrid>
              <a:tr h="360000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类型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</a:t>
                      </a: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</a:t>
                      </a: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prep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catch sight of看见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give rise to引起,导致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make fun of取笑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pay attention to注意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take care of照顾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take part in参加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take pride in为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感到骄傲　keep track of了解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的动态;与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保持联系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make allowances for考虑到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turn one's back on对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置之不理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v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</a:t>
                      </a: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prep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+</a:t>
                      </a: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bring/put...into effect实施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come into being/existence出现,存在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come to one's rescue前来营救　keep...in mind把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记在心上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put...into practice把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付诸实践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561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4.形容词+介词</a:t>
            </a:r>
            <a:endParaRPr lang="zh-CN" altLang="en-US" b="1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230557"/>
          <a:ext cx="11268000" cy="4695827"/>
        </p:xfrm>
        <a:graphic>
          <a:graphicData uri="http://schemas.openxmlformats.org/drawingml/2006/table">
            <a:tbl>
              <a:tblPr/>
              <a:tblGrid>
                <a:gridCol w="1439630"/>
                <a:gridCol w="9828370"/>
              </a:tblGrid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类型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adj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.+about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curious about对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好奇　　　　　　　　be enthusiastic about对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热情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serious about对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严肃对待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worried about对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担忧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adj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.+at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amazed/astonished/shocked at对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感到吃惊　be bad/good at不擅长/擅长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adj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.+from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different from与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不同　　　be free from不受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影响　　　be safe from免于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adj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.+for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bad for对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有害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convenient for对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方便    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eager for渴望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fit for适合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hungry for渴望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ready for为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做好准备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responsible for对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负责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thankful for因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而感激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adj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.+in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absorbed in专心于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dressed in 穿着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experienced in对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有经验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be/get lost in沉迷于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rich in富含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weak in不擅长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539120" y="904400"/>
          <a:ext cx="11268075" cy="5032375"/>
        </p:xfrm>
        <a:graphic>
          <a:graphicData uri="http://schemas.openxmlformats.org/drawingml/2006/table">
            <a:tbl>
              <a:tblPr/>
              <a:tblGrid>
                <a:gridCol w="1151598"/>
                <a:gridCol w="10116402"/>
              </a:tblGrid>
              <a:tr h="360000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类型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adj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.+of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ashamed of对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感到羞耻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aware of意识到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free of免于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proud of对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感到骄傲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short of缺乏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sick of厌烦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tired of厌倦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worthy of值得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adj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.+on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dependent on取决于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keen on喜欢,热衷于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adj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.+to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addicted to对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上瘾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accustomed to习惯于　be contrary to与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相反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equal to等于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harmful to 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有害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be/get married to嫁给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similar to与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相似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unfamiliar to对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不熟悉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i="1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adj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.+with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content with 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满足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crowded with挤满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familiar with对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熟悉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filled with充满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occupied with忙于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patient with对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有耐心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popular with受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欢迎　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 strict with对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严格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896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1.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UN Chinese Language Day not only provides a unique platform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world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to better understand China, but also promotes language and cultural exchanges in the world.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句意:联合国中文日不仅为世界更好地了解中国提供了一个独特的平台,还促进</a:t>
            </a:r>
            <a:br>
              <a:rPr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了世界上的语言和文化交流。provide sth. for sb.是固定搭配,意为“为某人提供某</a:t>
            </a:r>
            <a:br>
              <a:rPr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物”,故填for。</a:t>
            </a:r>
            <a:endParaRPr lang="zh-CN" altLang="en-US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40525" y="1332037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　</a:t>
            </a:r>
            <a:r>
              <a:rPr lang="en-US" altLang="zh-CN" sz="2400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for    </a:t>
            </a:r>
            <a:endParaRPr lang="zh-CN" altLang="en-US" sz="2400" b="1" dirty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003800" y="539750"/>
            <a:ext cx="2359025" cy="521970"/>
            <a:chOff x="2031546" y="5566398"/>
            <a:chExt cx="1693545" cy="521970"/>
          </a:xfrm>
        </p:grpSpPr>
        <p:sp>
          <p:nvSpPr>
            <p:cNvPr id="11" name="矩形 10"/>
            <p:cNvSpPr/>
            <p:nvPr/>
          </p:nvSpPr>
          <p:spPr>
            <a:xfrm>
              <a:off x="2102666" y="5566398"/>
              <a:ext cx="1622425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kern="0" dirty="0" smtClean="0">
                  <a:solidFill>
                    <a:srgbClr val="953FA3"/>
                  </a:solidFill>
                  <a:latin typeface="楷体" panose="02010609060101010101" charset="-122"/>
                  <a:ea typeface="楷体" panose="02010609060101010101" charset="-122"/>
                  <a:cs typeface="Times New Roman" panose="02020603050405020304" pitchFamily="18" charset="0"/>
                </a:rPr>
                <a:t>考点针对练</a:t>
              </a:r>
              <a:endParaRPr lang="zh-CN" altLang="en-US" sz="2800" b="1" kern="0" dirty="0" smtClean="0">
                <a:solidFill>
                  <a:srgbClr val="953FA3"/>
                </a:solidFill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 rot="12533546">
              <a:off x="2060935" y="5658963"/>
              <a:ext cx="75274" cy="302276"/>
              <a:chOff x="1835622" y="5914973"/>
              <a:chExt cx="72919" cy="284654"/>
            </a:xfrm>
          </p:grpSpPr>
          <p:sp>
            <p:nvSpPr>
              <p:cNvPr id="14" name="等腰三角形 13"/>
              <p:cNvSpPr/>
              <p:nvPr/>
            </p:nvSpPr>
            <p:spPr>
              <a:xfrm>
                <a:off x="1836533" y="5914973"/>
                <a:ext cx="72008" cy="71957"/>
              </a:xfrm>
              <a:prstGeom prst="triangle">
                <a:avLst>
                  <a:gd name="adj" fmla="val 50113"/>
                </a:avLst>
              </a:prstGeom>
              <a:noFill/>
              <a:ln>
                <a:solidFill>
                  <a:srgbClr val="953FA3">
                    <a:alpha val="67000"/>
                  </a:srgb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1835622" y="5986199"/>
                <a:ext cx="72008" cy="170374"/>
              </a:xfrm>
              <a:prstGeom prst="rect">
                <a:avLst/>
              </a:prstGeom>
              <a:noFill/>
              <a:ln>
                <a:solidFill>
                  <a:srgbClr val="953FA3">
                    <a:alpha val="67000"/>
                  </a:srgb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1835622" y="6156573"/>
                <a:ext cx="72008" cy="43054"/>
              </a:xfrm>
              <a:prstGeom prst="rect">
                <a:avLst/>
              </a:prstGeom>
              <a:noFill/>
              <a:ln>
                <a:solidFill>
                  <a:srgbClr val="953FA3">
                    <a:alpha val="67000"/>
                  </a:srgb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" name="任意多边形 12"/>
            <p:cNvSpPr/>
            <p:nvPr/>
          </p:nvSpPr>
          <p:spPr>
            <a:xfrm>
              <a:off x="2031546" y="5983061"/>
              <a:ext cx="1390650" cy="70757"/>
            </a:xfrm>
            <a:custGeom>
              <a:avLst/>
              <a:gdLst>
                <a:gd name="connsiteX0" fmla="*/ 0 w 1390650"/>
                <a:gd name="connsiteY0" fmla="*/ 57150 h 70757"/>
                <a:gd name="connsiteX1" fmla="*/ 360590 w 1390650"/>
                <a:gd name="connsiteY1" fmla="*/ 1360 h 70757"/>
                <a:gd name="connsiteX2" fmla="*/ 853168 w 1390650"/>
                <a:gd name="connsiteY2" fmla="*/ 70757 h 70757"/>
                <a:gd name="connsiteX3" fmla="*/ 1390650 w 1390650"/>
                <a:gd name="connsiteY3" fmla="*/ 0 h 7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0650" h="70757">
                  <a:moveTo>
                    <a:pt x="0" y="57150"/>
                  </a:moveTo>
                  <a:cubicBezTo>
                    <a:pt x="109197" y="28121"/>
                    <a:pt x="218395" y="-908"/>
                    <a:pt x="360590" y="1360"/>
                  </a:cubicBezTo>
                  <a:cubicBezTo>
                    <a:pt x="502785" y="3628"/>
                    <a:pt x="681491" y="70984"/>
                    <a:pt x="853168" y="70757"/>
                  </a:cubicBezTo>
                  <a:cubicBezTo>
                    <a:pt x="1024845" y="70530"/>
                    <a:pt x="1291318" y="14968"/>
                    <a:pt x="1390650" y="0"/>
                  </a:cubicBezTo>
                </a:path>
              </a:pathLst>
            </a:custGeom>
            <a:noFill/>
            <a:ln>
              <a:solidFill>
                <a:srgbClr val="953FA3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2.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As a special education teacher at the school, I was familiar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 challenges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David faced and was proud of his strong determination.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句意:作为学校的特殊教育教师,我对戴维面临的挑战很熟悉,并为他坚定的决心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感到骄傲。be familiar with意为“对……熟悉”。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037200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with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3.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There, you'll find them prepared differently—more dumpling and less soup—and the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wrappers are pressed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hand rather than rolled.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句意:在那里,你会发现它们的做法不同——皮厚汤少——皮是手工压制的而不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是擀的。by hand意为“用手工”。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09600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by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4.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And who do they speak English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____________?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Not the pandas, even though the language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used for the medical training instructions is actually English.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句意:他们和谁讲英语?不是熊猫,即使医疗培训指令使用的语言实际上是英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语。speak...to/with...意思是“对/和……讲……”,故填to/with。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44725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to/with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120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5.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A new secretary will be hired to relieve us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some of the paperwork.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句意:我们将雇新的秘书来减轻一些我们的文书工作负担。relieve sb. of sth.意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为“帮助……减轻……”,故填of。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35363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of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23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6.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She warns of the environmental dangers facing society, and she teaches that people must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take responsibility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saving their environment.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句意:她警告(人们)社会面临的环境危险,并教导人们必须负责拯救自己的环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境。take responsibility for doing sth.为固定搭配,意为“承担做某事的责任”。故填 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for。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98450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for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7.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Giant pandas also serve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an umbrella species, bringing protection to a host of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plants and animals in the southwestern and northwestern parts of China.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句意:大熊猫也作为伞护物种,为中国西南部和西北部的许多动植物提供保护。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serve as意为“充当,用作”,介词as意为“作为”。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47775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as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8.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Since April drinks companies have been forced to pay between 18p and 24p for every </a:t>
            </a:r>
            <a:br>
              <a:rPr lang="en-US" altLang="zh-CN" sz="2800" dirty="0"/>
            </a:b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litre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of sugary drink they produce or import, depending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 sugar content.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    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句意:自4月以来,饮料公司被迫为其生产或进口的含糖饮料支付每升18便士至2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4便士不等的费用,具体取决于饮料的含糖量。depend on意为“取决于;视……而定”。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92663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on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9.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He flew 4,700 kilometers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Xi'an to </a:t>
            </a: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Kashgar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on Sept. 20, planning to hike back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to Xi'an in five months.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句意:9月20日,他从西安飞往喀什,飞行4,700千米,计划在五个月内徒步返回西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安。from Xi'an to Kashgar意为“从西安到喀什”。</a:t>
            </a:r>
            <a:endParaRPr lang="zh-CN" altLang="en-US" dirty="0"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58913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from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120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10.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Put the medicine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children's reach in case it's taken by mistake.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句意:把药放在孩子们够不着的地方,以防误服。beyond one's reach意为“力所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不能及的;无法达到的”。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60388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beyond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120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11.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Due to the growing popularity of environmentally-related and adventure travel, various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types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trips are now being classified as ecotourism.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various types of意思是“各种类型的……”。</a:t>
            </a:r>
            <a:endParaRPr lang="zh-CN" altLang="en-US" dirty="0"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90313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of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120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12.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After careful consideration, he chose to withdraw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 competition.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句意:经过慎重考虑,他决定退出比赛。withdraw from意为“退出(活动或组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织)”。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60888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from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9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13.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I happen to know that Tang's play </a:t>
            </a:r>
            <a:r>
              <a:rPr lang="zh-CN" altLang="en-US" sz="2410" i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</a:t>
            </a:r>
            <a:r>
              <a:rPr lang="zh-CN" altLang="en-US" sz="2410" i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Peony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</a:t>
            </a:r>
            <a:r>
              <a:rPr lang="zh-CN" altLang="en-US" sz="2410" i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Pavilion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(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《牡丹亭》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)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is similar in some ways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_______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</a:t>
            </a:r>
            <a:r>
              <a:rPr lang="zh-CN" altLang="en-US" sz="2410" i="1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Romeo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</a:t>
            </a:r>
            <a:r>
              <a:rPr lang="zh-CN" altLang="en-US" sz="2410" i="1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and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</a:t>
            </a:r>
            <a:r>
              <a:rPr lang="zh-CN" altLang="en-US" sz="2410" i="1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Juliet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.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 我碰巧知道汤显祖的戏剧《牡丹亭》在某些方面与《罗密欧与朱丽叶》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相似。be similar to 为固定搭配,意为“与……相似”。故填to。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95363" y="1260029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　</a:t>
            </a:r>
            <a:r>
              <a:rPr lang="en-US" altLang="zh-CN" sz="2400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to    </a:t>
            </a:r>
            <a:endParaRPr lang="zh-CN" altLang="en-US" sz="2400" b="1" dirty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14.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 artist was finally humbled(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谦卑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) by the greatest artist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earth, Mother Na-</a:t>
            </a:r>
            <a:br>
              <a:rPr lang="en-US" altLang="zh-CN" sz="2800" dirty="0"/>
            </a:b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ture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句意:这位艺术家最终在世界上最伟大的艺术家——大自然面前感到惭愧。on 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earth相当于in the world,意为“在世界上”。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11813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on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232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15.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Some time after 10,000 BC, people made the first real attempt to control the world they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lived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_______,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through agriculture.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句意:公元前10,000年以后的一段时间,人类首次真正尝试通过农业来控制他们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生活的世界。they lived _______为限制性定语从句,先行词为the world,将the world代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入定语从句后应为they lived in the world,所以设空处应填介词in。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98550" y="2876342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　　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56975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in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15640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16.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This aging of the population is driven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two factors.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句意:人口老龄化是由两个因素驱动的。be driven by意为“受……驱使”。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05150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by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17.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This level of preservation could not be achieved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 participation of </a:t>
            </a: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gener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-</a:t>
            </a:r>
            <a:br>
              <a:rPr lang="en-US" altLang="zh-CN" sz="2800" dirty="0"/>
            </a:b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ations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of local residents.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句意:没有几代当地居民的参与,这种程度的保护是不可能实现的。此处表示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“没有”,故填without。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91025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without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58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18.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But can uniforms help improve school standards? The answer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this question is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not clear.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句意:但是校服能帮助提高学校标准吗?这个问题的答案还不清楚。answer与介</a:t>
            </a:r>
            <a:b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词to连用,表示“……的答案”。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562663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to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tags/tag1.xml><?xml version="1.0" encoding="utf-8"?>
<p:tagLst xmlns:p="http://schemas.openxmlformats.org/presentationml/2006/main">
  <p:tag name="TOP" val="205.7761"/>
  <p:tag name="LEFT" val="173.0257"/>
  <p:tag name="WIDTH" val="632.3657"/>
  <p:tag name="HEIGHT" val="116.325"/>
  <p:tag name="FONTSIZE" val="96"/>
  <p:tag name="MARGINBOTTOM" val="0"/>
  <p:tag name="MARGINLEFT" val="0"/>
  <p:tag name="MARGINRIGHT" val="0"/>
  <p:tag name="MARGINTOP" val="0"/>
  <p:tag name="LINERULEAFTER" val="0"/>
</p:tagLst>
</file>

<file path=ppt/tags/tag2.xml><?xml version="1.0" encoding="utf-8"?>
<p:tagLst xmlns:p="http://schemas.openxmlformats.org/presentationml/2006/main">
  <p:tag name="TABLE_ENDDRAG_ORIGIN_RECT" val="887*364"/>
  <p:tag name="TABLE_ENDDRAG_RECT" val="36*98*887*364"/>
</p:tagLst>
</file>

<file path=ppt/theme/theme1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item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8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9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0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8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9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0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8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9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0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Props3.xml><?xml version="1.0" encoding="utf-8"?>
<ds:datastoreItem xmlns:ds="http://schemas.openxmlformats.org/officeDocument/2006/customXml" ds:itemID="{985FA195-DE33-4A67-AB9C-E2796B3033D5}">
  <ds:schemaRefs/>
</ds:datastoreItem>
</file>

<file path=customXml/itemProps4.xml><?xml version="1.0" encoding="utf-8"?>
<ds:datastoreItem xmlns:ds="http://schemas.openxmlformats.org/officeDocument/2006/customXml" ds:itemID="{085443B6-3CC8-4E67-A0F1-9363F38CD380}">
  <ds:schemaRefs/>
</ds:datastoreItem>
</file>

<file path=customXml/itemProps5.xml><?xml version="1.0" encoding="utf-8"?>
<ds:datastoreItem xmlns:ds="http://schemas.openxmlformats.org/officeDocument/2006/customXml" ds:itemID="{AD537A86-E58F-4D77-9FF1-CC17FEEE6038}">
  <ds:schemaRefs/>
</ds:datastoreItem>
</file>

<file path=customXml/itemProps6.xml><?xml version="1.0" encoding="utf-8"?>
<ds:datastoreItem xmlns:ds="http://schemas.openxmlformats.org/officeDocument/2006/customXml" ds:itemID="{7B89A5D4-FF72-42B6-A11C-03E71504C361}">
  <ds:schemaRefs/>
</ds:datastoreItem>
</file>

<file path=customXml/itemProps7.xml><?xml version="1.0" encoding="utf-8"?>
<ds:datastoreItem xmlns:ds="http://schemas.openxmlformats.org/officeDocument/2006/customXml" ds:itemID="{A8E52ABD-D83B-4527-A2C4-C557942346E7}">
  <ds:schemaRefs/>
</ds:datastoreItem>
</file>

<file path=customXml/itemProps8.xml><?xml version="1.0" encoding="utf-8"?>
<ds:datastoreItem xmlns:ds="http://schemas.openxmlformats.org/officeDocument/2006/customXml" ds:itemID="{A7D86DEB-72BF-4205-B781-82A42752CE33}">
  <ds:schemaRefs/>
</ds:datastoreItem>
</file>

<file path=customXml/itemProps9.xml><?xml version="1.0" encoding="utf-8"?>
<ds:datastoreItem xmlns:ds="http://schemas.openxmlformats.org/officeDocument/2006/customXml" ds:itemID="{767C9B26-A5FE-4306-9780-F4EB59EDB89F}">
  <ds:schemaRefs/>
</ds:datastoreItem>
</file>

<file path=customXml/itemProps10.xml><?xml version="1.0" encoding="utf-8"?>
<ds:datastoreItem xmlns:ds="http://schemas.openxmlformats.org/officeDocument/2006/customXml" ds:itemID="{AEA1C1DA-157C-493F-997B-E9555849FCF3}">
  <ds:schemaRefs/>
</ds:datastoreItem>
</file>

<file path=customXml/itemProps11.xml><?xml version="1.0" encoding="utf-8"?>
<ds:datastoreItem xmlns:ds="http://schemas.openxmlformats.org/officeDocument/2006/customXml" ds:itemID="{477BD04D-04D8-4EA8-94AB-68FEC600C682}">
  <ds:schemaRefs/>
</ds:datastoreItem>
</file>

<file path=customXml/itemProps12.xml><?xml version="1.0" encoding="utf-8"?>
<ds:datastoreItem xmlns:ds="http://schemas.openxmlformats.org/officeDocument/2006/customXml" ds:itemID="{EDF76301-8862-4AA0-9FA5-445260394FFF}">
  <ds:schemaRefs/>
</ds:datastoreItem>
</file>

<file path=customXml/itemProps13.xml><?xml version="1.0" encoding="utf-8"?>
<ds:datastoreItem xmlns:ds="http://schemas.openxmlformats.org/officeDocument/2006/customXml" ds:itemID="{E993603B-9BD6-41A7-8CBF-543DB29F6C4E}">
  <ds:schemaRefs/>
</ds:datastoreItem>
</file>

<file path=customXml/itemProps14.xml><?xml version="1.0" encoding="utf-8"?>
<ds:datastoreItem xmlns:ds="http://schemas.openxmlformats.org/officeDocument/2006/customXml" ds:itemID="{1F932D3D-792B-4022-9810-DD6BAC96EDF9}">
  <ds:schemaRefs/>
</ds:datastoreItem>
</file>

<file path=customXml/itemProps15.xml><?xml version="1.0" encoding="utf-8"?>
<ds:datastoreItem xmlns:ds="http://schemas.openxmlformats.org/officeDocument/2006/customXml" ds:itemID="{8A35970A-3BDD-4154-9D0A-0B53158D8578}">
  <ds:schemaRefs/>
</ds:datastoreItem>
</file>

<file path=customXml/itemProps16.xml><?xml version="1.0" encoding="utf-8"?>
<ds:datastoreItem xmlns:ds="http://schemas.openxmlformats.org/officeDocument/2006/customXml" ds:itemID="{F3518E6C-0DB6-45D0-A1CE-F69888D0D876}">
  <ds:schemaRefs/>
</ds:datastoreItem>
</file>

<file path=customXml/itemProps17.xml><?xml version="1.0" encoding="utf-8"?>
<ds:datastoreItem xmlns:ds="http://schemas.openxmlformats.org/officeDocument/2006/customXml" ds:itemID="{8E886994-012E-4D25-B428-2E0A71C6569D}">
  <ds:schemaRefs/>
</ds:datastoreItem>
</file>

<file path=customXml/itemProps18.xml><?xml version="1.0" encoding="utf-8"?>
<ds:datastoreItem xmlns:ds="http://schemas.openxmlformats.org/officeDocument/2006/customXml" ds:itemID="{6E54D319-35E4-4794-8159-F24E93DC2D7C}">
  <ds:schemaRefs/>
</ds:datastoreItem>
</file>

<file path=customXml/itemProps19.xml><?xml version="1.0" encoding="utf-8"?>
<ds:datastoreItem xmlns:ds="http://schemas.openxmlformats.org/officeDocument/2006/customXml" ds:itemID="{70E63DBF-85FB-43B4-B01D-608264276DEE}">
  <ds:schemaRefs/>
</ds:datastoreItem>
</file>

<file path=customXml/itemProps20.xml><?xml version="1.0" encoding="utf-8"?>
<ds:datastoreItem xmlns:ds="http://schemas.openxmlformats.org/officeDocument/2006/customXml" ds:itemID="{31A40AC3-64C2-4554-9980-BE56C438DCFB}">
  <ds:schemaRefs/>
</ds:datastoreItem>
</file>

<file path=customXml/itemProps21.xml><?xml version="1.0" encoding="utf-8"?>
<ds:datastoreItem xmlns:ds="http://schemas.openxmlformats.org/officeDocument/2006/customXml" ds:itemID="{BE82FC4D-55C8-49B0-963E-129B681EB79C}">
  <ds:schemaRefs/>
</ds:datastoreItem>
</file>

<file path=customXml/itemProps22.xml><?xml version="1.0" encoding="utf-8"?>
<ds:datastoreItem xmlns:ds="http://schemas.openxmlformats.org/officeDocument/2006/customXml" ds:itemID="{3451F155-12B7-4128-85DD-623F1E914E3E}">
  <ds:schemaRefs/>
</ds:datastoreItem>
</file>

<file path=customXml/itemProps23.xml><?xml version="1.0" encoding="utf-8"?>
<ds:datastoreItem xmlns:ds="http://schemas.openxmlformats.org/officeDocument/2006/customXml" ds:itemID="{CE99CA4A-1247-4365-8DBA-70D5F1B71C7F}">
  <ds:schemaRefs/>
</ds:datastoreItem>
</file>

<file path=customXml/itemProps24.xml><?xml version="1.0" encoding="utf-8"?>
<ds:datastoreItem xmlns:ds="http://schemas.openxmlformats.org/officeDocument/2006/customXml" ds:itemID="{9770E804-C8B8-4292-96B7-0FEC68B9B4CD}">
  <ds:schemaRefs/>
</ds:datastoreItem>
</file>

<file path=customXml/itemProps25.xml><?xml version="1.0" encoding="utf-8"?>
<ds:datastoreItem xmlns:ds="http://schemas.openxmlformats.org/officeDocument/2006/customXml" ds:itemID="{B9A05D46-3871-45B0-B0EC-492CDA95D905}">
  <ds:schemaRefs/>
</ds:datastoreItem>
</file>

<file path=customXml/itemProps26.xml><?xml version="1.0" encoding="utf-8"?>
<ds:datastoreItem xmlns:ds="http://schemas.openxmlformats.org/officeDocument/2006/customXml" ds:itemID="{BA17BA55-8B52-4A67-9E24-9A478E0D683B}">
  <ds:schemaRefs/>
</ds:datastoreItem>
</file>

<file path=customXml/itemProps27.xml><?xml version="1.0" encoding="utf-8"?>
<ds:datastoreItem xmlns:ds="http://schemas.openxmlformats.org/officeDocument/2006/customXml" ds:itemID="{8EF43A51-CE91-4478-AF79-09825D0DE9B2}">
  <ds:schemaRefs/>
</ds:datastoreItem>
</file>

<file path=customXml/itemProps28.xml><?xml version="1.0" encoding="utf-8"?>
<ds:datastoreItem xmlns:ds="http://schemas.openxmlformats.org/officeDocument/2006/customXml" ds:itemID="{7DB7314B-62A5-4703-85D8-C8AA9DDAEB34}">
  <ds:schemaRefs/>
</ds:datastoreItem>
</file>

<file path=customXml/itemProps29.xml><?xml version="1.0" encoding="utf-8"?>
<ds:datastoreItem xmlns:ds="http://schemas.openxmlformats.org/officeDocument/2006/customXml" ds:itemID="{6C73F927-26C1-413D-93AC-A2CFD64C3C0B}">
  <ds:schemaRefs/>
</ds:datastoreItem>
</file>

<file path=customXml/itemProps30.xml><?xml version="1.0" encoding="utf-8"?>
<ds:datastoreItem xmlns:ds="http://schemas.openxmlformats.org/officeDocument/2006/customXml" ds:itemID="{99D1482F-AC30-4F9D-B038-F5D9EE9D23D9}">
  <ds:schemaRefs/>
</ds:datastoreItem>
</file>

<file path=customXml/itemProps31.xml><?xml version="1.0" encoding="utf-8"?>
<ds:datastoreItem xmlns:ds="http://schemas.openxmlformats.org/officeDocument/2006/customXml" ds:itemID="{586D895B-C325-41B8-AE62-EBE3B0CAD9C7}">
  <ds:schemaRefs/>
</ds:datastoreItem>
</file>

<file path=customXml/itemProps32.xml><?xml version="1.0" encoding="utf-8"?>
<ds:datastoreItem xmlns:ds="http://schemas.openxmlformats.org/officeDocument/2006/customXml" ds:itemID="{1FF475B2-342F-4E87-B937-AEDD9F998DC8}">
  <ds:schemaRefs/>
</ds:datastoreItem>
</file>

<file path=customXml/itemProps33.xml><?xml version="1.0" encoding="utf-8"?>
<ds:datastoreItem xmlns:ds="http://schemas.openxmlformats.org/officeDocument/2006/customXml" ds:itemID="{CC078D2E-2D2C-4330-B863-F04788FC658F}">
  <ds:schemaRefs/>
</ds:datastoreItem>
</file>

<file path=customXml/itemProps34.xml><?xml version="1.0" encoding="utf-8"?>
<ds:datastoreItem xmlns:ds="http://schemas.openxmlformats.org/officeDocument/2006/customXml" ds:itemID="{626064BF-EEA4-4968-A30F-6914003AA778}">
  <ds:schemaRefs/>
</ds:datastoreItem>
</file>

<file path=customXml/itemProps35.xml><?xml version="1.0" encoding="utf-8"?>
<ds:datastoreItem xmlns:ds="http://schemas.openxmlformats.org/officeDocument/2006/customXml" ds:itemID="{37B7D845-8921-4673-B96F-023251491902}">
  <ds:schemaRefs/>
</ds:datastoreItem>
</file>

<file path=customXml/itemProps36.xml><?xml version="1.0" encoding="utf-8"?>
<ds:datastoreItem xmlns:ds="http://schemas.openxmlformats.org/officeDocument/2006/customXml" ds:itemID="{9533BA9C-6587-4689-9852-E925528F304C}">
  <ds:schemaRefs/>
</ds:datastoreItem>
</file>

<file path=customXml/itemProps37.xml><?xml version="1.0" encoding="utf-8"?>
<ds:datastoreItem xmlns:ds="http://schemas.openxmlformats.org/officeDocument/2006/customXml" ds:itemID="{9E392186-1373-4264-BE81-3547DD1C5BA2}">
  <ds:schemaRefs/>
</ds:datastoreItem>
</file>

<file path=customXml/itemProps38.xml><?xml version="1.0" encoding="utf-8"?>
<ds:datastoreItem xmlns:ds="http://schemas.openxmlformats.org/officeDocument/2006/customXml" ds:itemID="{6F7D510F-326B-4BFB-A5B7-269D25AE4A0A}">
  <ds:schemaRefs/>
</ds:datastoreItem>
</file>

<file path=customXml/itemProps39.xml><?xml version="1.0" encoding="utf-8"?>
<ds:datastoreItem xmlns:ds="http://schemas.openxmlformats.org/officeDocument/2006/customXml" ds:itemID="{90845161-FCA3-4DC5-8916-718C136F708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专题一　动词</Template>
  <TotalTime>0</TotalTime>
  <Words>12673</Words>
  <Application>WPS 演示</Application>
  <PresentationFormat>自定义</PresentationFormat>
  <Paragraphs>476</Paragraphs>
  <Slides>36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36</vt:i4>
      </vt:variant>
    </vt:vector>
  </HeadingPairs>
  <TitlesOfParts>
    <vt:vector size="56" baseType="lpstr">
      <vt:lpstr>Arial</vt:lpstr>
      <vt:lpstr>宋体</vt:lpstr>
      <vt:lpstr>Wingdings</vt:lpstr>
      <vt:lpstr>微软雅黑</vt:lpstr>
      <vt:lpstr>黑体</vt:lpstr>
      <vt:lpstr>Times New Roman</vt:lpstr>
      <vt:lpstr>思源宋体 CN</vt:lpstr>
      <vt:lpstr>思源宋体 CN Heavy</vt:lpstr>
      <vt:lpstr>Times New Roman</vt:lpstr>
      <vt:lpstr>庞门正道标题体</vt:lpstr>
      <vt:lpstr>Arial Unicode MS</vt:lpstr>
      <vt:lpstr>Calibri</vt:lpstr>
      <vt:lpstr>楷体_GB2312</vt:lpstr>
      <vt:lpstr>新宋体</vt:lpstr>
      <vt:lpstr>楷体</vt:lpstr>
      <vt:lpstr>等线</vt:lpstr>
      <vt:lpstr>等线 Light</vt:lpstr>
      <vt:lpstr>2_自定义设计方案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封面标题</dc:title>
  <dc:creator/>
  <cp:lastModifiedBy>A0885</cp:lastModifiedBy>
  <cp:revision>61</cp:revision>
  <dcterms:created xsi:type="dcterms:W3CDTF">2025-06-07T06:48:34Z</dcterms:created>
  <dcterms:modified xsi:type="dcterms:W3CDTF">2025-06-07T07:30:39Z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F860EBBC57C447FD83F0CBC89F95AAEF_12</vt:lpwstr>
  </property>
  <property fmtid="{D5CDD505-2E9C-101B-9397-08002B2CF9AE}" pid="3" name="KSOProductBuildVer">
    <vt:lpwstr>2052-12.1.0.21171</vt:lpwstr>
  </property>
</Properties>
</file>