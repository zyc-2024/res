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4" r:id="rId9"/>
    <p:sldId id="267" r:id="rId10"/>
    <p:sldId id="265" r:id="rId11"/>
    <p:sldId id="262" r:id="rId12"/>
    <p:sldId id="263" r:id="rId13"/>
    <p:sldId id="266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9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image" Target="../media/image2.png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5" Type="http://schemas.openxmlformats.org/officeDocument/2006/relationships/slideLayout" Target="../slideLayouts/slideLayout2.xml"/><Relationship Id="rId34" Type="http://schemas.openxmlformats.org/officeDocument/2006/relationships/tags" Target="../tags/tag30.xml"/><Relationship Id="rId33" Type="http://schemas.openxmlformats.org/officeDocument/2006/relationships/tags" Target="../tags/tag29.xml"/><Relationship Id="rId32" Type="http://schemas.openxmlformats.org/officeDocument/2006/relationships/tags" Target="../tags/tag28.xml"/><Relationship Id="rId31" Type="http://schemas.openxmlformats.org/officeDocument/2006/relationships/tags" Target="../tags/tag27.xml"/><Relationship Id="rId30" Type="http://schemas.openxmlformats.org/officeDocument/2006/relationships/tags" Target="../tags/tag26.xml"/><Relationship Id="rId3" Type="http://schemas.openxmlformats.org/officeDocument/2006/relationships/tags" Target="../tags/tag2.xml"/><Relationship Id="rId29" Type="http://schemas.openxmlformats.org/officeDocument/2006/relationships/tags" Target="../tags/tag25.xml"/><Relationship Id="rId28" Type="http://schemas.openxmlformats.org/officeDocument/2006/relationships/tags" Target="../tags/tag24.xml"/><Relationship Id="rId27" Type="http://schemas.openxmlformats.org/officeDocument/2006/relationships/tags" Target="../tags/tag23.xml"/><Relationship Id="rId26" Type="http://schemas.openxmlformats.org/officeDocument/2006/relationships/tags" Target="../tags/tag22.xml"/><Relationship Id="rId25" Type="http://schemas.openxmlformats.org/officeDocument/2006/relationships/tags" Target="../tags/tag21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image" Target="../media/image4.png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1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image" Target="../media/image3.png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Fractions and Decimals</a:t>
            </a:r>
            <a:endParaRPr lang="en-US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Math Lesson 2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Schedule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Icebreaker: What do you know about fractions in relation to decimals?</a:t>
            </a:r>
            <a:endParaRPr lang="en-US" altLang="en-US"/>
          </a:p>
          <a:p>
            <a:r>
              <a:rPr lang="en-US" altLang="en-US"/>
              <a:t>Watch: Common Fractions and Decimals</a:t>
            </a:r>
            <a:endParaRPr lang="en-US" altLang="en-US"/>
          </a:p>
          <a:p>
            <a:r>
              <a:rPr lang="en-US" altLang="en-US"/>
              <a:t>Practice: Write Common Decimals as Fractions</a:t>
            </a:r>
            <a:endParaRPr lang="en-US" altLang="en-US"/>
          </a:p>
          <a:p>
            <a:r>
              <a:rPr lang="en-US" altLang="en-US"/>
              <a:t>Practice: Write Common Fractions as Decimals</a:t>
            </a:r>
            <a:endParaRPr lang="en-US" altLang="en-US"/>
          </a:p>
          <a:p>
            <a:r>
              <a:rPr lang="en-US" altLang="en-US"/>
              <a:t>Break: 5 minutes!</a:t>
            </a:r>
            <a:endParaRPr lang="en-US" altLang="en-US"/>
          </a:p>
          <a:p>
            <a:r>
              <a:rPr lang="en-US" altLang="en-US"/>
              <a:t>Worksheet: Common Fractions and Decimals</a:t>
            </a:r>
            <a:endParaRPr lang="en-US" altLang="en-US"/>
          </a:p>
          <a:p>
            <a:r>
              <a:rPr lang="en-US" altLang="en-US"/>
              <a:t>Checkout: How do you feel about common fractions and decimals?</a:t>
            </a:r>
            <a:endParaRPr lang="en-US" alt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Icebreaker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ym typeface="+mn-ea"/>
              </a:rPr>
              <a:t>What do you know about fractions in relation to decimals?</a:t>
            </a:r>
            <a:endParaRPr lang="en-US" altLang="en-US">
              <a:sym typeface="+mn-ea"/>
            </a:endParaRPr>
          </a:p>
          <a:p>
            <a:r>
              <a:rPr lang="en-US" altLang="en-US"/>
              <a:t>How do you feel about adding fractions?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dirty="0">
                <a:sym typeface="+mn-ea"/>
              </a:rPr>
              <a:t>Common Fractions and Decimals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sz="3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3600" i="1">
                    <a:latin typeface="Cambria Math" panose="02040503050406030204" charset="0"/>
                    <a:cs typeface="Cambria Math" panose="02040503050406030204" charset="0"/>
                  </a:rPr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num>
                      <m:den>
                        <m:r>
                          <a:rPr lang="en-US" sz="3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3600" i="1">
                    <a:latin typeface="Cambria Math" panose="02040503050406030204" charset="0"/>
                    <a:cs typeface="Cambria Math" panose="02040503050406030204" charset="0"/>
                  </a:rPr>
                  <a:t>		</a:t>
                </a:r>
                <a:r>
                  <a:rPr lang="en-US" sz="3600">
                    <a:latin typeface="Cambria Math" panose="02040503050406030204" charset="0"/>
                    <a:cs typeface="Cambria Math" panose="02040503050406030204" charset="0"/>
                  </a:rPr>
                  <a:t>0.2</a:t>
                </a:r>
                <a:endParaRPr lang="en-US" sz="36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en-US" sz="36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sz="3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3600" i="1">
                    <a:latin typeface="Cambria Math" panose="02040503050406030204" charset="0"/>
                    <a:cs typeface="Cambria Math" panose="02040503050406030204" charset="0"/>
                  </a:rPr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25</m:t>
                        </m:r>
                      </m:num>
                      <m:den>
                        <m:r>
                          <a:rPr lang="en-US" sz="3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US" sz="3600" i="1">
                    <a:latin typeface="Cambria Math" panose="02040503050406030204" charset="0"/>
                    <a:cs typeface="Cambria Math" panose="02040503050406030204" charset="0"/>
                  </a:rPr>
                  <a:t>		</a:t>
                </a:r>
                <a:r>
                  <a:rPr lang="en-US" sz="3600">
                    <a:latin typeface="Cambria Math" panose="02040503050406030204" charset="0"/>
                    <a:cs typeface="Cambria Math" panose="02040503050406030204" charset="0"/>
                  </a:rPr>
                  <a:t>0.25</a:t>
                </a:r>
                <a:endParaRPr lang="en-US" sz="36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en-US" sz="36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sz="3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3600" i="1">
                    <a:latin typeface="Cambria Math" panose="02040503050406030204" charset="0"/>
                    <a:cs typeface="Cambria Math" panose="02040503050406030204" charset="0"/>
                  </a:rPr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5</m:t>
                        </m:r>
                      </m:num>
                      <m:den>
                        <m:r>
                          <a:rPr lang="en-US" sz="3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3600" i="1">
                    <a:latin typeface="Cambria Math" panose="02040503050406030204" charset="0"/>
                    <a:cs typeface="Cambria Math" panose="02040503050406030204" charset="0"/>
                  </a:rPr>
                  <a:t>		</a:t>
                </a:r>
                <a:r>
                  <a:rPr lang="en-US" sz="3600">
                    <a:latin typeface="Cambria Math" panose="02040503050406030204" charset="0"/>
                    <a:cs typeface="Cambria Math" panose="02040503050406030204" charset="0"/>
                  </a:rPr>
                  <a:t>0.5</a:t>
                </a:r>
                <a:endParaRPr lang="en-US" sz="36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en-US" sz="36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en-US" sz="36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-1277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s 30"/>
          <p:cNvSpPr/>
          <p:nvPr>
            <p:custDataLst>
              <p:tags r:id="rId2"/>
            </p:custDataLst>
          </p:nvPr>
        </p:nvSpPr>
        <p:spPr>
          <a:xfrm>
            <a:off x="2487930" y="1763395"/>
            <a:ext cx="991870" cy="1169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s 4"/>
          <p:cNvSpPr/>
          <p:nvPr>
            <p:custDataLst>
              <p:tags r:id="rId3"/>
            </p:custDataLst>
          </p:nvPr>
        </p:nvSpPr>
        <p:spPr>
          <a:xfrm>
            <a:off x="4457700" y="1636395"/>
            <a:ext cx="991870" cy="1169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7" name="Group 6"/>
          <p:cNvGrpSpPr/>
          <p:nvPr>
            <p:custDataLst>
              <p:tags r:id="rId4"/>
            </p:custDataLst>
          </p:nvPr>
        </p:nvGrpSpPr>
        <p:grpSpPr>
          <a:xfrm>
            <a:off x="1457325" y="1825625"/>
            <a:ext cx="1351915" cy="922020"/>
            <a:chOff x="2295" y="2875"/>
            <a:chExt cx="2129" cy="1452"/>
          </a:xfrm>
        </p:grpSpPr>
        <p:cxnSp>
          <p:nvCxnSpPr>
            <p:cNvPr id="13" name="Straight Arrow Connector 12"/>
            <p:cNvCxnSpPr/>
            <p:nvPr>
              <p:custDataLst>
                <p:tags r:id="rId5"/>
              </p:custDataLst>
            </p:nvPr>
          </p:nvCxnSpPr>
          <p:spPr>
            <a:xfrm>
              <a:off x="2332" y="3300"/>
              <a:ext cx="2093" cy="0"/>
            </a:xfrm>
            <a:prstGeom prst="straightConnector1">
              <a:avLst/>
            </a:prstGeom>
            <a:ln w="31750" cap="rnd">
              <a:solidFill>
                <a:schemeClr val="accent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 Box 13"/>
                <p:cNvSpPr txBox="1"/>
                <p:nvPr>
                  <p:custDataLst>
                    <p:tags r:id="rId6"/>
                  </p:custDataLst>
                </p:nvPr>
              </p:nvSpPr>
              <p:spPr>
                <a:xfrm>
                  <a:off x="2583" y="2875"/>
                  <a:ext cx="1591" cy="14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oMath>
                    </m:oMathPara>
                  </a14:m>
                  <a:endParaRPr lang="en-US" i="1">
                    <a:latin typeface="Cambria Math" panose="02040503050406030204" charset="0"/>
                    <a:cs typeface="Cambria Math" panose="02040503050406030204" charset="0"/>
                  </a:endParaRPr>
                </a:p>
                <a:p>
                  <a:endParaRPr lang="en-US" i="1">
                    <a:latin typeface="Cambria Math" panose="02040503050406030204" charset="0"/>
                    <a:cs typeface="Cambria Math" panose="02040503050406030204" charset="0"/>
                  </a:endParaRP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÷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>
            <p:sp>
              <p:nvSpPr>
                <p:cNvPr id="14" name="Text 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7"/>
                  </p:custDataLst>
                </p:nvPr>
              </p:nvSpPr>
              <p:spPr>
                <a:xfrm>
                  <a:off x="2583" y="2875"/>
                  <a:ext cx="1591" cy="1452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/>
            <p:cNvCxnSpPr/>
            <p:nvPr>
              <p:custDataLst>
                <p:tags r:id="rId9"/>
              </p:custDataLst>
            </p:nvPr>
          </p:nvCxnSpPr>
          <p:spPr>
            <a:xfrm flipH="1">
              <a:off x="2295" y="3855"/>
              <a:ext cx="2085" cy="15"/>
            </a:xfrm>
            <a:prstGeom prst="straightConnector1">
              <a:avLst/>
            </a:prstGeom>
            <a:ln w="31750" cap="rnd">
              <a:solidFill>
                <a:schemeClr val="accent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2" name="Rectangles 31"/>
          <p:cNvSpPr/>
          <p:nvPr>
            <p:custDataLst>
              <p:tags r:id="rId10"/>
            </p:custDataLst>
          </p:nvPr>
        </p:nvSpPr>
        <p:spPr>
          <a:xfrm>
            <a:off x="2545080" y="3116580"/>
            <a:ext cx="991870" cy="1169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" name="Rectangles 32"/>
          <p:cNvSpPr/>
          <p:nvPr>
            <p:custDataLst>
              <p:tags r:id="rId11"/>
            </p:custDataLst>
          </p:nvPr>
        </p:nvSpPr>
        <p:spPr>
          <a:xfrm>
            <a:off x="2487930" y="4603115"/>
            <a:ext cx="991870" cy="1169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8" name="Group 7"/>
          <p:cNvGrpSpPr/>
          <p:nvPr>
            <p:custDataLst>
              <p:tags r:id="rId12"/>
            </p:custDataLst>
          </p:nvPr>
        </p:nvGrpSpPr>
        <p:grpSpPr>
          <a:xfrm>
            <a:off x="1457325" y="3214370"/>
            <a:ext cx="1351915" cy="922020"/>
            <a:chOff x="2295" y="5062"/>
            <a:chExt cx="2129" cy="1452"/>
          </a:xfrm>
        </p:grpSpPr>
        <p:cxnSp>
          <p:nvCxnSpPr>
            <p:cNvPr id="17" name="Straight Arrow Connector 16"/>
            <p:cNvCxnSpPr/>
            <p:nvPr>
              <p:custDataLst>
                <p:tags r:id="rId13"/>
              </p:custDataLst>
            </p:nvPr>
          </p:nvCxnSpPr>
          <p:spPr>
            <a:xfrm>
              <a:off x="2332" y="5487"/>
              <a:ext cx="2093" cy="0"/>
            </a:xfrm>
            <a:prstGeom prst="straightConnector1">
              <a:avLst/>
            </a:prstGeom>
            <a:ln w="31750" cap="rnd">
              <a:solidFill>
                <a:schemeClr val="accent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 Box 17"/>
                <p:cNvSpPr txBox="1"/>
                <p:nvPr>
                  <p:custDataLst>
                    <p:tags r:id="rId14"/>
                  </p:custDataLst>
                </p:nvPr>
              </p:nvSpPr>
              <p:spPr>
                <a:xfrm>
                  <a:off x="2583" y="5062"/>
                  <a:ext cx="1591" cy="14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25</m:t>
                        </m:r>
                      </m:oMath>
                    </m:oMathPara>
                  </a14:m>
                  <a:endParaRPr lang="en-US" i="1">
                    <a:latin typeface="Cambria Math" panose="02040503050406030204" charset="0"/>
                    <a:cs typeface="Cambria Math" panose="02040503050406030204" charset="0"/>
                  </a:endParaRPr>
                </a:p>
                <a:p>
                  <a:endParaRPr lang="en-US" i="1">
                    <a:latin typeface="Cambria Math" panose="02040503050406030204" charset="0"/>
                    <a:cs typeface="Cambria Math" panose="02040503050406030204" charset="0"/>
                  </a:endParaRP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÷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25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>
            <p:sp>
              <p:nvSpPr>
                <p:cNvPr id="18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5"/>
                  </p:custDataLst>
                </p:nvPr>
              </p:nvSpPr>
              <p:spPr>
                <a:xfrm>
                  <a:off x="2583" y="5062"/>
                  <a:ext cx="1591" cy="1452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Arrow Connector 18"/>
            <p:cNvCxnSpPr/>
            <p:nvPr>
              <p:custDataLst>
                <p:tags r:id="rId17"/>
              </p:custDataLst>
            </p:nvPr>
          </p:nvCxnSpPr>
          <p:spPr>
            <a:xfrm flipH="1">
              <a:off x="2295" y="6042"/>
              <a:ext cx="2085" cy="15"/>
            </a:xfrm>
            <a:prstGeom prst="straightConnector1">
              <a:avLst/>
            </a:prstGeom>
            <a:ln w="31750" cap="rnd">
              <a:solidFill>
                <a:schemeClr val="accent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>
            <p:custDataLst>
              <p:tags r:id="rId18"/>
            </p:custDataLst>
          </p:nvPr>
        </p:nvGrpSpPr>
        <p:grpSpPr>
          <a:xfrm>
            <a:off x="1457325" y="4603115"/>
            <a:ext cx="1351915" cy="922020"/>
            <a:chOff x="2295" y="7249"/>
            <a:chExt cx="2129" cy="1452"/>
          </a:xfrm>
        </p:grpSpPr>
        <p:cxnSp>
          <p:nvCxnSpPr>
            <p:cNvPr id="20" name="Straight Arrow Connector 19"/>
            <p:cNvCxnSpPr/>
            <p:nvPr>
              <p:custDataLst>
                <p:tags r:id="rId19"/>
              </p:custDataLst>
            </p:nvPr>
          </p:nvCxnSpPr>
          <p:spPr>
            <a:xfrm>
              <a:off x="2332" y="7674"/>
              <a:ext cx="2093" cy="0"/>
            </a:xfrm>
            <a:prstGeom prst="straightConnector1">
              <a:avLst/>
            </a:prstGeom>
            <a:ln w="31750" cap="rnd">
              <a:solidFill>
                <a:schemeClr val="accent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 Box 20"/>
                <p:cNvSpPr txBox="1"/>
                <p:nvPr>
                  <p:custDataLst>
                    <p:tags r:id="rId20"/>
                  </p:custDataLst>
                </p:nvPr>
              </p:nvSpPr>
              <p:spPr>
                <a:xfrm>
                  <a:off x="2583" y="7249"/>
                  <a:ext cx="1591" cy="14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5</m:t>
                        </m:r>
                      </m:oMath>
                    </m:oMathPara>
                  </a14:m>
                  <a:endParaRPr lang="en-US" i="1">
                    <a:latin typeface="Cambria Math" panose="02040503050406030204" charset="0"/>
                    <a:cs typeface="Cambria Math" panose="02040503050406030204" charset="0"/>
                  </a:endParaRPr>
                </a:p>
                <a:p>
                  <a:endParaRPr lang="en-US" i="1">
                    <a:latin typeface="Cambria Math" panose="02040503050406030204" charset="0"/>
                    <a:cs typeface="Cambria Math" panose="02040503050406030204" charset="0"/>
                  </a:endParaRP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÷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5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>
            <p:sp>
              <p:nvSpPr>
                <p:cNvPr id="21" name="Text 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21"/>
                  </p:custDataLst>
                </p:nvPr>
              </p:nvSpPr>
              <p:spPr>
                <a:xfrm>
                  <a:off x="2583" y="7249"/>
                  <a:ext cx="1591" cy="1452"/>
                </a:xfrm>
                <a:prstGeom prst="rect">
                  <a:avLst/>
                </a:prstGeom>
                <a:blipFill rotWithShape="1">
                  <a:blip r:embed="rId2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Arrow Connector 21"/>
            <p:cNvCxnSpPr/>
            <p:nvPr>
              <p:custDataLst>
                <p:tags r:id="rId23"/>
              </p:custDataLst>
            </p:nvPr>
          </p:nvCxnSpPr>
          <p:spPr>
            <a:xfrm flipH="1">
              <a:off x="2295" y="8229"/>
              <a:ext cx="2085" cy="15"/>
            </a:xfrm>
            <a:prstGeom prst="straightConnector1">
              <a:avLst/>
            </a:prstGeom>
            <a:ln w="31750" cap="rnd">
              <a:solidFill>
                <a:schemeClr val="accent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>
            <p:custDataLst>
              <p:tags r:id="rId24"/>
            </p:custDataLst>
          </p:nvPr>
        </p:nvGrpSpPr>
        <p:grpSpPr>
          <a:xfrm>
            <a:off x="3155950" y="2095500"/>
            <a:ext cx="1351915" cy="361315"/>
            <a:chOff x="4970" y="3300"/>
            <a:chExt cx="2129" cy="569"/>
          </a:xfrm>
        </p:grpSpPr>
        <p:cxnSp>
          <p:nvCxnSpPr>
            <p:cNvPr id="23" name="Straight Arrow Connector 22"/>
            <p:cNvCxnSpPr/>
            <p:nvPr>
              <p:custDataLst>
                <p:tags r:id="rId25"/>
              </p:custDataLst>
            </p:nvPr>
          </p:nvCxnSpPr>
          <p:spPr>
            <a:xfrm>
              <a:off x="5007" y="3300"/>
              <a:ext cx="2093" cy="0"/>
            </a:xfrm>
            <a:prstGeom prst="straightConnector1">
              <a:avLst/>
            </a:prstGeom>
            <a:ln w="31750" cap="rnd">
              <a:solidFill>
                <a:schemeClr val="accent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>
              <p:custDataLst>
                <p:tags r:id="rId26"/>
              </p:custDataLst>
            </p:nvPr>
          </p:nvCxnSpPr>
          <p:spPr>
            <a:xfrm flipH="1">
              <a:off x="4970" y="3855"/>
              <a:ext cx="2085" cy="15"/>
            </a:xfrm>
            <a:prstGeom prst="straightConnector1">
              <a:avLst/>
            </a:prstGeom>
            <a:ln w="31750" cap="rnd">
              <a:solidFill>
                <a:schemeClr val="accent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>
            <p:custDataLst>
              <p:tags r:id="rId27"/>
            </p:custDataLst>
          </p:nvPr>
        </p:nvGrpSpPr>
        <p:grpSpPr>
          <a:xfrm>
            <a:off x="3368675" y="3486150"/>
            <a:ext cx="1089025" cy="370840"/>
            <a:chOff x="5305" y="5490"/>
            <a:chExt cx="1715" cy="584"/>
          </a:xfrm>
        </p:grpSpPr>
        <p:cxnSp>
          <p:nvCxnSpPr>
            <p:cNvPr id="25" name="Straight Arrow Connector 24"/>
            <p:cNvCxnSpPr/>
            <p:nvPr>
              <p:custDataLst>
                <p:tags r:id="rId28"/>
              </p:custDataLst>
            </p:nvPr>
          </p:nvCxnSpPr>
          <p:spPr>
            <a:xfrm flipV="1">
              <a:off x="5342" y="5490"/>
              <a:ext cx="1678" cy="12"/>
            </a:xfrm>
            <a:prstGeom prst="straightConnector1">
              <a:avLst/>
            </a:prstGeom>
            <a:ln w="31750" cap="rnd">
              <a:solidFill>
                <a:schemeClr val="accent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>
              <p:custDataLst>
                <p:tags r:id="rId29"/>
              </p:custDataLst>
            </p:nvPr>
          </p:nvCxnSpPr>
          <p:spPr>
            <a:xfrm flipH="1" flipV="1">
              <a:off x="5305" y="6072"/>
              <a:ext cx="1610" cy="3"/>
            </a:xfrm>
            <a:prstGeom prst="straightConnector1">
              <a:avLst/>
            </a:prstGeom>
            <a:ln w="31750" cap="rnd">
              <a:solidFill>
                <a:schemeClr val="accent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>
            <p:custDataLst>
              <p:tags r:id="rId30"/>
            </p:custDataLst>
          </p:nvPr>
        </p:nvGrpSpPr>
        <p:grpSpPr>
          <a:xfrm>
            <a:off x="3184525" y="4944110"/>
            <a:ext cx="1351915" cy="361315"/>
            <a:chOff x="5015" y="7786"/>
            <a:chExt cx="2129" cy="569"/>
          </a:xfrm>
        </p:grpSpPr>
        <p:cxnSp>
          <p:nvCxnSpPr>
            <p:cNvPr id="27" name="Straight Arrow Connector 26"/>
            <p:cNvCxnSpPr/>
            <p:nvPr>
              <p:custDataLst>
                <p:tags r:id="rId31"/>
              </p:custDataLst>
            </p:nvPr>
          </p:nvCxnSpPr>
          <p:spPr>
            <a:xfrm>
              <a:off x="5052" y="7786"/>
              <a:ext cx="2093" cy="0"/>
            </a:xfrm>
            <a:prstGeom prst="straightConnector1">
              <a:avLst/>
            </a:prstGeom>
            <a:ln w="31750" cap="rnd">
              <a:solidFill>
                <a:schemeClr val="accent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>
              <p:custDataLst>
                <p:tags r:id="rId32"/>
              </p:custDataLst>
            </p:nvPr>
          </p:nvCxnSpPr>
          <p:spPr>
            <a:xfrm flipH="1">
              <a:off x="5015" y="8341"/>
              <a:ext cx="2085" cy="15"/>
            </a:xfrm>
            <a:prstGeom prst="straightConnector1">
              <a:avLst/>
            </a:prstGeom>
            <a:ln w="31750" cap="rnd">
              <a:solidFill>
                <a:schemeClr val="accent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9" name="Rectangles 28"/>
          <p:cNvSpPr/>
          <p:nvPr>
            <p:custDataLst>
              <p:tags r:id="rId33"/>
            </p:custDataLst>
          </p:nvPr>
        </p:nvSpPr>
        <p:spPr>
          <a:xfrm>
            <a:off x="4537075" y="2968625"/>
            <a:ext cx="991870" cy="1169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Rectangles 29"/>
          <p:cNvSpPr/>
          <p:nvPr>
            <p:custDataLst>
              <p:tags r:id="rId34"/>
            </p:custDataLst>
          </p:nvPr>
        </p:nvSpPr>
        <p:spPr>
          <a:xfrm>
            <a:off x="4537075" y="4359910"/>
            <a:ext cx="991870" cy="1169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5" grpId="0" animBg="1"/>
      <p:bldP spid="29" grpId="0" animBg="1"/>
      <p:bldP spid="30" grpId="0" animBg="1"/>
      <p:bldP spid="31" grpId="1" animBg="1"/>
      <p:bldP spid="32" grpId="1" animBg="1"/>
      <p:bldP spid="33" grpId="1" animBg="1"/>
      <p:bldP spid="5" grpId="1" animBg="1"/>
      <p:bldP spid="29" grpId="1" animBg="1"/>
      <p:bldP spid="30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>
                <a:sym typeface="+mn-ea"/>
              </a:rPr>
              <a:t>Practice: Write Common Decimals as Fractions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r>
                  <a:rPr lang="en-US"/>
                  <a:t>C</a:t>
                </a:r>
                <a:r>
                  <a:rPr lang="en-US" altLang="en-US"/>
                  <a:t>onvert the decimal to a simplified fraction</a:t>
                </a:r>
                <a:endParaRPr lang="en-US" altLang="en-US"/>
              </a:p>
              <a:p>
                <a:pPr lvl="1"/>
                <a:r>
                  <a:rPr lang="en-US" altLang="en-US"/>
                  <a:t>0.8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4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5</m:t>
                        </m:r>
                      </m:den>
                    </m:f>
                  </m:oMath>
                </a14:m>
                <a:endParaRPr lang="en-US" altLang="en-US"/>
              </a:p>
              <a:p>
                <a:pPr lvl="1"/>
                <a:r>
                  <a:rPr lang="en-US" altLang="en-US"/>
                  <a:t>0.75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4</m:t>
                        </m:r>
                      </m:den>
                    </m:f>
                  </m:oMath>
                </a14:m>
                <a:endParaRPr lang="en-US" altLang="en-US"/>
              </a:p>
              <a:p>
                <a:pPr lvl="1"/>
                <a:r>
                  <a:rPr lang="en-US" altLang="en-US"/>
                  <a:t>0.2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5</m:t>
                        </m:r>
                      </m:den>
                    </m:f>
                  </m:oMath>
                </a14:m>
                <a:endParaRPr lang="en-US" altLang="en-US"/>
              </a:p>
              <a:p>
                <a:pPr lvl="1"/>
                <a:r>
                  <a:rPr lang="en-US" altLang="en-US"/>
                  <a:t>0.5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en-US"/>
              </a:p>
              <a:p>
                <a:pPr lvl="0"/>
                <a:endParaRPr lang="en-US" alt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s 28"/>
          <p:cNvSpPr/>
          <p:nvPr>
            <p:custDataLst>
              <p:tags r:id="rId2"/>
            </p:custDataLst>
          </p:nvPr>
        </p:nvSpPr>
        <p:spPr>
          <a:xfrm>
            <a:off x="3449320" y="2199640"/>
            <a:ext cx="991870" cy="601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s 3"/>
          <p:cNvSpPr/>
          <p:nvPr>
            <p:custDataLst>
              <p:tags r:id="rId3"/>
            </p:custDataLst>
          </p:nvPr>
        </p:nvSpPr>
        <p:spPr>
          <a:xfrm>
            <a:off x="3449320" y="2800350"/>
            <a:ext cx="991870" cy="5314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s 4"/>
          <p:cNvSpPr/>
          <p:nvPr>
            <p:custDataLst>
              <p:tags r:id="rId4"/>
            </p:custDataLst>
          </p:nvPr>
        </p:nvSpPr>
        <p:spPr>
          <a:xfrm>
            <a:off x="3395345" y="3360420"/>
            <a:ext cx="991870" cy="536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s 5"/>
          <p:cNvSpPr/>
          <p:nvPr>
            <p:custDataLst>
              <p:tags r:id="rId5"/>
            </p:custDataLst>
          </p:nvPr>
        </p:nvSpPr>
        <p:spPr>
          <a:xfrm>
            <a:off x="3279140" y="3904615"/>
            <a:ext cx="991870" cy="655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ldLvl="0" animBg="1"/>
      <p:bldP spid="29" grpId="1" animBg="1"/>
      <p:bldP spid="4" grpId="0" bldLvl="0" animBg="1"/>
      <p:bldP spid="4" grpId="1" animBg="1"/>
      <p:bldP spid="5" grpId="0" bldLvl="0" animBg="1"/>
      <p:bldP spid="5" grpId="1" animBg="1"/>
      <p:bldP spid="6" grpId="0" bldLvl="0" animBg="1"/>
      <p:bldP spid="6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>
                <a:sym typeface="+mn-ea"/>
              </a:rPr>
              <a:t>Practice: Write Common Fractions as Decimals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r>
                  <a:rPr lang="en-US"/>
                  <a:t>C</a:t>
                </a:r>
                <a:r>
                  <a:rPr lang="en-US" altLang="en-US"/>
                  <a:t>onvert the fraction to a decimal</a:t>
                </a:r>
                <a:endParaRPr lang="en-US" altLang="en-US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			0.2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num>
                      <m:den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			0.75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			0.5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4</m:t>
                        </m:r>
                      </m:num>
                      <m:den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altLang="en-US"/>
                  <a:t>			0.8</a:t>
                </a:r>
                <a:endParaRPr lang="en-US" alt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s 28"/>
          <p:cNvSpPr/>
          <p:nvPr>
            <p:custDataLst>
              <p:tags r:id="rId2"/>
            </p:custDataLst>
          </p:nvPr>
        </p:nvSpPr>
        <p:spPr>
          <a:xfrm>
            <a:off x="3449320" y="2199640"/>
            <a:ext cx="991870" cy="601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s 3"/>
          <p:cNvSpPr/>
          <p:nvPr>
            <p:custDataLst>
              <p:tags r:id="rId3"/>
            </p:custDataLst>
          </p:nvPr>
        </p:nvSpPr>
        <p:spPr>
          <a:xfrm>
            <a:off x="3449320" y="2952750"/>
            <a:ext cx="991870" cy="449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s 4"/>
          <p:cNvSpPr/>
          <p:nvPr>
            <p:custDataLst>
              <p:tags r:id="rId4"/>
            </p:custDataLst>
          </p:nvPr>
        </p:nvSpPr>
        <p:spPr>
          <a:xfrm>
            <a:off x="3411220" y="3402330"/>
            <a:ext cx="991870" cy="449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s 5"/>
          <p:cNvSpPr/>
          <p:nvPr>
            <p:custDataLst>
              <p:tags r:id="rId5"/>
            </p:custDataLst>
          </p:nvPr>
        </p:nvSpPr>
        <p:spPr>
          <a:xfrm>
            <a:off x="3411220" y="3851910"/>
            <a:ext cx="991870" cy="449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ldLvl="0" animBg="1"/>
      <p:bldP spid="29" grpId="1" animBg="1"/>
      <p:bldP spid="4" grpId="0" bldLvl="0" animBg="1"/>
      <p:bldP spid="4" grpId="1" animBg="1"/>
      <p:bldP spid="5" grpId="0" bldLvl="0" animBg="1"/>
      <p:bldP spid="5" grpId="1" animBg="1"/>
      <p:bldP spid="6" grpId="0" bldLvl="0" animBg="1"/>
      <p:bldP spid="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/>
              <a:t>Adding fractions</a:t>
            </a:r>
            <a:r>
              <a:rPr lang="en-US" altLang="en-US" sz="1600"/>
              <a:t>with unlike denominators</a:t>
            </a:r>
            <a:endParaRPr lang="en-US" altLang="en-US" sz="1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47775" y="1911350"/>
                <a:ext cx="7526020" cy="4351655"/>
              </a:xfrm>
            </p:spPr>
            <p:txBody>
              <a:bodyPr/>
              <a:p>
                <a:r>
                  <a:rPr lang="en-US">
                    <a:latin typeface="Calibri" panose="020F0502020204030204" charset="0"/>
                    <a:cs typeface="Calibri" panose="020F0502020204030204" charset="0"/>
                  </a:rPr>
                  <a:t>For example, we need to calculate what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5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8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/>
                  <a:t> is.</a:t>
                </a:r>
                <a:endParaRPr lang="en-US"/>
              </a:p>
              <a:p>
                <a:pPr lvl="1"/>
                <a:r>
                  <a:rPr lang="en-US"/>
                  <a:t>First, we need to convert this two fractions, because we can easily add fractions that have the same denominator</a:t>
                </a:r>
                <a:endParaRPr lang="en-US"/>
              </a:p>
              <a:p>
                <a:pPr lvl="1"/>
                <a:r>
                  <a:rPr lang="en-US"/>
                  <a:t>In term to do this, we need to find out the least common multiple of the two denominators</a:t>
                </a:r>
                <a:endParaRPr lang="en-US"/>
              </a:p>
              <a:p>
                <a:pPr lvl="1"/>
                <a:r>
                  <a:rPr lang="en-US"/>
                  <a:t>Then, we’ll get the sum, which might be not simplified</a:t>
                </a:r>
                <a:endParaRPr lang="en-US"/>
              </a:p>
              <a:p>
                <a:pPr lvl="1"/>
                <a:r>
                  <a:rPr lang="en-US"/>
                  <a:t>Lastly, we simplify the sum and get the answer</a:t>
                </a:r>
                <a:endParaRPr lang="en-US"/>
              </a:p>
              <a:p>
                <a:pPr lvl="0"/>
                <a:endParaRPr 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7775" y="1911350"/>
                <a:ext cx="7526020" cy="4351655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/>
              <p:cNvSpPr>
                <a:spLocks noGrp="1"/>
              </p:cNvSpPr>
              <p:nvPr/>
            </p:nvSpPr>
            <p:spPr>
              <a:xfrm>
                <a:off x="8928100" y="1911350"/>
                <a:ext cx="3263900" cy="50920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/>
                <a:r>
                  <a:rPr lang="en-US">
                    <a:latin typeface="Calibri" panose="020F0502020204030204" charset="0"/>
                    <a:cs typeface="Calibri" panose="020F0502020204030204" charset="0"/>
                  </a:rPr>
                  <a:t>Example: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5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8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6</m:t>
                        </m:r>
                      </m:den>
                    </m:f>
                  </m:oMath>
                </a14:m>
                <a:endParaRPr 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lvl="0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5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8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10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16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15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24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, 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20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36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...</m:t>
                    </m:r>
                  </m:oMath>
                </a14:m>
                <a:endParaRPr 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lvl="0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6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12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18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4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24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,...</m:t>
                    </m:r>
                  </m:oMath>
                </a14:m>
                <a:endParaRPr lang="en-US"/>
              </a:p>
              <a:p>
                <a:pPr lvl="0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15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24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4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24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19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24</m:t>
                        </m:r>
                      </m:den>
                    </m:f>
                  </m:oMath>
                </a14:m>
                <a:endParaRPr 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lvl="0"/>
                <a:r>
                  <a:rPr lang="en-US"/>
                  <a:t>Sum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19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24</m:t>
                        </m:r>
                      </m:den>
                    </m:f>
                  </m:oMath>
                </a14:m>
                <a:endParaRPr lang="en-US"/>
              </a:p>
              <a:p>
                <a:pPr lvl="0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19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lang="en-US"/>
                  <a:t> cannot be simplified, so the answer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19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lang="en-US"/>
                  <a:t> </a:t>
                </a:r>
                <a:endParaRPr lang="en-US" altLang="zh-CN"/>
              </a:p>
            </p:txBody>
          </p:sp>
        </mc:Choice>
        <mc:Fallback>
          <p:sp>
            <p:nvSpPr>
              <p:cNvPr id="4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8100" y="1911350"/>
                <a:ext cx="3263900" cy="509206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/>
              <a:t>Subtracting fractions</a:t>
            </a:r>
            <a:r>
              <a:rPr lang="en-US" altLang="en-US" sz="1600"/>
              <a:t>with unlike denominators</a:t>
            </a:r>
            <a:endParaRPr lang="en-US" altLang="en-US" sz="1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47775" y="1911350"/>
                <a:ext cx="7526020" cy="4351655"/>
              </a:xfrm>
            </p:spPr>
            <p:txBody>
              <a:bodyPr/>
              <a:p>
                <a:r>
                  <a:rPr lang="en-US">
                    <a:latin typeface="Calibri" panose="020F0502020204030204" charset="0"/>
                    <a:cs typeface="Calibri" panose="020F0502020204030204" charset="0"/>
                  </a:rPr>
                  <a:t>For example, we need to calculate what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4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/>
                  <a:t> is.</a:t>
                </a:r>
                <a:endParaRPr lang="en-US"/>
              </a:p>
              <a:p>
                <a:pPr lvl="1"/>
                <a:r>
                  <a:rPr lang="en-US"/>
                  <a:t>First, we need to convert this two fractions, because we can easily substract fractions that have the same denominator</a:t>
                </a:r>
                <a:endParaRPr lang="en-US"/>
              </a:p>
              <a:p>
                <a:pPr lvl="1"/>
                <a:r>
                  <a:rPr lang="en-US"/>
                  <a:t>In term to do this, we need to find out the least common multiple of the two denominators</a:t>
                </a:r>
                <a:endParaRPr lang="en-US"/>
              </a:p>
              <a:p>
                <a:pPr lvl="1"/>
                <a:r>
                  <a:rPr lang="en-US"/>
                  <a:t>Then, we’ll get the difference, which might be not simplified</a:t>
                </a:r>
                <a:endParaRPr lang="en-US"/>
              </a:p>
              <a:p>
                <a:pPr lvl="1"/>
                <a:r>
                  <a:rPr lang="en-US"/>
                  <a:t>Lastly, we simplify the difference and get the answer</a:t>
                </a:r>
                <a:endParaRPr lang="en-US"/>
              </a:p>
              <a:p>
                <a:pPr lvl="0"/>
                <a:endParaRPr 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7775" y="1911350"/>
                <a:ext cx="7526020" cy="4351655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/>
              <p:cNvSpPr>
                <a:spLocks noGrp="1"/>
              </p:cNvSpPr>
              <p:nvPr/>
            </p:nvSpPr>
            <p:spPr>
              <a:xfrm>
                <a:off x="8928100" y="1911350"/>
                <a:ext cx="3263900" cy="43516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/>
                <a:r>
                  <a:rPr lang="en-US">
                    <a:latin typeface="Calibri" panose="020F0502020204030204" charset="0"/>
                    <a:cs typeface="Calibri" panose="020F0502020204030204" charset="0"/>
                  </a:rPr>
                  <a:t>Example: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4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6</m:t>
                        </m:r>
                      </m:den>
                    </m:f>
                  </m:oMath>
                </a14:m>
                <a:endParaRPr 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lvl="0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4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6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8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9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12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, 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23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16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...</m:t>
                    </m:r>
                  </m:oMath>
                </a14:m>
                <a:endParaRPr 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lvl="0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6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12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18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4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24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,...</m:t>
                    </m:r>
                  </m:oMath>
                </a14:m>
                <a:endParaRPr lang="en-US"/>
              </a:p>
              <a:p>
                <a:pPr lvl="0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9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12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12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7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12</m:t>
                        </m:r>
                      </m:den>
                    </m:f>
                  </m:oMath>
                </a14:m>
                <a:endParaRPr 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lvl="0"/>
                <a:r>
                  <a:rPr lang="en-US"/>
                  <a:t>Sum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7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12</m:t>
                        </m:r>
                      </m:den>
                    </m:f>
                  </m:oMath>
                </a14:m>
                <a:endParaRPr lang="en-US"/>
              </a:p>
              <a:p>
                <a:pPr lvl="0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7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/>
                  <a:t> cannot be simplified</a:t>
                </a:r>
                <a:endParaRPr lang="en-US"/>
              </a:p>
            </p:txBody>
          </p:sp>
        </mc:Choice>
        <mc:Fallback>
          <p:sp>
            <p:nvSpPr>
              <p:cNvPr id="4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8100" y="1911350"/>
                <a:ext cx="3263900" cy="435165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Practice - </a:t>
            </a:r>
            <a:r>
              <a:rPr lang="en-US" altLang="en-US">
                <a:sym typeface="+mn-ea"/>
              </a:rPr>
              <a:t>Adding/subtracting fractions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4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17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12</m:t>
                        </m:r>
                      </m:den>
                    </m:f>
                  </m:oMath>
                </a14:m>
                <a:endParaRPr 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4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4</m:t>
                        </m:r>
                      </m:den>
                    </m:f>
                  </m:oMath>
                </a14:m>
                <a:endParaRPr 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5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6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den>
                    </m:f>
                  </m:oMath>
                </a14:m>
                <a:endParaRPr 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5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14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15</m:t>
                        </m:r>
                      </m:den>
                    </m:f>
                  </m:oMath>
                </a14:m>
                <a:endParaRPr 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6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7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5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14</m:t>
                        </m:r>
                      </m:den>
                    </m:f>
                  </m:oMath>
                </a14:m>
                <a:endParaRPr 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4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9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5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6</m:t>
                        </m:r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23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18</m:t>
                        </m:r>
                      </m:den>
                    </m:f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s 28"/>
          <p:cNvSpPr/>
          <p:nvPr>
            <p:custDataLst>
              <p:tags r:id="rId2"/>
            </p:custDataLst>
          </p:nvPr>
        </p:nvSpPr>
        <p:spPr>
          <a:xfrm>
            <a:off x="2174875" y="1825625"/>
            <a:ext cx="991870" cy="601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s 3"/>
          <p:cNvSpPr/>
          <p:nvPr>
            <p:custDataLst>
              <p:tags r:id="rId3"/>
            </p:custDataLst>
          </p:nvPr>
        </p:nvSpPr>
        <p:spPr>
          <a:xfrm>
            <a:off x="2230755" y="2508885"/>
            <a:ext cx="991870" cy="654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s 4"/>
          <p:cNvSpPr/>
          <p:nvPr>
            <p:custDataLst>
              <p:tags r:id="rId4"/>
            </p:custDataLst>
          </p:nvPr>
        </p:nvSpPr>
        <p:spPr>
          <a:xfrm>
            <a:off x="2248535" y="3204845"/>
            <a:ext cx="991870" cy="61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s 5"/>
          <p:cNvSpPr/>
          <p:nvPr>
            <p:custDataLst>
              <p:tags r:id="rId5"/>
            </p:custDataLst>
          </p:nvPr>
        </p:nvSpPr>
        <p:spPr>
          <a:xfrm>
            <a:off x="2248535" y="3858895"/>
            <a:ext cx="991870" cy="642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s 6"/>
          <p:cNvSpPr/>
          <p:nvPr>
            <p:custDataLst>
              <p:tags r:id="rId6"/>
            </p:custDataLst>
          </p:nvPr>
        </p:nvSpPr>
        <p:spPr>
          <a:xfrm>
            <a:off x="2230755" y="4544060"/>
            <a:ext cx="991870" cy="642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ectangles 7"/>
          <p:cNvSpPr/>
          <p:nvPr>
            <p:custDataLst>
              <p:tags r:id="rId7"/>
            </p:custDataLst>
          </p:nvPr>
        </p:nvSpPr>
        <p:spPr>
          <a:xfrm>
            <a:off x="2230755" y="5229860"/>
            <a:ext cx="991870" cy="610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ldLvl="0" animBg="1"/>
      <p:bldP spid="29" grpId="1" animBg="1"/>
      <p:bldP spid="4" grpId="0" bldLvl="0" animBg="1"/>
      <p:bldP spid="4" grpId="1" animBg="1"/>
      <p:bldP spid="5" grpId="0" bldLvl="0" animBg="1"/>
      <p:bldP spid="5" grpId="1" animBg="1"/>
      <p:bldP spid="6" grpId="0" bldLvl="0" animBg="1"/>
      <p:bldP spid="6" grpId="1" animBg="1"/>
      <p:bldP spid="7" grpId="0" bldLvl="0" animBg="1"/>
      <p:bldP spid="7" grpId="1" animBg="1"/>
      <p:bldP spid="8" grpId="0" bldLvl="0" animBg="1"/>
      <p:bldP spid="8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Break Time:)</a:t>
            </a:r>
            <a:endParaRPr lang="en-US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We’ll be back at 5.50PM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Kahoot Time ^_^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Game PIN: </a:t>
            </a:r>
            <a:r>
              <a:rPr lang="en-US" altLang="en-US"/>
              <a:t>07081708</a:t>
            </a:r>
            <a:endParaRPr lang="en-US" altLang="en-US"/>
          </a:p>
          <a:p>
            <a:r>
              <a:rPr lang="en-US" altLang="en-US"/>
              <a:t>Link: https://kahoot.it/challenge/07081708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Usage: Visit “https://kahoot.it” using your browser and enter the game pin to participate in.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Checkout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Do you prefer having a visual model to add and subtract fractions?</a:t>
            </a:r>
            <a:endParaRPr lang="en-US" altLang="en-US"/>
          </a:p>
          <a:p>
            <a:r>
              <a:rPr lang="en-US" altLang="en-US"/>
              <a:t>How do you feel about this skill? Do you find it difficult? If so, what are you struggling with?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Thank you</a:t>
            </a:r>
            <a:endParaRPr lang="en-US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 you next week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2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3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4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5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6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7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8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9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10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11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12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13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14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15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16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17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18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19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20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21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22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23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24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25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26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27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28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29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30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31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32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33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34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35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36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37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38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39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40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41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42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43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ags/tag44.xml><?xml version="1.0" encoding="utf-8"?>
<p:tagLst xmlns:p="http://schemas.openxmlformats.org/presentationml/2006/main">
  <p:tag name="KSO_WM_DIAGRAM_VIRTUALLY_FRAME" val="{&quot;height&quot;:325.65,&quot;left&quot;:114.75,&quot;top&quot;:128.85,&quot;width&quot;:320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2490</Words>
  <Application>WPS Presentation</Application>
  <PresentationFormat>Widescreen</PresentationFormat>
  <Paragraphs>120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SimSun</vt:lpstr>
      <vt:lpstr>Wingdings</vt:lpstr>
      <vt:lpstr>Cambria Math</vt:lpstr>
      <vt:lpstr>Calibri</vt:lpstr>
      <vt:lpstr>Calibri Light</vt:lpstr>
      <vt:lpstr>Microsoft YaHei</vt:lpstr>
      <vt:lpstr>Arial Unicode MS</vt:lpstr>
      <vt:lpstr>Office Theme</vt:lpstr>
      <vt:lpstr>Fractions and Decimals</vt:lpstr>
      <vt:lpstr>Schedule</vt:lpstr>
      <vt:lpstr>Icebreaker</vt:lpstr>
      <vt:lpstr>Common Fractions and Decimals</vt:lpstr>
      <vt:lpstr>Practice: Write Common Decimals as Fractions</vt:lpstr>
      <vt:lpstr>Practice: Write Common Fractions as Decimals</vt:lpstr>
      <vt:lpstr>Adding fractionswith unlike denominators</vt:lpstr>
      <vt:lpstr>Subtracting fractionswith unlike denominators</vt:lpstr>
      <vt:lpstr>Practice - Adding/subtracting fractions</vt:lpstr>
      <vt:lpstr>Break Time:)</vt:lpstr>
      <vt:lpstr>Kahoot Time ^_^</vt:lpstr>
      <vt:lpstr>Checkout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zyc</dc:creator>
  <cp:lastModifiedBy>zyc</cp:lastModifiedBy>
  <cp:revision>26</cp:revision>
  <dcterms:created xsi:type="dcterms:W3CDTF">2025-07-23T00:59:00Z</dcterms:created>
  <dcterms:modified xsi:type="dcterms:W3CDTF">2026-08-25T00:42:32Z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5B1151E4727F47D3AA4FAD21E3E33ADF_11</vt:lpwstr>
  </property>
  <property fmtid="{D5CDD505-2E9C-101B-9397-08002B2CF9AE}" pid="3" name="KSOProductBuildVer">
    <vt:lpwstr>1033-12.1.0.23542</vt:lpwstr>
  </property>
</Properties>
</file>